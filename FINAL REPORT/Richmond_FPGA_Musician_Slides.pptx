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6" r:id="rId2"/>
    <p:sldId id="275" r:id="rId3"/>
    <p:sldId id="267" r:id="rId4"/>
    <p:sldId id="258" r:id="rId5"/>
    <p:sldId id="259" r:id="rId6"/>
    <p:sldId id="268" r:id="rId7"/>
    <p:sldId id="269" r:id="rId8"/>
    <p:sldId id="284" r:id="rId9"/>
    <p:sldId id="271" r:id="rId10"/>
    <p:sldId id="272" r:id="rId11"/>
    <p:sldId id="281" r:id="rId12"/>
    <p:sldId id="273" r:id="rId13"/>
    <p:sldId id="274" r:id="rId14"/>
    <p:sldId id="283"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485" autoAdjust="0"/>
  </p:normalViewPr>
  <p:slideViewPr>
    <p:cSldViewPr snapToGrid="0" snapToObjects="1">
      <p:cViewPr varScale="1">
        <p:scale>
          <a:sx n="83" d="100"/>
          <a:sy n="83" d="100"/>
        </p:scale>
        <p:origin x="33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466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Zynq UltraScale+ is not a hobbyist FPGA board -- it is a professional system-on-chip with an ARM Cortex-A53 quad-core CPU and real FPGA fabric on the same die. The CPU runs Linux via PYNQ and the FPGA fabric runs the audio effect hardware at the same time. The project covers the full design flow: write the algorithm in C++, run it through HLS to get a hardware description, place and route in Vivado, load the bitstream onto the board, and test from Python. The 0.30% round-trip number means the total time from handing a chunk of audio to the system to getting the result back -- including DMA, Python overhead, and AXI-Lite -- is only 30 microseconds out of a 10,000 microsecond budget.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At 48kHz there is a new audio sample every 20 microseconds. We batch 480 at a time into 10ms chunks. The DMA path is worth explaining: the FPGA does not receive data directly from the ARM. It goes out to DDR memory through a dedicated High-Performance AXI port, fetches 480 samples, processes them in BRAM on-chip, then writes 480 results back. The ARM reads from the output DDR address. s_axilite and m_axi are two completely separate buses -- s_axilite carries only 6 scalar control parameters and the AP_START signal, while m_axi carries all 960 bytes of audio data per chunk via burst DMA. The table shows the round-trip is 0.30% of budget, with 241x headroom. FPGA compute is the dominant term, not the bus overhead.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Q15 fixed-point format: 16 bits total, 15 fractional. The value 32767 represents 1.0 and -32768 represents -1.0. No floating point anywhere in the hardware -- floating point units take 5-10x the silicon area of integer units. For tremolo, instead of computing sin() at runtime (which needs a Taylor series and 20+ multiplies), we index a 64-entry lookup table using the top 6 bits of a 16-bit phase accumulator. The delay circular buffer keeps a write pointer that increments one step per sample and wraps back to index 0 at 12,000. Read pointer = write pointer minus delay length.</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HLS does not compile to machine code -- it synthesizes hardware. The output is a Verilog description of gates, muxes, flip-flops, and BRAM connections. The tool decides how many clock cycles each operation takes and which operations can share a clock cycle. The pragmas are hard constraints: PIPELINE II=1 means HLS must achieve one new sample per cycle or flag an error. The m_axi pragma creates a DMA bus to DDR memory -- without it HLS would try to pass the 480-sample arrays over the 32-bit AXI control bus, which would take 480 individual transactions instead of one burst.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most important thing to explain here: DATAFLOW is a throughput optimization, not a latency optimization. Latency is the time from when a single chunk arrives until its result is ready -- that is 1,469 cycles in both builds. Interval (II) is how often a new chunk can start -- Build 2 can accept a new chunk every 493 cycles, while Build 1 must wait the full 1,469. In streaming mode with overlapping invocations, Build 2 processes ~3 chunks in the time Build 1 processes 1. But our Python test does: send chunk → wait AP_DONE → send next. That wait forces us to see latency, not throughput. So the measured wall-clock numbers will be similar. This is the correct and honest result to report. The BRAM cost being identical is also notable -- the ping-pong buffers (mid1_U, mid2_U marked 'pipo') replaced the simple RAM buffers that Build 1 was already using for the same intermediates, so no net BRAM increase.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mid1 and mid2 intermediate buffers live in BRAM on the FPGA die, not in DDR. BRAM access takes 1 clock cycle; DDR takes 50-100. That is why the three loops can each run at II=1 even though they feed into each other. The timing bar is roughly to scale: each loop takes about 481-482 cycles because it processes exactly 480 samples at one per cycle plus a few startup cycles. Hardware confirmed: 38.4 µs wall-clock per chunk, bit-exact match on every sample, state persists correctly across 300+ chunk audio files.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The DATAFLOW pragma tells HLS to treat the three sub-functions as a streaming pipeline. As soon as </a:t>
            </a:r>
            <a:r>
              <a:rPr dirty="0" err="1"/>
              <a:t>do_distortion</a:t>
            </a:r>
            <a:r>
              <a:rPr dirty="0"/>
              <a:t> writes its first output sample into mid1, </a:t>
            </a:r>
            <a:r>
              <a:rPr dirty="0" err="1"/>
              <a:t>do_tremolo</a:t>
            </a:r>
            <a:r>
              <a:rPr dirty="0"/>
              <a:t> can start reading it without waiting for all 480 samples. HLS implements this with ping-pong buffers: mid1_U and mid2_U are marked '</a:t>
            </a:r>
            <a:r>
              <a:rPr dirty="0" err="1"/>
              <a:t>pipo</a:t>
            </a:r>
            <a:r>
              <a:rPr dirty="0"/>
              <a:t>' in the synthesis storage report. While distortion fills mid1_A for chunk N, tremolo reads from mid1_B from chunk N-1. Each row in the diagram is one effect stage. The faded bars show adjacent chunks -- note how chunk N's tremolo runs at the same time as chunk N+1's distortion. The confirmed synthesis result: II dropped from 1,470 to 493 (3x), latency unchanged at 1,469 because the first chunk still has to pass through all three stages end to end. The static LFO phase and </a:t>
            </a:r>
            <a:r>
              <a:rPr dirty="0" err="1"/>
              <a:t>delay_buf</a:t>
            </a:r>
            <a:r>
              <a:rPr dirty="0"/>
              <a:t> are handled correctly by HLS since both live in BRAM and the DATAFLOW control logic handles handoff without resetting them. Total BRAM is identical at 19 blocks -- the ping-pong replaced what were already intermediate BRAMs.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The 19 BRAM breakdown: 14 blocks for the delay buffer (12,000 samples x 16 bits = 192k bits; each BRAM36 holds 36k bits), plus 2-3 for mid1 and mid2, 1 for the SIN LUT, plus HLS-generated FIFOs. The 12 DSPs map to Q15 multiply operations -- each A*B maps to a DSP48E2, a hardened 27x18 multiply-accumulate unit. The 0 ns timing slack means the design runs exactly at the 100 MHz edge. The bit-exact match proves there are no floating-point rounding errors, no off-by-one bugs, no AXI transfer errors.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PYNQ parses the .hwh hardware handoff file that Vivado generates alongside the bitstream. That file is an XML description of every AXI register -- its name, memory offset, bit width. PYNQ builds a Python object from that automatically, so ip.register_map.dist_gain = 4 writes to the correct memory-mapped address without any manual calculation. The HP0 port is a High Performance AXI Slave port on the Zynq PS -- 128 bits wide, optimized for burst DMA. The GP ports are only 32 bits wide. Connecting m_axi_MEM to HP0 through a SmartConnect was the main block design lesson: without it, the FPGA attempts a DMA read and nothing responds, AP_DONE never fires, and Python times out after 2 seconds.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The two capability numbers are distinct. The 260x real-time headroom is temporal -- 38.4 µs out of 10,000 µs means you have enormous slack to add effects or run at higher sample rates. The 19-chain figure is spatial -- only 5.2% of the FPGA fabric is used, so you could replicate this entire design 19 times over on the same chip and run 19 independent audio streams simultaneously. These are the numbers that matter for a real product. The DATAFLOW finding is an important honest result: DATAFLOW is designed for pure stateless signal-processing pipelines, but real audio algorithms carry persistent state between chunks. The tremolo LFO phase and echo delay buffer must survive across invocations. HLS's DATAFLOW control logic interferes with that -- a structural constraint that would require refactoring static state into global arrays passed through the interface to resolve properly.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The two capability numbers are distinct. The 260x real-time headroom is temporal -- 38.4 µs out of 10,000 µs means you have enormous slack to add effects or run at higher sample rates. The 19-chain figure is spatial -- only 5.2% of the FPGA fabric is used, so you could replicate this entire design 19 times over on the same chip and run 19 independent audio streams simultaneously. These are the numbers that matter for a real product. The DATAFLOW finding is an important honest result: DATAFLOW is designed for pure stateless signal-processing pipelines, but real audio algorithms carry persistent state between chunks. The tremolo LFO phase and echo delay buffer must survive across invocations. HLS's DATAFLOW control logic interferes with that -- a structural constraint that would require refactoring static state into global arrays passed through the interface to resolve properly.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754880" cy="6858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0" y="0"/>
            <a:ext cx="743407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47472" y="914400"/>
            <a:ext cx="128016" cy="128016"/>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7472" y="1234440"/>
            <a:ext cx="128016" cy="128016"/>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47472" y="1554480"/>
            <a:ext cx="128016" cy="128016"/>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1874519"/>
            <a:ext cx="128016" cy="128016"/>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1280160"/>
            <a:ext cx="4023360" cy="1005840"/>
          </a:xfrm>
          <a:prstGeom prst="rect">
            <a:avLst/>
          </a:prstGeom>
          <a:noFill/>
        </p:spPr>
        <p:txBody>
          <a:bodyPr wrap="square">
            <a:spAutoFit/>
          </a:bodyPr>
          <a:lstStyle/>
          <a:p>
            <a:pPr algn="l"/>
            <a:r>
              <a:rPr sz="6600" b="1" i="0">
                <a:solidFill>
                  <a:srgbClr val="FFFFFF"/>
                </a:solidFill>
                <a:latin typeface="Helvetica"/>
              </a:rPr>
              <a:t>FPGA</a:t>
            </a:r>
          </a:p>
        </p:txBody>
      </p:sp>
      <p:sp>
        <p:nvSpPr>
          <p:cNvPr id="9" name="TextBox 8"/>
          <p:cNvSpPr txBox="1"/>
          <p:nvPr/>
        </p:nvSpPr>
        <p:spPr>
          <a:xfrm>
            <a:off x="475488" y="2176272"/>
            <a:ext cx="4023360" cy="621792"/>
          </a:xfrm>
          <a:prstGeom prst="rect">
            <a:avLst/>
          </a:prstGeom>
          <a:noFill/>
        </p:spPr>
        <p:txBody>
          <a:bodyPr wrap="square">
            <a:spAutoFit/>
          </a:bodyPr>
          <a:lstStyle/>
          <a:p>
            <a:pPr algn="l"/>
            <a:r>
              <a:rPr sz="2400" b="1" i="0">
                <a:solidFill>
                  <a:srgbClr val="52B788"/>
                </a:solidFill>
                <a:latin typeface="Helvetica"/>
              </a:rPr>
              <a:t>MUSICIAN</a:t>
            </a:r>
          </a:p>
        </p:txBody>
      </p:sp>
      <p:sp>
        <p:nvSpPr>
          <p:cNvPr id="10" name="TextBox 9"/>
          <p:cNvSpPr txBox="1"/>
          <p:nvPr/>
        </p:nvSpPr>
        <p:spPr>
          <a:xfrm>
            <a:off x="475488" y="2880360"/>
            <a:ext cx="4023360" cy="822960"/>
          </a:xfrm>
          <a:prstGeom prst="rect">
            <a:avLst/>
          </a:prstGeom>
          <a:noFill/>
        </p:spPr>
        <p:txBody>
          <a:bodyPr wrap="square">
            <a:spAutoFit/>
          </a:bodyPr>
          <a:lstStyle/>
          <a:p>
            <a:pPr algn="l"/>
            <a:r>
              <a:rPr sz="1300" b="0" i="0">
                <a:solidFill>
                  <a:srgbClr val="94A3B8"/>
                </a:solidFill>
                <a:latin typeface="Helvetica"/>
              </a:rPr>
              <a:t>Real-time audio effects
on programmable hardware</a:t>
            </a:r>
          </a:p>
        </p:txBody>
      </p:sp>
      <p:sp>
        <p:nvSpPr>
          <p:cNvPr id="11" name="TextBox 10"/>
          <p:cNvSpPr txBox="1"/>
          <p:nvPr/>
        </p:nvSpPr>
        <p:spPr>
          <a:xfrm>
            <a:off x="475488" y="6309360"/>
            <a:ext cx="4023360" cy="365760"/>
          </a:xfrm>
          <a:prstGeom prst="rect">
            <a:avLst/>
          </a:prstGeom>
          <a:noFill/>
        </p:spPr>
        <p:txBody>
          <a:bodyPr wrap="square">
            <a:spAutoFit/>
          </a:bodyPr>
          <a:lstStyle/>
          <a:p>
            <a:pPr algn="l"/>
            <a:r>
              <a:rPr sz="950" b="0" i="0">
                <a:solidFill>
                  <a:srgbClr val="64748B"/>
                </a:solidFill>
                <a:latin typeface="Helvetica"/>
              </a:rPr>
              <a:t>Owen Richmond  |  EECE4632  |  Spring 2026</a:t>
            </a:r>
          </a:p>
        </p:txBody>
      </p:sp>
      <p:sp>
        <p:nvSpPr>
          <p:cNvPr id="12" name="TextBox 11"/>
          <p:cNvSpPr txBox="1"/>
          <p:nvPr/>
        </p:nvSpPr>
        <p:spPr>
          <a:xfrm>
            <a:off x="5120640" y="1188720"/>
            <a:ext cx="6766560" cy="640080"/>
          </a:xfrm>
          <a:prstGeom prst="rect">
            <a:avLst/>
          </a:prstGeom>
          <a:noFill/>
        </p:spPr>
        <p:txBody>
          <a:bodyPr wrap="square">
            <a:spAutoFit/>
          </a:bodyPr>
          <a:lstStyle/>
          <a:p>
            <a:pPr algn="l"/>
            <a:r>
              <a:rPr sz="2400" b="1" i="0" dirty="0">
                <a:solidFill>
                  <a:srgbClr val="0F172A"/>
                </a:solidFill>
                <a:latin typeface="Helvetica"/>
              </a:rPr>
              <a:t>Distortion  +  Tremolo  +  Delay</a:t>
            </a:r>
          </a:p>
        </p:txBody>
      </p:sp>
      <p:sp>
        <p:nvSpPr>
          <p:cNvPr id="13" name="TextBox 12"/>
          <p:cNvSpPr txBox="1"/>
          <p:nvPr/>
        </p:nvSpPr>
        <p:spPr>
          <a:xfrm>
            <a:off x="5120640" y="1810512"/>
            <a:ext cx="6766560" cy="384048"/>
          </a:xfrm>
          <a:prstGeom prst="rect">
            <a:avLst/>
          </a:prstGeom>
          <a:noFill/>
        </p:spPr>
        <p:txBody>
          <a:bodyPr wrap="square">
            <a:spAutoFit/>
          </a:bodyPr>
          <a:lstStyle/>
          <a:p>
            <a:pPr algn="l"/>
            <a:r>
              <a:rPr sz="1300" b="0" i="0">
                <a:solidFill>
                  <a:srgbClr val="64748B"/>
                </a:solidFill>
                <a:latin typeface="Helvetica"/>
              </a:rPr>
              <a:t>Running on the AUP-ZU3 Zynq UltraScale+ at 100 MHz</a:t>
            </a:r>
          </a:p>
        </p:txBody>
      </p:sp>
      <p:sp>
        <p:nvSpPr>
          <p:cNvPr id="14" name="Rectangle 13"/>
          <p:cNvSpPr/>
          <p:nvPr/>
        </p:nvSpPr>
        <p:spPr>
          <a:xfrm>
            <a:off x="5120640" y="2240280"/>
            <a:ext cx="6766560" cy="201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20640" y="2468880"/>
            <a:ext cx="3200400" cy="1325880"/>
          </a:xfrm>
          <a:prstGeom prst="rect">
            <a:avLst/>
          </a:prstGeom>
          <a:solidFill>
            <a:srgbClr val="D8F3DC"/>
          </a:solidFill>
          <a:ln w="1905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57800" y="2578608"/>
            <a:ext cx="2926080" cy="658368"/>
          </a:xfrm>
          <a:prstGeom prst="rect">
            <a:avLst/>
          </a:prstGeom>
          <a:noFill/>
        </p:spPr>
        <p:txBody>
          <a:bodyPr wrap="square">
            <a:spAutoFit/>
          </a:bodyPr>
          <a:lstStyle/>
          <a:p>
            <a:pPr algn="ctr"/>
            <a:r>
              <a:rPr sz="3000" b="1" i="0">
                <a:solidFill>
                  <a:srgbClr val="2D6A4F"/>
                </a:solidFill>
                <a:latin typeface="Helvetica"/>
              </a:rPr>
              <a:t>480</a:t>
            </a:r>
          </a:p>
        </p:txBody>
      </p:sp>
      <p:sp>
        <p:nvSpPr>
          <p:cNvPr id="17" name="TextBox 16"/>
          <p:cNvSpPr txBox="1"/>
          <p:nvPr/>
        </p:nvSpPr>
        <p:spPr>
          <a:xfrm>
            <a:off x="5257800" y="3255264"/>
            <a:ext cx="2926080" cy="438912"/>
          </a:xfrm>
          <a:prstGeom prst="rect">
            <a:avLst/>
          </a:prstGeom>
          <a:noFill/>
        </p:spPr>
        <p:txBody>
          <a:bodyPr wrap="square">
            <a:spAutoFit/>
          </a:bodyPr>
          <a:lstStyle/>
          <a:p>
            <a:pPr algn="ctr"/>
            <a:r>
              <a:rPr sz="1000" b="0" i="0">
                <a:solidFill>
                  <a:srgbClr val="64748B"/>
                </a:solidFill>
                <a:latin typeface="Helvetica"/>
              </a:rPr>
              <a:t>samples per
10 ms chunk</a:t>
            </a:r>
          </a:p>
        </p:txBody>
      </p:sp>
      <p:sp>
        <p:nvSpPr>
          <p:cNvPr id="18" name="Rectangle 17"/>
          <p:cNvSpPr/>
          <p:nvPr/>
        </p:nvSpPr>
        <p:spPr>
          <a:xfrm>
            <a:off x="8549640" y="2468880"/>
            <a:ext cx="3200400" cy="1325880"/>
          </a:xfrm>
          <a:prstGeom prst="rect">
            <a:avLst/>
          </a:prstGeom>
          <a:solidFill>
            <a:srgbClr val="EFF6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0" y="2578608"/>
            <a:ext cx="2926080" cy="658368"/>
          </a:xfrm>
          <a:prstGeom prst="rect">
            <a:avLst/>
          </a:prstGeom>
          <a:noFill/>
        </p:spPr>
        <p:txBody>
          <a:bodyPr wrap="square">
            <a:spAutoFit/>
          </a:bodyPr>
          <a:lstStyle/>
          <a:p>
            <a:pPr algn="ctr"/>
            <a:r>
              <a:rPr sz="3000" b="1" i="0">
                <a:solidFill>
                  <a:srgbClr val="1E40AF"/>
                </a:solidFill>
                <a:latin typeface="Helvetica"/>
              </a:rPr>
              <a:t>1,469</a:t>
            </a:r>
          </a:p>
        </p:txBody>
      </p:sp>
      <p:sp>
        <p:nvSpPr>
          <p:cNvPr id="20" name="TextBox 19"/>
          <p:cNvSpPr txBox="1"/>
          <p:nvPr/>
        </p:nvSpPr>
        <p:spPr>
          <a:xfrm>
            <a:off x="8686800" y="3255264"/>
            <a:ext cx="2926080" cy="438912"/>
          </a:xfrm>
          <a:prstGeom prst="rect">
            <a:avLst/>
          </a:prstGeom>
          <a:noFill/>
        </p:spPr>
        <p:txBody>
          <a:bodyPr wrap="square">
            <a:spAutoFit/>
          </a:bodyPr>
          <a:lstStyle/>
          <a:p>
            <a:pPr algn="ctr"/>
            <a:r>
              <a:rPr sz="1000" b="0" i="0">
                <a:solidFill>
                  <a:srgbClr val="64748B"/>
                </a:solidFill>
                <a:latin typeface="Helvetica"/>
              </a:rPr>
              <a:t>clock cycles
to process chunk</a:t>
            </a:r>
          </a:p>
        </p:txBody>
      </p:sp>
      <p:sp>
        <p:nvSpPr>
          <p:cNvPr id="21" name="Rectangle 20"/>
          <p:cNvSpPr/>
          <p:nvPr/>
        </p:nvSpPr>
        <p:spPr>
          <a:xfrm>
            <a:off x="5120640" y="3977639"/>
            <a:ext cx="3200400" cy="1325880"/>
          </a:xfrm>
          <a:prstGeom prst="rect">
            <a:avLst/>
          </a:prstGeom>
          <a:solidFill>
            <a:srgbClr val="D8F3DC"/>
          </a:solidFill>
          <a:ln w="1905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257800" y="4087368"/>
            <a:ext cx="2926080" cy="658368"/>
          </a:xfrm>
          <a:prstGeom prst="rect">
            <a:avLst/>
          </a:prstGeom>
          <a:noFill/>
        </p:spPr>
        <p:txBody>
          <a:bodyPr wrap="square">
            <a:spAutoFit/>
          </a:bodyPr>
          <a:lstStyle/>
          <a:p>
            <a:pPr algn="ctr"/>
            <a:r>
              <a:rPr sz="3000" b="1" i="0">
                <a:solidFill>
                  <a:srgbClr val="2D6A4F"/>
                </a:solidFill>
                <a:latin typeface="Helvetica"/>
              </a:rPr>
              <a:t>14.69 µs</a:t>
            </a:r>
          </a:p>
        </p:txBody>
      </p:sp>
      <p:sp>
        <p:nvSpPr>
          <p:cNvPr id="23" name="TextBox 22"/>
          <p:cNvSpPr txBox="1"/>
          <p:nvPr/>
        </p:nvSpPr>
        <p:spPr>
          <a:xfrm>
            <a:off x="5257800" y="4764024"/>
            <a:ext cx="2926080" cy="438912"/>
          </a:xfrm>
          <a:prstGeom prst="rect">
            <a:avLst/>
          </a:prstGeom>
          <a:noFill/>
        </p:spPr>
        <p:txBody>
          <a:bodyPr wrap="square">
            <a:spAutoFit/>
          </a:bodyPr>
          <a:lstStyle/>
          <a:p>
            <a:pPr algn="ctr"/>
            <a:r>
              <a:rPr sz="1000" b="0" i="0">
                <a:solidFill>
                  <a:srgbClr val="64748B"/>
                </a:solidFill>
                <a:latin typeface="Helvetica"/>
              </a:rPr>
              <a:t>FPGA compute
per chunk</a:t>
            </a:r>
          </a:p>
        </p:txBody>
      </p:sp>
      <p:sp>
        <p:nvSpPr>
          <p:cNvPr id="24" name="Rectangle 23"/>
          <p:cNvSpPr/>
          <p:nvPr/>
        </p:nvSpPr>
        <p:spPr>
          <a:xfrm>
            <a:off x="8549640" y="3977639"/>
            <a:ext cx="3200400" cy="1325880"/>
          </a:xfrm>
          <a:prstGeom prst="rect">
            <a:avLst/>
          </a:prstGeom>
          <a:solidFill>
            <a:srgbClr val="FFF7ED"/>
          </a:solidFill>
          <a:ln w="1905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0" y="4087368"/>
            <a:ext cx="2926080" cy="553998"/>
          </a:xfrm>
          <a:prstGeom prst="rect">
            <a:avLst/>
          </a:prstGeom>
          <a:noFill/>
        </p:spPr>
        <p:txBody>
          <a:bodyPr wrap="square">
            <a:spAutoFit/>
          </a:bodyPr>
          <a:lstStyle/>
          <a:p>
            <a:pPr algn="ctr"/>
            <a:r>
              <a:rPr lang="en-US" sz="3000" b="1" i="0" dirty="0">
                <a:solidFill>
                  <a:srgbClr val="92400E"/>
                </a:solidFill>
                <a:latin typeface="Helvetica"/>
              </a:rPr>
              <a:t>0.33</a:t>
            </a:r>
            <a:r>
              <a:rPr sz="3000" b="1" i="0" dirty="0">
                <a:solidFill>
                  <a:srgbClr val="92400E"/>
                </a:solidFill>
                <a:latin typeface="Helvetica"/>
              </a:rPr>
              <a:t>%</a:t>
            </a:r>
          </a:p>
        </p:txBody>
      </p:sp>
      <p:sp>
        <p:nvSpPr>
          <p:cNvPr id="26" name="TextBox 25"/>
          <p:cNvSpPr txBox="1"/>
          <p:nvPr/>
        </p:nvSpPr>
        <p:spPr>
          <a:xfrm>
            <a:off x="8686800" y="4764024"/>
            <a:ext cx="2926080" cy="246221"/>
          </a:xfrm>
          <a:prstGeom prst="rect">
            <a:avLst/>
          </a:prstGeom>
          <a:noFill/>
        </p:spPr>
        <p:txBody>
          <a:bodyPr wrap="square">
            <a:spAutoFit/>
          </a:bodyPr>
          <a:lstStyle/>
          <a:p>
            <a:pPr algn="ctr"/>
            <a:r>
              <a:rPr sz="1000" b="0" i="0" dirty="0">
                <a:solidFill>
                  <a:srgbClr val="64748B"/>
                </a:solidFill>
                <a:latin typeface="Helvetica"/>
              </a:rPr>
              <a:t>of 10 </a:t>
            </a:r>
            <a:r>
              <a:rPr sz="1000" b="0" i="0" dirty="0" err="1">
                <a:solidFill>
                  <a:srgbClr val="64748B"/>
                </a:solidFill>
                <a:latin typeface="Helvetica"/>
              </a:rPr>
              <a:t>ms</a:t>
            </a:r>
            <a:r>
              <a:rPr sz="1000" b="0" i="0" dirty="0">
                <a:solidFill>
                  <a:srgbClr val="64748B"/>
                </a:solidFill>
                <a:latin typeface="Helvetica"/>
              </a:rPr>
              <a:t> budget</a:t>
            </a:r>
          </a:p>
        </p:txBody>
      </p:sp>
      <p:sp>
        <p:nvSpPr>
          <p:cNvPr id="27" name="Rectangle 26"/>
          <p:cNvSpPr/>
          <p:nvPr/>
        </p:nvSpPr>
        <p:spPr>
          <a:xfrm>
            <a:off x="5120640" y="5779008"/>
            <a:ext cx="1627632" cy="310896"/>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184648" y="5806440"/>
            <a:ext cx="1536192" cy="256032"/>
          </a:xfrm>
          <a:prstGeom prst="rect">
            <a:avLst/>
          </a:prstGeom>
          <a:noFill/>
        </p:spPr>
        <p:txBody>
          <a:bodyPr wrap="square">
            <a:spAutoFit/>
          </a:bodyPr>
          <a:lstStyle/>
          <a:p>
            <a:pPr algn="ctr"/>
            <a:r>
              <a:rPr sz="900" b="1" i="0">
                <a:solidFill>
                  <a:srgbClr val="FFFFFF"/>
                </a:solidFill>
                <a:latin typeface="Helvetica"/>
              </a:rPr>
              <a:t>Vitis HLS 2024.1</a:t>
            </a:r>
          </a:p>
        </p:txBody>
      </p:sp>
      <p:sp>
        <p:nvSpPr>
          <p:cNvPr id="29" name="Rectangle 28"/>
          <p:cNvSpPr/>
          <p:nvPr/>
        </p:nvSpPr>
        <p:spPr>
          <a:xfrm>
            <a:off x="6839712" y="5779008"/>
            <a:ext cx="1627632"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03720" y="5806440"/>
            <a:ext cx="1536192" cy="256032"/>
          </a:xfrm>
          <a:prstGeom prst="rect">
            <a:avLst/>
          </a:prstGeom>
          <a:noFill/>
        </p:spPr>
        <p:txBody>
          <a:bodyPr wrap="square">
            <a:spAutoFit/>
          </a:bodyPr>
          <a:lstStyle/>
          <a:p>
            <a:pPr algn="ctr"/>
            <a:r>
              <a:rPr sz="900" b="1" i="0">
                <a:solidFill>
                  <a:srgbClr val="FFFFFF"/>
                </a:solidFill>
                <a:latin typeface="Helvetica"/>
              </a:rPr>
              <a:t>Vivado 2024.1</a:t>
            </a:r>
          </a:p>
        </p:txBody>
      </p:sp>
      <p:sp>
        <p:nvSpPr>
          <p:cNvPr id="31" name="Rectangle 30"/>
          <p:cNvSpPr/>
          <p:nvPr/>
        </p:nvSpPr>
        <p:spPr>
          <a:xfrm>
            <a:off x="8558784" y="5779008"/>
            <a:ext cx="1627632" cy="31089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22792" y="5806440"/>
            <a:ext cx="1536192" cy="256032"/>
          </a:xfrm>
          <a:prstGeom prst="rect">
            <a:avLst/>
          </a:prstGeom>
          <a:noFill/>
        </p:spPr>
        <p:txBody>
          <a:bodyPr wrap="square">
            <a:spAutoFit/>
          </a:bodyPr>
          <a:lstStyle/>
          <a:p>
            <a:pPr algn="ctr"/>
            <a:r>
              <a:rPr sz="900" b="1" i="0">
                <a:solidFill>
                  <a:srgbClr val="FFFFFF"/>
                </a:solidFill>
                <a:latin typeface="Helvetica"/>
              </a:rPr>
              <a:t>PYNQ v3.1</a:t>
            </a:r>
          </a:p>
        </p:txBody>
      </p:sp>
      <p:sp>
        <p:nvSpPr>
          <p:cNvPr id="33" name="Rectangle 32"/>
          <p:cNvSpPr/>
          <p:nvPr/>
        </p:nvSpPr>
        <p:spPr>
          <a:xfrm>
            <a:off x="10277855" y="5779008"/>
            <a:ext cx="1627632" cy="310896"/>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341863" y="5806440"/>
            <a:ext cx="1536192" cy="256032"/>
          </a:xfrm>
          <a:prstGeom prst="rect">
            <a:avLst/>
          </a:prstGeom>
          <a:noFill/>
        </p:spPr>
        <p:txBody>
          <a:bodyPr wrap="square">
            <a:spAutoFit/>
          </a:bodyPr>
          <a:lstStyle/>
          <a:p>
            <a:pPr algn="ctr"/>
            <a:r>
              <a:rPr sz="900" b="1" i="0">
                <a:solidFill>
                  <a:srgbClr val="FFFFFF"/>
                </a:solidFill>
                <a:latin typeface="Helvetica"/>
              </a:rPr>
              <a:t>xczu3eg</a:t>
            </a:r>
          </a:p>
        </p:txBody>
      </p:sp>
    </p:spTree>
    <p:extLst>
      <p:ext uri="{BB962C8B-B14F-4D97-AF65-F5344CB8AC3E}">
        <p14:creationId xmlns:p14="http://schemas.microsoft.com/office/powerpoint/2010/main" val="327873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792A4D-8B30-31DC-990F-C5EAA74C7CFC}"/>
              </a:ext>
            </a:extLst>
          </p:cNvPr>
          <p:cNvSpPr txBox="1"/>
          <p:nvPr/>
        </p:nvSpPr>
        <p:spPr>
          <a:xfrm>
            <a:off x="143287" y="321454"/>
            <a:ext cx="6766560" cy="461665"/>
          </a:xfrm>
          <a:prstGeom prst="rect">
            <a:avLst/>
          </a:prstGeom>
          <a:noFill/>
        </p:spPr>
        <p:txBody>
          <a:bodyPr wrap="square">
            <a:spAutoFit/>
          </a:bodyPr>
          <a:lstStyle/>
          <a:p>
            <a:pPr algn="l"/>
            <a:r>
              <a:rPr lang="en-US" sz="2400" b="1" i="0" dirty="0">
                <a:solidFill>
                  <a:srgbClr val="0F172A"/>
                </a:solidFill>
                <a:latin typeface="Helvetica"/>
              </a:rPr>
              <a:t>Inspiration.</a:t>
            </a:r>
          </a:p>
        </p:txBody>
      </p:sp>
      <p:pic>
        <p:nvPicPr>
          <p:cNvPr id="5" name="Picture 4">
            <a:extLst>
              <a:ext uri="{FF2B5EF4-FFF2-40B4-BE49-F238E27FC236}">
                <a16:creationId xmlns:a16="http://schemas.microsoft.com/office/drawing/2014/main" id="{49BC4D39-8008-2D93-429C-1AF5E94030B5}"/>
              </a:ext>
            </a:extLst>
          </p:cNvPr>
          <p:cNvPicPr>
            <a:picLocks noChangeAspect="1"/>
          </p:cNvPicPr>
          <p:nvPr/>
        </p:nvPicPr>
        <p:blipFill>
          <a:blip r:embed="rId2"/>
          <a:stretch>
            <a:fillRect/>
          </a:stretch>
        </p:blipFill>
        <p:spPr>
          <a:xfrm>
            <a:off x="3522662" y="0"/>
            <a:ext cx="5143500" cy="6858000"/>
          </a:xfrm>
          <a:prstGeom prst="rect">
            <a:avLst/>
          </a:prstGeom>
        </p:spPr>
      </p:pic>
    </p:spTree>
    <p:extLst>
      <p:ext uri="{BB962C8B-B14F-4D97-AF65-F5344CB8AC3E}">
        <p14:creationId xmlns:p14="http://schemas.microsoft.com/office/powerpoint/2010/main" val="3861980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4572000" cy="256032"/>
          </a:xfrm>
          <a:prstGeom prst="rect">
            <a:avLst/>
          </a:prstGeom>
          <a:noFill/>
        </p:spPr>
        <p:txBody>
          <a:bodyPr wrap="square">
            <a:spAutoFit/>
          </a:bodyPr>
          <a:lstStyle/>
          <a:p>
            <a:pPr algn="l"/>
            <a:r>
              <a:rPr sz="850" b="1" i="0">
                <a:solidFill>
                  <a:srgbClr val="2D6A4F"/>
                </a:solidFill>
                <a:latin typeface="Helvetica"/>
              </a:rPr>
              <a:t>SYSTEM ARCHITECTURE</a:t>
            </a:r>
          </a:p>
        </p:txBody>
      </p:sp>
      <p:sp>
        <p:nvSpPr>
          <p:cNvPr id="4" name="TextBox 3"/>
          <p:cNvSpPr txBox="1"/>
          <p:nvPr/>
        </p:nvSpPr>
        <p:spPr>
          <a:xfrm>
            <a:off x="457200" y="420624"/>
            <a:ext cx="11247120" cy="749808"/>
          </a:xfrm>
          <a:prstGeom prst="rect">
            <a:avLst/>
          </a:prstGeom>
          <a:noFill/>
        </p:spPr>
        <p:txBody>
          <a:bodyPr wrap="square">
            <a:spAutoFit/>
          </a:bodyPr>
          <a:lstStyle/>
          <a:p>
            <a:pPr algn="l"/>
            <a:r>
              <a:rPr sz="3400" b="1" i="0">
                <a:solidFill>
                  <a:srgbClr val="0F172A"/>
                </a:solidFill>
                <a:latin typeface="Helvetica"/>
              </a:rPr>
              <a:t>How the System Works</a:t>
            </a:r>
          </a:p>
        </p:txBody>
      </p:sp>
      <p:sp>
        <p:nvSpPr>
          <p:cNvPr id="5" name="TextBox 4"/>
          <p:cNvSpPr txBox="1"/>
          <p:nvPr/>
        </p:nvSpPr>
        <p:spPr>
          <a:xfrm>
            <a:off x="457200" y="1115568"/>
            <a:ext cx="11247120" cy="347472"/>
          </a:xfrm>
          <a:prstGeom prst="rect">
            <a:avLst/>
          </a:prstGeom>
          <a:noFill/>
        </p:spPr>
        <p:txBody>
          <a:bodyPr wrap="square">
            <a:spAutoFit/>
          </a:bodyPr>
          <a:lstStyle/>
          <a:p>
            <a:pPr algn="l"/>
            <a:r>
              <a:rPr sz="1300" b="0" i="0">
                <a:solidFill>
                  <a:srgbClr val="64748B"/>
                </a:solidFill>
                <a:latin typeface="Helvetica"/>
              </a:rPr>
              <a:t>ARM handles control and I/O  —  FPGA handles the signal processing math</a:t>
            </a:r>
          </a:p>
        </p:txBody>
      </p:sp>
      <p:sp>
        <p:nvSpPr>
          <p:cNvPr id="6" name="Rectangle 5"/>
          <p:cNvSpPr/>
          <p:nvPr/>
        </p:nvSpPr>
        <p:spPr>
          <a:xfrm>
            <a:off x="457200" y="1517904"/>
            <a:ext cx="11247120" cy="201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0" y="1664208"/>
            <a:ext cx="7772400" cy="2395728"/>
          </a:xfrm>
          <a:prstGeom prst="rect">
            <a:avLst/>
          </a:prstGeom>
          <a:solidFill>
            <a:srgbClr val="F0FDF4"/>
          </a:solidFill>
          <a:ln w="1905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14016" y="1719072"/>
            <a:ext cx="4114800" cy="237744"/>
          </a:xfrm>
          <a:prstGeom prst="rect">
            <a:avLst/>
          </a:prstGeom>
          <a:noFill/>
        </p:spPr>
        <p:txBody>
          <a:bodyPr wrap="square">
            <a:spAutoFit/>
          </a:bodyPr>
          <a:lstStyle/>
          <a:p>
            <a:pPr algn="l"/>
            <a:r>
              <a:rPr sz="900" b="1" i="0">
                <a:solidFill>
                  <a:srgbClr val="2D6A4F"/>
                </a:solidFill>
                <a:latin typeface="Helvetica"/>
              </a:rPr>
              <a:t>AUP-ZU3  Zynq UltraScale+</a:t>
            </a:r>
          </a:p>
        </p:txBody>
      </p:sp>
      <p:sp>
        <p:nvSpPr>
          <p:cNvPr id="9" name="Rectangle 8"/>
          <p:cNvSpPr/>
          <p:nvPr/>
        </p:nvSpPr>
        <p:spPr>
          <a:xfrm>
            <a:off x="2468880" y="1993392"/>
            <a:ext cx="2560320" cy="1792224"/>
          </a:xfrm>
          <a:prstGeom prst="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468880" y="1993392"/>
            <a:ext cx="2560320" cy="31089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60320" y="2048256"/>
            <a:ext cx="2423160" cy="223138"/>
          </a:xfrm>
          <a:prstGeom prst="rect">
            <a:avLst/>
          </a:prstGeom>
          <a:noFill/>
        </p:spPr>
        <p:txBody>
          <a:bodyPr wrap="square">
            <a:spAutoFit/>
          </a:bodyPr>
          <a:lstStyle/>
          <a:p>
            <a:pPr algn="l"/>
            <a:r>
              <a:rPr lang="en-US" sz="850" b="1" i="0" dirty="0">
                <a:solidFill>
                  <a:srgbClr val="64748B"/>
                </a:solidFill>
                <a:latin typeface="Helvetica"/>
              </a:rPr>
              <a:t>PS</a:t>
            </a:r>
            <a:endParaRPr sz="850" b="1" i="0" dirty="0">
              <a:solidFill>
                <a:srgbClr val="64748B"/>
              </a:solidFill>
              <a:latin typeface="Helvetica"/>
            </a:endParaRPr>
          </a:p>
        </p:txBody>
      </p:sp>
      <p:sp>
        <p:nvSpPr>
          <p:cNvPr id="12" name="TextBox 11"/>
          <p:cNvSpPr txBox="1"/>
          <p:nvPr/>
        </p:nvSpPr>
        <p:spPr>
          <a:xfrm>
            <a:off x="2560320" y="2395728"/>
            <a:ext cx="2423160" cy="292388"/>
          </a:xfrm>
          <a:prstGeom prst="rect">
            <a:avLst/>
          </a:prstGeom>
          <a:noFill/>
        </p:spPr>
        <p:txBody>
          <a:bodyPr wrap="square">
            <a:spAutoFit/>
          </a:bodyPr>
          <a:lstStyle/>
          <a:p>
            <a:pPr algn="l"/>
            <a:r>
              <a:rPr sz="1300" b="1" i="0" dirty="0">
                <a:solidFill>
                  <a:srgbClr val="0F172A"/>
                </a:solidFill>
                <a:latin typeface="Helvetica"/>
              </a:rPr>
              <a:t>ARM Cortex</a:t>
            </a:r>
          </a:p>
        </p:txBody>
      </p:sp>
      <p:sp>
        <p:nvSpPr>
          <p:cNvPr id="13" name="TextBox 12"/>
          <p:cNvSpPr txBox="1"/>
          <p:nvPr/>
        </p:nvSpPr>
        <p:spPr>
          <a:xfrm>
            <a:off x="2560320" y="2706624"/>
            <a:ext cx="2423160" cy="237744"/>
          </a:xfrm>
          <a:prstGeom prst="rect">
            <a:avLst/>
          </a:prstGeom>
          <a:noFill/>
        </p:spPr>
        <p:txBody>
          <a:bodyPr wrap="square">
            <a:spAutoFit/>
          </a:bodyPr>
          <a:lstStyle/>
          <a:p>
            <a:pPr algn="l"/>
            <a:r>
              <a:rPr sz="1000" b="0" i="0">
                <a:solidFill>
                  <a:srgbClr val="64748B"/>
                </a:solidFill>
                <a:latin typeface="Helvetica"/>
              </a:rPr>
              <a:t>Python  /  PYNQ</a:t>
            </a:r>
          </a:p>
        </p:txBody>
      </p:sp>
      <p:sp>
        <p:nvSpPr>
          <p:cNvPr id="14" name="TextBox 13"/>
          <p:cNvSpPr txBox="1"/>
          <p:nvPr/>
        </p:nvSpPr>
        <p:spPr>
          <a:xfrm>
            <a:off x="2560320" y="2944368"/>
            <a:ext cx="2423160" cy="457200"/>
          </a:xfrm>
          <a:prstGeom prst="rect">
            <a:avLst/>
          </a:prstGeom>
          <a:noFill/>
        </p:spPr>
        <p:txBody>
          <a:bodyPr wrap="square">
            <a:spAutoFit/>
          </a:bodyPr>
          <a:lstStyle/>
          <a:p>
            <a:pPr algn="l"/>
            <a:r>
              <a:rPr sz="900" b="0" i="0">
                <a:solidFill>
                  <a:srgbClr val="94A3B8"/>
                </a:solidFill>
                <a:latin typeface="Helvetica"/>
              </a:rPr>
              <a:t>Writes params + AP_START
Reads results from DDR</a:t>
            </a:r>
          </a:p>
        </p:txBody>
      </p:sp>
      <p:sp>
        <p:nvSpPr>
          <p:cNvPr id="15" name="TextBox 14"/>
          <p:cNvSpPr txBox="1"/>
          <p:nvPr/>
        </p:nvSpPr>
        <p:spPr>
          <a:xfrm>
            <a:off x="2560320" y="3456432"/>
            <a:ext cx="2423160" cy="237744"/>
          </a:xfrm>
          <a:prstGeom prst="rect">
            <a:avLst/>
          </a:prstGeom>
          <a:noFill/>
        </p:spPr>
        <p:txBody>
          <a:bodyPr wrap="square">
            <a:spAutoFit/>
          </a:bodyPr>
          <a:lstStyle/>
          <a:p>
            <a:pPr algn="l"/>
            <a:r>
              <a:rPr sz="850" b="0" i="1">
                <a:solidFill>
                  <a:srgbClr val="94A3B8"/>
                </a:solidFill>
                <a:latin typeface="Helvetica"/>
              </a:rPr>
              <a:t>DDR Memory Controller</a:t>
            </a:r>
          </a:p>
        </p:txBody>
      </p:sp>
      <p:sp>
        <p:nvSpPr>
          <p:cNvPr id="16" name="Rectangle 15"/>
          <p:cNvSpPr/>
          <p:nvPr/>
        </p:nvSpPr>
        <p:spPr>
          <a:xfrm>
            <a:off x="7223760" y="1993392"/>
            <a:ext cx="2651760" cy="1792224"/>
          </a:xfrm>
          <a:prstGeom prst="rect">
            <a:avLst/>
          </a:prstGeom>
          <a:solidFill>
            <a:srgbClr val="D8F3DC"/>
          </a:solidFill>
          <a:ln w="254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223760" y="1993392"/>
            <a:ext cx="2651760" cy="310896"/>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0" y="2048256"/>
            <a:ext cx="2514600" cy="223138"/>
          </a:xfrm>
          <a:prstGeom prst="rect">
            <a:avLst/>
          </a:prstGeom>
          <a:noFill/>
        </p:spPr>
        <p:txBody>
          <a:bodyPr wrap="square">
            <a:spAutoFit/>
          </a:bodyPr>
          <a:lstStyle/>
          <a:p>
            <a:pPr algn="l"/>
            <a:r>
              <a:rPr lang="en-US" sz="850" b="1" i="0" dirty="0">
                <a:solidFill>
                  <a:srgbClr val="FFFFFF"/>
                </a:solidFill>
                <a:latin typeface="Helvetica"/>
              </a:rPr>
              <a:t>PL</a:t>
            </a:r>
            <a:endParaRPr sz="850" b="1" i="0" dirty="0">
              <a:solidFill>
                <a:srgbClr val="FFFFFF"/>
              </a:solidFill>
              <a:latin typeface="Helvetica"/>
            </a:endParaRPr>
          </a:p>
        </p:txBody>
      </p:sp>
      <p:sp>
        <p:nvSpPr>
          <p:cNvPr id="19" name="TextBox 18"/>
          <p:cNvSpPr txBox="1"/>
          <p:nvPr/>
        </p:nvSpPr>
        <p:spPr>
          <a:xfrm>
            <a:off x="7315200" y="2395728"/>
            <a:ext cx="2514600" cy="310896"/>
          </a:xfrm>
          <a:prstGeom prst="rect">
            <a:avLst/>
          </a:prstGeom>
          <a:noFill/>
        </p:spPr>
        <p:txBody>
          <a:bodyPr wrap="square">
            <a:spAutoFit/>
          </a:bodyPr>
          <a:lstStyle/>
          <a:p>
            <a:pPr algn="l"/>
            <a:r>
              <a:rPr sz="1300" b="1" i="0">
                <a:solidFill>
                  <a:srgbClr val="1B4332"/>
                </a:solidFill>
                <a:latin typeface="Helvetica"/>
              </a:rPr>
              <a:t>chain_top  (HLS)</a:t>
            </a:r>
          </a:p>
        </p:txBody>
      </p:sp>
      <p:sp>
        <p:nvSpPr>
          <p:cNvPr id="20" name="TextBox 19"/>
          <p:cNvSpPr txBox="1"/>
          <p:nvPr/>
        </p:nvSpPr>
        <p:spPr>
          <a:xfrm>
            <a:off x="7315200" y="2706624"/>
            <a:ext cx="2514600" cy="237744"/>
          </a:xfrm>
          <a:prstGeom prst="rect">
            <a:avLst/>
          </a:prstGeom>
          <a:noFill/>
        </p:spPr>
        <p:txBody>
          <a:bodyPr wrap="square">
            <a:spAutoFit/>
          </a:bodyPr>
          <a:lstStyle/>
          <a:p>
            <a:pPr algn="l"/>
            <a:r>
              <a:rPr sz="1000" b="0" i="0">
                <a:solidFill>
                  <a:srgbClr val="64748B"/>
                </a:solidFill>
                <a:latin typeface="Helvetica"/>
              </a:rPr>
              <a:t>3 effects  /  480 samples  /  100 MHz</a:t>
            </a:r>
          </a:p>
        </p:txBody>
      </p:sp>
      <p:sp>
        <p:nvSpPr>
          <p:cNvPr id="21" name="Rectangle 20"/>
          <p:cNvSpPr/>
          <p:nvPr/>
        </p:nvSpPr>
        <p:spPr>
          <a:xfrm>
            <a:off x="7315200" y="2999232"/>
            <a:ext cx="749808" cy="402336"/>
          </a:xfrm>
          <a:prstGeom prst="rect">
            <a:avLst/>
          </a:prstGeom>
          <a:solidFill>
            <a:srgbClr val="FFFFFF"/>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51775" y="3072384"/>
            <a:ext cx="676656" cy="256032"/>
          </a:xfrm>
          <a:prstGeom prst="rect">
            <a:avLst/>
          </a:prstGeom>
          <a:noFill/>
        </p:spPr>
        <p:txBody>
          <a:bodyPr wrap="square">
            <a:spAutoFit/>
          </a:bodyPr>
          <a:lstStyle/>
          <a:p>
            <a:pPr algn="ctr"/>
            <a:r>
              <a:rPr sz="900" b="1" i="0">
                <a:solidFill>
                  <a:srgbClr val="B45309"/>
                </a:solidFill>
                <a:latin typeface="Helvetica"/>
              </a:rPr>
              <a:t>dist</a:t>
            </a:r>
          </a:p>
        </p:txBody>
      </p:sp>
      <p:cxnSp>
        <p:nvCxnSpPr>
          <p:cNvPr id="23" name="Connector 22"/>
          <p:cNvCxnSpPr/>
          <p:nvPr/>
        </p:nvCxnSpPr>
        <p:spPr>
          <a:xfrm>
            <a:off x="8065008" y="3200400"/>
            <a:ext cx="91440" cy="0"/>
          </a:xfrm>
          <a:prstGeom prst="line">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138160" y="2999232"/>
            <a:ext cx="749808" cy="402336"/>
          </a:xfrm>
          <a:prstGeom prst="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74736" y="3072384"/>
            <a:ext cx="676656" cy="256032"/>
          </a:xfrm>
          <a:prstGeom prst="rect">
            <a:avLst/>
          </a:prstGeom>
          <a:noFill/>
        </p:spPr>
        <p:txBody>
          <a:bodyPr wrap="square">
            <a:spAutoFit/>
          </a:bodyPr>
          <a:lstStyle/>
          <a:p>
            <a:pPr algn="ctr"/>
            <a:r>
              <a:rPr sz="900" b="1" i="0">
                <a:solidFill>
                  <a:srgbClr val="6D28D9"/>
                </a:solidFill>
                <a:latin typeface="Helvetica"/>
              </a:rPr>
              <a:t>trem</a:t>
            </a:r>
          </a:p>
        </p:txBody>
      </p:sp>
      <p:cxnSp>
        <p:nvCxnSpPr>
          <p:cNvPr id="26" name="Connector 25"/>
          <p:cNvCxnSpPr/>
          <p:nvPr/>
        </p:nvCxnSpPr>
        <p:spPr>
          <a:xfrm>
            <a:off x="8887968" y="3200400"/>
            <a:ext cx="91440" cy="0"/>
          </a:xfrm>
          <a:prstGeom prst="line">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961120" y="2999232"/>
            <a:ext cx="749808" cy="402336"/>
          </a:xfrm>
          <a:prstGeom prst="rect">
            <a:avLst/>
          </a:prstGeom>
          <a:solidFill>
            <a:srgbClr val="FFFFFF"/>
          </a:solidFill>
          <a:ln w="1524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997696" y="3072384"/>
            <a:ext cx="676656" cy="256032"/>
          </a:xfrm>
          <a:prstGeom prst="rect">
            <a:avLst/>
          </a:prstGeom>
          <a:noFill/>
        </p:spPr>
        <p:txBody>
          <a:bodyPr wrap="square">
            <a:spAutoFit/>
          </a:bodyPr>
          <a:lstStyle/>
          <a:p>
            <a:pPr algn="ctr"/>
            <a:r>
              <a:rPr sz="900" b="1" i="0">
                <a:solidFill>
                  <a:srgbClr val="1E40AF"/>
                </a:solidFill>
                <a:latin typeface="Helvetica"/>
              </a:rPr>
              <a:t>delay</a:t>
            </a:r>
          </a:p>
        </p:txBody>
      </p:sp>
      <p:sp>
        <p:nvSpPr>
          <p:cNvPr id="29" name="Rectangle 28"/>
          <p:cNvSpPr/>
          <p:nvPr/>
        </p:nvSpPr>
        <p:spPr>
          <a:xfrm>
            <a:off x="5366321" y="2874072"/>
            <a:ext cx="1611630" cy="820102"/>
          </a:xfrm>
          <a:prstGeom prst="rect">
            <a:avLst/>
          </a:prstGeom>
          <a:solidFill>
            <a:srgbClr val="EFF6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65065" y="2902756"/>
            <a:ext cx="2377439" cy="237744"/>
          </a:xfrm>
          <a:prstGeom prst="rect">
            <a:avLst/>
          </a:prstGeom>
          <a:noFill/>
        </p:spPr>
        <p:txBody>
          <a:bodyPr wrap="square">
            <a:spAutoFit/>
          </a:bodyPr>
          <a:lstStyle/>
          <a:p>
            <a:pPr algn="ctr"/>
            <a:r>
              <a:rPr sz="1000" b="1" i="0">
                <a:solidFill>
                  <a:srgbClr val="1E40AF"/>
                </a:solidFill>
                <a:latin typeface="Helvetica"/>
              </a:rPr>
              <a:t>DDR Memory</a:t>
            </a:r>
          </a:p>
        </p:txBody>
      </p:sp>
      <p:sp>
        <p:nvSpPr>
          <p:cNvPr id="31" name="TextBox 30"/>
          <p:cNvSpPr txBox="1"/>
          <p:nvPr/>
        </p:nvSpPr>
        <p:spPr>
          <a:xfrm>
            <a:off x="4965065" y="3131356"/>
            <a:ext cx="2377439" cy="201168"/>
          </a:xfrm>
          <a:prstGeom prst="rect">
            <a:avLst/>
          </a:prstGeom>
          <a:noFill/>
        </p:spPr>
        <p:txBody>
          <a:bodyPr wrap="square">
            <a:spAutoFit/>
          </a:bodyPr>
          <a:lstStyle/>
          <a:p>
            <a:pPr algn="ctr"/>
            <a:r>
              <a:rPr sz="850" b="0" i="0">
                <a:solidFill>
                  <a:srgbClr val="64748B"/>
                </a:solidFill>
                <a:latin typeface="Helvetica"/>
              </a:rPr>
              <a:t>in_buf[480]  +  out_buf[480]</a:t>
            </a:r>
          </a:p>
        </p:txBody>
      </p:sp>
      <p:sp>
        <p:nvSpPr>
          <p:cNvPr id="32" name="Rectangle 31"/>
          <p:cNvSpPr/>
          <p:nvPr/>
        </p:nvSpPr>
        <p:spPr>
          <a:xfrm>
            <a:off x="274320" y="2359152"/>
            <a:ext cx="1737360" cy="658368"/>
          </a:xfrm>
          <a:prstGeom prst="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47472" y="2432304"/>
            <a:ext cx="1591056" cy="261610"/>
          </a:xfrm>
          <a:prstGeom prst="rect">
            <a:avLst/>
          </a:prstGeom>
          <a:noFill/>
        </p:spPr>
        <p:txBody>
          <a:bodyPr wrap="square">
            <a:spAutoFit/>
          </a:bodyPr>
          <a:lstStyle/>
          <a:p>
            <a:pPr algn="ctr"/>
            <a:r>
              <a:rPr sz="1100" b="1" i="0" dirty="0">
                <a:solidFill>
                  <a:srgbClr val="1E293B"/>
                </a:solidFill>
                <a:latin typeface="Helvetica"/>
              </a:rPr>
              <a:t>Audio In</a:t>
            </a:r>
            <a:r>
              <a:rPr lang="en-US" sz="1100" b="1" i="0" dirty="0">
                <a:solidFill>
                  <a:srgbClr val="1E293B"/>
                </a:solidFill>
                <a:latin typeface="Helvetica"/>
              </a:rPr>
              <a:t> (int16, Q1.5)</a:t>
            </a:r>
            <a:endParaRPr sz="1100" b="1" i="0" dirty="0">
              <a:solidFill>
                <a:srgbClr val="1E293B"/>
              </a:solidFill>
              <a:latin typeface="Helvetica"/>
            </a:endParaRPr>
          </a:p>
        </p:txBody>
      </p:sp>
      <p:sp>
        <p:nvSpPr>
          <p:cNvPr id="34" name="TextBox 33"/>
          <p:cNvSpPr txBox="1"/>
          <p:nvPr/>
        </p:nvSpPr>
        <p:spPr>
          <a:xfrm>
            <a:off x="347472" y="2688336"/>
            <a:ext cx="1591056" cy="223138"/>
          </a:xfrm>
          <a:prstGeom prst="rect">
            <a:avLst/>
          </a:prstGeom>
          <a:noFill/>
        </p:spPr>
        <p:txBody>
          <a:bodyPr wrap="square">
            <a:spAutoFit/>
          </a:bodyPr>
          <a:lstStyle/>
          <a:p>
            <a:pPr algn="ctr"/>
            <a:r>
              <a:rPr sz="850" b="0" i="0" dirty="0">
                <a:solidFill>
                  <a:srgbClr val="94A3B8"/>
                </a:solidFill>
                <a:latin typeface="Helvetica"/>
              </a:rPr>
              <a:t>WAV </a:t>
            </a:r>
          </a:p>
        </p:txBody>
      </p:sp>
      <p:sp>
        <p:nvSpPr>
          <p:cNvPr id="35" name="Rectangle 34"/>
          <p:cNvSpPr/>
          <p:nvPr/>
        </p:nvSpPr>
        <p:spPr>
          <a:xfrm>
            <a:off x="10177272" y="2359152"/>
            <a:ext cx="1737360" cy="658368"/>
          </a:xfrm>
          <a:prstGeom prst="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121329" y="2432304"/>
            <a:ext cx="1857311" cy="261610"/>
          </a:xfrm>
          <a:prstGeom prst="rect">
            <a:avLst/>
          </a:prstGeom>
          <a:noFill/>
        </p:spPr>
        <p:txBody>
          <a:bodyPr wrap="square">
            <a:spAutoFit/>
          </a:bodyPr>
          <a:lstStyle/>
          <a:p>
            <a:pPr algn="ctr"/>
            <a:r>
              <a:rPr sz="1100" b="1" i="0" dirty="0">
                <a:solidFill>
                  <a:srgbClr val="1E293B"/>
                </a:solidFill>
                <a:latin typeface="Helvetica"/>
              </a:rPr>
              <a:t>Audio Out</a:t>
            </a:r>
            <a:r>
              <a:rPr lang="en-US" sz="1100" b="1" dirty="0">
                <a:solidFill>
                  <a:srgbClr val="1E293B"/>
                </a:solidFill>
                <a:latin typeface="Helvetica"/>
              </a:rPr>
              <a:t> In (int16, Q1.5)</a:t>
            </a:r>
            <a:endParaRPr sz="1100" b="1" i="0" dirty="0">
              <a:solidFill>
                <a:srgbClr val="1E293B"/>
              </a:solidFill>
              <a:latin typeface="Helvetica"/>
            </a:endParaRPr>
          </a:p>
        </p:txBody>
      </p:sp>
      <p:sp>
        <p:nvSpPr>
          <p:cNvPr id="37" name="TextBox 36"/>
          <p:cNvSpPr txBox="1"/>
          <p:nvPr/>
        </p:nvSpPr>
        <p:spPr>
          <a:xfrm>
            <a:off x="10241280" y="2688336"/>
            <a:ext cx="1609344" cy="223138"/>
          </a:xfrm>
          <a:prstGeom prst="rect">
            <a:avLst/>
          </a:prstGeom>
          <a:noFill/>
        </p:spPr>
        <p:txBody>
          <a:bodyPr wrap="square">
            <a:spAutoFit/>
          </a:bodyPr>
          <a:lstStyle/>
          <a:p>
            <a:pPr algn="ctr"/>
            <a:r>
              <a:rPr sz="850" b="0" i="0" dirty="0">
                <a:solidFill>
                  <a:srgbClr val="94A3B8"/>
                </a:solidFill>
                <a:latin typeface="Helvetica"/>
              </a:rPr>
              <a:t>WAV </a:t>
            </a:r>
          </a:p>
        </p:txBody>
      </p:sp>
      <p:cxnSp>
        <p:nvCxnSpPr>
          <p:cNvPr id="38" name="Connector 37"/>
          <p:cNvCxnSpPr/>
          <p:nvPr/>
        </p:nvCxnSpPr>
        <p:spPr>
          <a:xfrm>
            <a:off x="2029968" y="2688336"/>
            <a:ext cx="420624" cy="0"/>
          </a:xfrm>
          <a:prstGeom prst="line">
            <a:avLst/>
          </a:prstGeom>
          <a:ln w="254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893808" y="2688336"/>
            <a:ext cx="265176" cy="0"/>
          </a:xfrm>
          <a:prstGeom prst="line">
            <a:avLst/>
          </a:prstGeom>
          <a:ln w="254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047488" y="2514600"/>
            <a:ext cx="2157984" cy="0"/>
          </a:xfrm>
          <a:prstGeom prst="line">
            <a:avLst/>
          </a:prstGeom>
          <a:ln w="22860">
            <a:solidFill>
              <a:srgbClr val="2D6A4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120640" y="2231136"/>
            <a:ext cx="2057400" cy="256032"/>
          </a:xfrm>
          <a:prstGeom prst="rect">
            <a:avLst/>
          </a:prstGeom>
          <a:noFill/>
        </p:spPr>
        <p:txBody>
          <a:bodyPr wrap="square">
            <a:spAutoFit/>
          </a:bodyPr>
          <a:lstStyle/>
          <a:p>
            <a:pPr algn="ctr"/>
            <a:r>
              <a:rPr sz="800" b="0" i="1">
                <a:solidFill>
                  <a:srgbClr val="2D6A4F"/>
                </a:solidFill>
                <a:latin typeface="Helvetica"/>
              </a:rPr>
              <a:t>s_axilite  (control params + AP_START)</a:t>
            </a:r>
          </a:p>
        </p:txBody>
      </p:sp>
      <p:cxnSp>
        <p:nvCxnSpPr>
          <p:cNvPr id="42" name="Connector 41"/>
          <p:cNvCxnSpPr>
            <a:cxnSpLocks/>
            <a:endCxn id="29" idx="1"/>
          </p:cNvCxnSpPr>
          <p:nvPr/>
        </p:nvCxnSpPr>
        <p:spPr>
          <a:xfrm>
            <a:off x="5047488" y="3284123"/>
            <a:ext cx="318833" cy="0"/>
          </a:xfrm>
          <a:prstGeom prst="line">
            <a:avLst/>
          </a:prstGeom>
          <a:ln w="19050">
            <a:solidFill>
              <a:srgbClr val="1E40A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a:cxnSpLocks/>
            <a:endCxn id="29" idx="3"/>
          </p:cNvCxnSpPr>
          <p:nvPr/>
        </p:nvCxnSpPr>
        <p:spPr>
          <a:xfrm flipH="1">
            <a:off x="6977951" y="3284123"/>
            <a:ext cx="245809" cy="0"/>
          </a:xfrm>
          <a:prstGeom prst="line">
            <a:avLst/>
          </a:prstGeom>
          <a:ln w="19050">
            <a:solidFill>
              <a:srgbClr val="1E40A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157088" y="3348907"/>
            <a:ext cx="1828800" cy="237744"/>
          </a:xfrm>
          <a:prstGeom prst="rect">
            <a:avLst/>
          </a:prstGeom>
          <a:noFill/>
        </p:spPr>
        <p:txBody>
          <a:bodyPr wrap="square">
            <a:spAutoFit/>
          </a:bodyPr>
          <a:lstStyle/>
          <a:p>
            <a:pPr algn="ctr"/>
            <a:r>
              <a:rPr sz="850" b="0" i="1" dirty="0" err="1">
                <a:solidFill>
                  <a:srgbClr val="1E40AF"/>
                </a:solidFill>
                <a:latin typeface="Helvetica"/>
              </a:rPr>
              <a:t>m_axi</a:t>
            </a:r>
            <a:r>
              <a:rPr sz="850" b="0" i="1" dirty="0">
                <a:solidFill>
                  <a:srgbClr val="1E40AF"/>
                </a:solidFill>
                <a:latin typeface="Helvetica"/>
              </a:rPr>
              <a:t>  HP0  DMA</a:t>
            </a:r>
          </a:p>
        </p:txBody>
      </p:sp>
      <p:sp>
        <p:nvSpPr>
          <p:cNvPr id="45" name="TextBox 44"/>
          <p:cNvSpPr txBox="1"/>
          <p:nvPr/>
        </p:nvSpPr>
        <p:spPr>
          <a:xfrm>
            <a:off x="457200" y="4315968"/>
            <a:ext cx="4572000" cy="320040"/>
          </a:xfrm>
          <a:prstGeom prst="rect">
            <a:avLst/>
          </a:prstGeom>
          <a:noFill/>
        </p:spPr>
        <p:txBody>
          <a:bodyPr wrap="square">
            <a:spAutoFit/>
          </a:bodyPr>
          <a:lstStyle/>
          <a:p>
            <a:pPr algn="l"/>
            <a:r>
              <a:rPr sz="1200" b="1" i="0">
                <a:solidFill>
                  <a:srgbClr val="0F172A"/>
                </a:solidFill>
                <a:latin typeface="Helvetica"/>
              </a:rPr>
              <a:t>Round-Trip Timing Breakdown</a:t>
            </a:r>
          </a:p>
        </p:txBody>
      </p:sp>
      <p:sp>
        <p:nvSpPr>
          <p:cNvPr id="46" name="Rectangle 45"/>
          <p:cNvSpPr/>
          <p:nvPr/>
        </p:nvSpPr>
        <p:spPr>
          <a:xfrm>
            <a:off x="457200" y="4608576"/>
            <a:ext cx="9144000" cy="310896"/>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48640" y="4663440"/>
            <a:ext cx="4005072" cy="237744"/>
          </a:xfrm>
          <a:prstGeom prst="rect">
            <a:avLst/>
          </a:prstGeom>
          <a:noFill/>
        </p:spPr>
        <p:txBody>
          <a:bodyPr wrap="square">
            <a:spAutoFit/>
          </a:bodyPr>
          <a:lstStyle/>
          <a:p>
            <a:pPr algn="l"/>
            <a:r>
              <a:rPr sz="950" b="1" i="0">
                <a:solidFill>
                  <a:srgbClr val="FFFFFF"/>
                </a:solidFill>
                <a:latin typeface="Helvetica"/>
              </a:rPr>
              <a:t>Component</a:t>
            </a:r>
          </a:p>
        </p:txBody>
      </p:sp>
      <p:sp>
        <p:nvSpPr>
          <p:cNvPr id="48" name="TextBox 47"/>
          <p:cNvSpPr txBox="1"/>
          <p:nvPr/>
        </p:nvSpPr>
        <p:spPr>
          <a:xfrm>
            <a:off x="4663440" y="4663440"/>
            <a:ext cx="2267712" cy="237744"/>
          </a:xfrm>
          <a:prstGeom prst="rect">
            <a:avLst/>
          </a:prstGeom>
          <a:noFill/>
        </p:spPr>
        <p:txBody>
          <a:bodyPr wrap="square">
            <a:spAutoFit/>
          </a:bodyPr>
          <a:lstStyle/>
          <a:p>
            <a:pPr algn="l"/>
            <a:r>
              <a:rPr sz="950" b="1" i="0">
                <a:solidFill>
                  <a:srgbClr val="FFFFFF"/>
                </a:solidFill>
                <a:latin typeface="Helvetica"/>
              </a:rPr>
              <a:t>Bus</a:t>
            </a:r>
          </a:p>
        </p:txBody>
      </p:sp>
      <p:sp>
        <p:nvSpPr>
          <p:cNvPr id="49" name="TextBox 48"/>
          <p:cNvSpPr txBox="1"/>
          <p:nvPr/>
        </p:nvSpPr>
        <p:spPr>
          <a:xfrm>
            <a:off x="7040879" y="4663440"/>
            <a:ext cx="1261872" cy="237744"/>
          </a:xfrm>
          <a:prstGeom prst="rect">
            <a:avLst/>
          </a:prstGeom>
          <a:noFill/>
        </p:spPr>
        <p:txBody>
          <a:bodyPr wrap="square">
            <a:spAutoFit/>
          </a:bodyPr>
          <a:lstStyle/>
          <a:p>
            <a:pPr algn="l"/>
            <a:r>
              <a:rPr sz="950" b="1" i="0">
                <a:solidFill>
                  <a:srgbClr val="FFFFFF"/>
                </a:solidFill>
                <a:latin typeface="Helvetica"/>
              </a:rPr>
              <a:t>Time</a:t>
            </a:r>
          </a:p>
        </p:txBody>
      </p:sp>
      <p:sp>
        <p:nvSpPr>
          <p:cNvPr id="50" name="TextBox 49"/>
          <p:cNvSpPr txBox="1"/>
          <p:nvPr/>
        </p:nvSpPr>
        <p:spPr>
          <a:xfrm>
            <a:off x="8412480" y="4663440"/>
            <a:ext cx="1170431" cy="237744"/>
          </a:xfrm>
          <a:prstGeom prst="rect">
            <a:avLst/>
          </a:prstGeom>
          <a:noFill/>
        </p:spPr>
        <p:txBody>
          <a:bodyPr wrap="square">
            <a:spAutoFit/>
          </a:bodyPr>
          <a:lstStyle/>
          <a:p>
            <a:pPr algn="l"/>
            <a:r>
              <a:rPr sz="950" b="1" i="0">
                <a:solidFill>
                  <a:srgbClr val="FFFFFF"/>
                </a:solidFill>
                <a:latin typeface="Helvetica"/>
              </a:rPr>
              <a:t>% Budget</a:t>
            </a:r>
          </a:p>
        </p:txBody>
      </p:sp>
      <p:sp>
        <p:nvSpPr>
          <p:cNvPr id="51" name="Rectangle 50"/>
          <p:cNvSpPr/>
          <p:nvPr/>
        </p:nvSpPr>
        <p:spPr>
          <a:xfrm>
            <a:off x="457200" y="4919472"/>
            <a:ext cx="9144000" cy="347472"/>
          </a:xfrm>
          <a:prstGeom prst="rect">
            <a:avLst/>
          </a:prstGeom>
          <a:solidFill>
            <a:srgbClr val="D8F3D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8640" y="5010912"/>
            <a:ext cx="4005072" cy="256032"/>
          </a:xfrm>
          <a:prstGeom prst="rect">
            <a:avLst/>
          </a:prstGeom>
          <a:noFill/>
        </p:spPr>
        <p:txBody>
          <a:bodyPr wrap="square">
            <a:spAutoFit/>
          </a:bodyPr>
          <a:lstStyle/>
          <a:p>
            <a:pPr algn="l"/>
            <a:r>
              <a:rPr sz="950" b="0" i="0">
                <a:solidFill>
                  <a:srgbClr val="0F172A"/>
                </a:solidFill>
                <a:latin typeface="Helvetica"/>
              </a:rPr>
              <a:t>FPGA compute  (1,469 cycles @ 100 MHz)</a:t>
            </a:r>
          </a:p>
        </p:txBody>
      </p:sp>
      <p:sp>
        <p:nvSpPr>
          <p:cNvPr id="53" name="TextBox 52"/>
          <p:cNvSpPr txBox="1"/>
          <p:nvPr/>
        </p:nvSpPr>
        <p:spPr>
          <a:xfrm>
            <a:off x="4663440" y="5010912"/>
            <a:ext cx="2267712" cy="256032"/>
          </a:xfrm>
          <a:prstGeom prst="rect">
            <a:avLst/>
          </a:prstGeom>
          <a:noFill/>
        </p:spPr>
        <p:txBody>
          <a:bodyPr wrap="square">
            <a:spAutoFit/>
          </a:bodyPr>
          <a:lstStyle/>
          <a:p>
            <a:pPr algn="l"/>
            <a:r>
              <a:rPr sz="950" b="0" i="0">
                <a:solidFill>
                  <a:srgbClr val="0F172A"/>
                </a:solidFill>
                <a:latin typeface="Helvetica"/>
              </a:rPr>
              <a:t>—</a:t>
            </a:r>
          </a:p>
        </p:txBody>
      </p:sp>
      <p:sp>
        <p:nvSpPr>
          <p:cNvPr id="54" name="TextBox 53"/>
          <p:cNvSpPr txBox="1"/>
          <p:nvPr/>
        </p:nvSpPr>
        <p:spPr>
          <a:xfrm>
            <a:off x="7040879" y="5010912"/>
            <a:ext cx="1261872" cy="256032"/>
          </a:xfrm>
          <a:prstGeom prst="rect">
            <a:avLst/>
          </a:prstGeom>
          <a:noFill/>
        </p:spPr>
        <p:txBody>
          <a:bodyPr wrap="square">
            <a:spAutoFit/>
          </a:bodyPr>
          <a:lstStyle/>
          <a:p>
            <a:pPr algn="l"/>
            <a:r>
              <a:rPr sz="950" b="1" i="0">
                <a:solidFill>
                  <a:srgbClr val="2D6A4F"/>
                </a:solidFill>
                <a:latin typeface="Helvetica"/>
              </a:rPr>
              <a:t>14.69 µs</a:t>
            </a:r>
          </a:p>
        </p:txBody>
      </p:sp>
      <p:sp>
        <p:nvSpPr>
          <p:cNvPr id="55" name="TextBox 54"/>
          <p:cNvSpPr txBox="1"/>
          <p:nvPr/>
        </p:nvSpPr>
        <p:spPr>
          <a:xfrm>
            <a:off x="8412480" y="5010912"/>
            <a:ext cx="1170431" cy="256032"/>
          </a:xfrm>
          <a:prstGeom prst="rect">
            <a:avLst/>
          </a:prstGeom>
          <a:noFill/>
        </p:spPr>
        <p:txBody>
          <a:bodyPr wrap="square">
            <a:spAutoFit/>
          </a:bodyPr>
          <a:lstStyle/>
          <a:p>
            <a:pPr algn="l"/>
            <a:r>
              <a:rPr sz="950" b="1" i="0">
                <a:solidFill>
                  <a:srgbClr val="2D6A4F"/>
                </a:solidFill>
                <a:latin typeface="Helvetica"/>
              </a:rPr>
              <a:t>0.15%</a:t>
            </a:r>
          </a:p>
        </p:txBody>
      </p:sp>
      <p:sp>
        <p:nvSpPr>
          <p:cNvPr id="56" name="Rectangle 55"/>
          <p:cNvSpPr/>
          <p:nvPr/>
        </p:nvSpPr>
        <p:spPr>
          <a:xfrm>
            <a:off x="457200" y="5266944"/>
            <a:ext cx="9144000" cy="347472"/>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48640" y="5358383"/>
            <a:ext cx="4005072" cy="256032"/>
          </a:xfrm>
          <a:prstGeom prst="rect">
            <a:avLst/>
          </a:prstGeom>
          <a:noFill/>
        </p:spPr>
        <p:txBody>
          <a:bodyPr wrap="square">
            <a:spAutoFit/>
          </a:bodyPr>
          <a:lstStyle/>
          <a:p>
            <a:pPr algn="l"/>
            <a:r>
              <a:rPr sz="950" b="0" i="0">
                <a:solidFill>
                  <a:srgbClr val="0F172A"/>
                </a:solidFill>
                <a:latin typeface="Helvetica"/>
              </a:rPr>
              <a:t>DMA read + write</a:t>
            </a:r>
          </a:p>
        </p:txBody>
      </p:sp>
      <p:sp>
        <p:nvSpPr>
          <p:cNvPr id="58" name="TextBox 57"/>
          <p:cNvSpPr txBox="1"/>
          <p:nvPr/>
        </p:nvSpPr>
        <p:spPr>
          <a:xfrm>
            <a:off x="4663440" y="5358383"/>
            <a:ext cx="2267712" cy="238527"/>
          </a:xfrm>
          <a:prstGeom prst="rect">
            <a:avLst/>
          </a:prstGeom>
          <a:noFill/>
        </p:spPr>
        <p:txBody>
          <a:bodyPr wrap="square">
            <a:spAutoFit/>
          </a:bodyPr>
          <a:lstStyle/>
          <a:p>
            <a:pPr algn="l"/>
            <a:r>
              <a:rPr sz="950" b="1" i="0">
                <a:solidFill>
                  <a:srgbClr val="1E40AF"/>
                </a:solidFill>
                <a:latin typeface="Helvetica"/>
              </a:rPr>
              <a:t>~18.28 µs</a:t>
            </a:r>
          </a:p>
        </p:txBody>
      </p:sp>
      <p:sp>
        <p:nvSpPr>
          <p:cNvPr id="59" name="TextBox 58"/>
          <p:cNvSpPr txBox="1"/>
          <p:nvPr/>
        </p:nvSpPr>
        <p:spPr>
          <a:xfrm>
            <a:off x="7040879" y="5358383"/>
            <a:ext cx="1261872" cy="238527"/>
          </a:xfrm>
          <a:prstGeom prst="rect">
            <a:avLst/>
          </a:prstGeom>
          <a:noFill/>
        </p:spPr>
        <p:txBody>
          <a:bodyPr wrap="square">
            <a:spAutoFit/>
          </a:bodyPr>
          <a:lstStyle/>
          <a:p>
            <a:pPr algn="l"/>
            <a:r>
              <a:rPr sz="950" b="1" i="0">
                <a:solidFill>
                  <a:srgbClr val="1E40AF"/>
                </a:solidFill>
                <a:latin typeface="Helvetica"/>
              </a:rPr>
              <a:t>0.18%</a:t>
            </a:r>
          </a:p>
        </p:txBody>
      </p:sp>
      <p:sp>
        <p:nvSpPr>
          <p:cNvPr id="60" name="TextBox 59"/>
          <p:cNvSpPr txBox="1"/>
          <p:nvPr/>
        </p:nvSpPr>
        <p:spPr>
          <a:xfrm>
            <a:off x="8412480" y="5358383"/>
            <a:ext cx="1170431" cy="238527"/>
          </a:xfrm>
          <a:prstGeom prst="rect">
            <a:avLst/>
          </a:prstGeom>
          <a:noFill/>
        </p:spPr>
        <p:txBody>
          <a:bodyPr wrap="square">
            <a:spAutoFit/>
          </a:bodyPr>
          <a:lstStyle/>
          <a:p>
            <a:pPr algn="l"/>
            <a:r>
              <a:rPr sz="950" b="1" i="0">
                <a:solidFill>
                  <a:srgbClr val="1E40AF"/>
                </a:solidFill>
                <a:latin typeface="Helvetica"/>
              </a:rPr>
              <a:t>0.04%</a:t>
            </a:r>
          </a:p>
        </p:txBody>
      </p:sp>
      <p:sp>
        <p:nvSpPr>
          <p:cNvPr id="61" name="Rectangle 60"/>
          <p:cNvSpPr/>
          <p:nvPr/>
        </p:nvSpPr>
        <p:spPr>
          <a:xfrm>
            <a:off x="457200" y="5614416"/>
            <a:ext cx="9144000" cy="347472"/>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5705855"/>
            <a:ext cx="4005072" cy="238527"/>
          </a:xfrm>
          <a:prstGeom prst="rect">
            <a:avLst/>
          </a:prstGeom>
          <a:noFill/>
        </p:spPr>
        <p:txBody>
          <a:bodyPr wrap="square">
            <a:spAutoFit/>
          </a:bodyPr>
          <a:lstStyle/>
          <a:p>
            <a:pPr algn="l"/>
            <a:r>
              <a:rPr sz="950" b="0" i="0">
                <a:solidFill>
                  <a:srgbClr val="0F172A"/>
                </a:solidFill>
                <a:latin typeface="Helvetica"/>
              </a:rPr>
              <a:t>Python overhead (direct MMIO)</a:t>
            </a:r>
          </a:p>
        </p:txBody>
      </p:sp>
      <p:sp>
        <p:nvSpPr>
          <p:cNvPr id="63" name="TextBox 62"/>
          <p:cNvSpPr txBox="1"/>
          <p:nvPr/>
        </p:nvSpPr>
        <p:spPr>
          <a:xfrm>
            <a:off x="4663440" y="5705855"/>
            <a:ext cx="2267712" cy="238527"/>
          </a:xfrm>
          <a:prstGeom prst="rect">
            <a:avLst/>
          </a:prstGeom>
          <a:noFill/>
        </p:spPr>
        <p:txBody>
          <a:bodyPr wrap="square">
            <a:spAutoFit/>
          </a:bodyPr>
          <a:lstStyle/>
          <a:p>
            <a:pPr algn="l"/>
            <a:r>
              <a:rPr sz="950" b="0" i="0">
                <a:solidFill>
                  <a:srgbClr val="0F172A"/>
                </a:solidFill>
                <a:latin typeface="Helvetica"/>
              </a:rPr>
              <a:t>s_axilite  →  GP0</a:t>
            </a:r>
          </a:p>
        </p:txBody>
      </p:sp>
      <p:sp>
        <p:nvSpPr>
          <p:cNvPr id="64" name="TextBox 63"/>
          <p:cNvSpPr txBox="1"/>
          <p:nvPr/>
        </p:nvSpPr>
        <p:spPr>
          <a:xfrm>
            <a:off x="7040879" y="5705855"/>
            <a:ext cx="1261872" cy="238527"/>
          </a:xfrm>
          <a:prstGeom prst="rect">
            <a:avLst/>
          </a:prstGeom>
          <a:noFill/>
        </p:spPr>
        <p:txBody>
          <a:bodyPr wrap="square">
            <a:spAutoFit/>
          </a:bodyPr>
          <a:lstStyle/>
          <a:p>
            <a:pPr algn="l"/>
            <a:r>
              <a:rPr sz="950" b="1" i="0">
                <a:solidFill>
                  <a:srgbClr val="64748B"/>
                </a:solidFill>
                <a:latin typeface="Helvetica"/>
              </a:rPr>
              <a:t>~0.5 µs</a:t>
            </a:r>
          </a:p>
        </p:txBody>
      </p:sp>
      <p:sp>
        <p:nvSpPr>
          <p:cNvPr id="65" name="TextBox 64"/>
          <p:cNvSpPr txBox="1"/>
          <p:nvPr/>
        </p:nvSpPr>
        <p:spPr>
          <a:xfrm>
            <a:off x="8412480" y="5705855"/>
            <a:ext cx="1170431" cy="238527"/>
          </a:xfrm>
          <a:prstGeom prst="rect">
            <a:avLst/>
          </a:prstGeom>
          <a:noFill/>
        </p:spPr>
        <p:txBody>
          <a:bodyPr wrap="square">
            <a:spAutoFit/>
          </a:bodyPr>
          <a:lstStyle/>
          <a:p>
            <a:pPr algn="l"/>
            <a:r>
              <a:rPr sz="950" b="1" i="0">
                <a:solidFill>
                  <a:srgbClr val="64748B"/>
                </a:solidFill>
                <a:latin typeface="Helvetica"/>
              </a:rPr>
              <a:t>&lt;0.01%</a:t>
            </a:r>
          </a:p>
        </p:txBody>
      </p:sp>
      <p:sp>
        <p:nvSpPr>
          <p:cNvPr id="66" name="Rectangle 65"/>
          <p:cNvSpPr/>
          <p:nvPr/>
        </p:nvSpPr>
        <p:spPr>
          <a:xfrm>
            <a:off x="457200" y="5961888"/>
            <a:ext cx="9144000" cy="347472"/>
          </a:xfrm>
          <a:prstGeom prst="rect">
            <a:avLst/>
          </a:prstGeom>
          <a:solidFill>
            <a:srgbClr val="2D6A4F"/>
          </a:solidFill>
          <a:ln w="635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48640" y="6053327"/>
            <a:ext cx="4005072" cy="256032"/>
          </a:xfrm>
          <a:prstGeom prst="rect">
            <a:avLst/>
          </a:prstGeom>
          <a:noFill/>
        </p:spPr>
        <p:txBody>
          <a:bodyPr wrap="square">
            <a:spAutoFit/>
          </a:bodyPr>
          <a:lstStyle/>
          <a:p>
            <a:pPr algn="l"/>
            <a:r>
              <a:rPr sz="950" b="1" i="0">
                <a:solidFill>
                  <a:srgbClr val="FFFFFF"/>
                </a:solidFill>
                <a:latin typeface="Helvetica"/>
              </a:rPr>
              <a:t>Total round-trip (steady state)</a:t>
            </a:r>
          </a:p>
        </p:txBody>
      </p:sp>
      <p:sp>
        <p:nvSpPr>
          <p:cNvPr id="68" name="TextBox 67"/>
          <p:cNvSpPr txBox="1"/>
          <p:nvPr/>
        </p:nvSpPr>
        <p:spPr>
          <a:xfrm>
            <a:off x="4663440" y="6053327"/>
            <a:ext cx="2267712" cy="238527"/>
          </a:xfrm>
          <a:prstGeom prst="rect">
            <a:avLst/>
          </a:prstGeom>
          <a:noFill/>
        </p:spPr>
        <p:txBody>
          <a:bodyPr wrap="square">
            <a:spAutoFit/>
          </a:bodyPr>
          <a:lstStyle/>
          <a:p>
            <a:pPr algn="l"/>
            <a:r>
              <a:rPr sz="950" b="0" i="0">
                <a:solidFill>
                  <a:srgbClr val="D8F3DC"/>
                </a:solidFill>
                <a:latin typeface="Helvetica"/>
              </a:rPr>
              <a:t>both buses</a:t>
            </a:r>
          </a:p>
        </p:txBody>
      </p:sp>
      <p:sp>
        <p:nvSpPr>
          <p:cNvPr id="69" name="TextBox 68"/>
          <p:cNvSpPr txBox="1"/>
          <p:nvPr/>
        </p:nvSpPr>
        <p:spPr>
          <a:xfrm>
            <a:off x="7040879" y="6053327"/>
            <a:ext cx="1261872" cy="238527"/>
          </a:xfrm>
          <a:prstGeom prst="rect">
            <a:avLst/>
          </a:prstGeom>
          <a:noFill/>
        </p:spPr>
        <p:txBody>
          <a:bodyPr wrap="square">
            <a:spAutoFit/>
          </a:bodyPr>
          <a:lstStyle/>
          <a:p>
            <a:pPr algn="l"/>
            <a:r>
              <a:rPr sz="950" b="1" i="0">
                <a:solidFill>
                  <a:srgbClr val="FFFFFF"/>
                </a:solidFill>
                <a:latin typeface="Helvetica"/>
              </a:rPr>
              <a:t>32.97 µs</a:t>
            </a:r>
          </a:p>
        </p:txBody>
      </p:sp>
      <p:sp>
        <p:nvSpPr>
          <p:cNvPr id="70" name="TextBox 69"/>
          <p:cNvSpPr txBox="1"/>
          <p:nvPr/>
        </p:nvSpPr>
        <p:spPr>
          <a:xfrm>
            <a:off x="8412480" y="6053327"/>
            <a:ext cx="1170431" cy="238527"/>
          </a:xfrm>
          <a:prstGeom prst="rect">
            <a:avLst/>
          </a:prstGeom>
          <a:noFill/>
        </p:spPr>
        <p:txBody>
          <a:bodyPr wrap="square">
            <a:spAutoFit/>
          </a:bodyPr>
          <a:lstStyle/>
          <a:p>
            <a:pPr algn="l"/>
            <a:r>
              <a:rPr sz="950" b="1" i="0">
                <a:solidFill>
                  <a:srgbClr val="FFFFFF"/>
                </a:solidFill>
                <a:latin typeface="Helvetica"/>
              </a:rPr>
              <a:t>0.33%</a:t>
            </a:r>
          </a:p>
        </p:txBody>
      </p:sp>
      <p:sp>
        <p:nvSpPr>
          <p:cNvPr id="71" name="TextBox 70"/>
          <p:cNvSpPr txBox="1"/>
          <p:nvPr/>
        </p:nvSpPr>
        <p:spPr>
          <a:xfrm>
            <a:off x="457200" y="6382512"/>
            <a:ext cx="9144000" cy="223138"/>
          </a:xfrm>
          <a:prstGeom prst="rect">
            <a:avLst/>
          </a:prstGeom>
          <a:noFill/>
        </p:spPr>
        <p:txBody>
          <a:bodyPr wrap="square">
            <a:spAutoFit/>
          </a:bodyPr>
          <a:lstStyle/>
          <a:p>
            <a:pPr algn="l"/>
            <a:r>
              <a:rPr sz="850" b="0" i="1">
                <a:solidFill>
                  <a:srgbClr val="94A3B8"/>
                </a:solidFill>
                <a:latin typeface="Helvetica"/>
              </a:rPr>
              <a:t>~303x headroom (B2 optimized path, direct MMIO)  |  s_axilite carries only control scalars; audio data moves via m_axi HP0 burst DMA</a:t>
            </a:r>
          </a:p>
        </p:txBody>
      </p:sp>
    </p:spTree>
    <p:extLst>
      <p:ext uri="{BB962C8B-B14F-4D97-AF65-F5344CB8AC3E}">
        <p14:creationId xmlns:p14="http://schemas.microsoft.com/office/powerpoint/2010/main" val="3620629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4572000" cy="256032"/>
          </a:xfrm>
          <a:prstGeom prst="rect">
            <a:avLst/>
          </a:prstGeom>
          <a:noFill/>
        </p:spPr>
        <p:txBody>
          <a:bodyPr wrap="square">
            <a:spAutoFit/>
          </a:bodyPr>
          <a:lstStyle/>
          <a:p>
            <a:pPr algn="l"/>
            <a:r>
              <a:rPr sz="850" b="1" i="0">
                <a:solidFill>
                  <a:srgbClr val="92400E"/>
                </a:solidFill>
                <a:latin typeface="Helvetica"/>
              </a:rPr>
              <a:t>THE EFFECTS</a:t>
            </a:r>
          </a:p>
        </p:txBody>
      </p:sp>
      <p:sp>
        <p:nvSpPr>
          <p:cNvPr id="4" name="TextBox 3"/>
          <p:cNvSpPr txBox="1"/>
          <p:nvPr/>
        </p:nvSpPr>
        <p:spPr>
          <a:xfrm>
            <a:off x="457200" y="420624"/>
            <a:ext cx="11247120" cy="749808"/>
          </a:xfrm>
          <a:prstGeom prst="rect">
            <a:avLst/>
          </a:prstGeom>
          <a:noFill/>
        </p:spPr>
        <p:txBody>
          <a:bodyPr wrap="square">
            <a:spAutoFit/>
          </a:bodyPr>
          <a:lstStyle/>
          <a:p>
            <a:pPr algn="l"/>
            <a:r>
              <a:rPr sz="3400" b="1" i="0">
                <a:solidFill>
                  <a:srgbClr val="0F172A"/>
                </a:solidFill>
                <a:latin typeface="Helvetica"/>
              </a:rPr>
              <a:t>Three Effects, One Chain</a:t>
            </a:r>
          </a:p>
        </p:txBody>
      </p:sp>
      <p:sp>
        <p:nvSpPr>
          <p:cNvPr id="5" name="Rectangle 4"/>
          <p:cNvSpPr/>
          <p:nvPr/>
        </p:nvSpPr>
        <p:spPr>
          <a:xfrm>
            <a:off x="457200" y="1517904"/>
            <a:ext cx="11247120" cy="201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365760" y="1719072"/>
            <a:ext cx="11338560" cy="2470836"/>
          </a:xfrm>
          <a:prstGeom prst="rect">
            <a:avLst/>
          </a:prstGeom>
        </p:spPr>
      </p:pic>
      <p:sp>
        <p:nvSpPr>
          <p:cNvPr id="7" name="Rectangle 6"/>
          <p:cNvSpPr/>
          <p:nvPr/>
        </p:nvSpPr>
        <p:spPr>
          <a:xfrm>
            <a:off x="365760" y="4206240"/>
            <a:ext cx="3749039" cy="1600200"/>
          </a:xfrm>
          <a:prstGeom prst="rect">
            <a:avLst/>
          </a:prstGeom>
          <a:solidFill>
            <a:srgbClr val="FFF7ED"/>
          </a:solidFill>
          <a:ln w="1905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4206240"/>
            <a:ext cx="3749039" cy="347472"/>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3776" y="4233672"/>
            <a:ext cx="3520440" cy="292608"/>
          </a:xfrm>
          <a:prstGeom prst="rect">
            <a:avLst/>
          </a:prstGeom>
          <a:noFill/>
        </p:spPr>
        <p:txBody>
          <a:bodyPr wrap="square">
            <a:spAutoFit/>
          </a:bodyPr>
          <a:lstStyle/>
          <a:p>
            <a:pPr algn="l"/>
            <a:r>
              <a:rPr sz="1300" b="1" i="0">
                <a:solidFill>
                  <a:srgbClr val="FFFFFF"/>
                </a:solidFill>
                <a:latin typeface="Helvetica"/>
              </a:rPr>
              <a:t>Distortion</a:t>
            </a:r>
          </a:p>
        </p:txBody>
      </p:sp>
      <p:sp>
        <p:nvSpPr>
          <p:cNvPr id="10" name="TextBox 9"/>
          <p:cNvSpPr txBox="1"/>
          <p:nvPr/>
        </p:nvSpPr>
        <p:spPr>
          <a:xfrm>
            <a:off x="493776" y="4645152"/>
            <a:ext cx="3520440" cy="1078992"/>
          </a:xfrm>
          <a:prstGeom prst="rect">
            <a:avLst/>
          </a:prstGeom>
          <a:noFill/>
        </p:spPr>
        <p:txBody>
          <a:bodyPr wrap="square">
            <a:spAutoFit/>
          </a:bodyPr>
          <a:lstStyle/>
          <a:p>
            <a:pPr algn="l"/>
            <a:r>
              <a:rPr sz="1050" b="0" i="0">
                <a:solidFill>
                  <a:srgbClr val="1E293B"/>
                </a:solidFill>
                <a:latin typeface="Helvetica"/>
              </a:rPr>
              <a:t>Hard clip -- amplify until the signal saturates.
Gain=3 clips anything above 1/3 of max.</a:t>
            </a:r>
          </a:p>
        </p:txBody>
      </p:sp>
      <p:sp>
        <p:nvSpPr>
          <p:cNvPr id="11" name="Rectangle 10"/>
          <p:cNvSpPr/>
          <p:nvPr/>
        </p:nvSpPr>
        <p:spPr>
          <a:xfrm>
            <a:off x="4160520" y="4206240"/>
            <a:ext cx="3749039" cy="1600200"/>
          </a:xfrm>
          <a:prstGeom prst="rect">
            <a:avLst/>
          </a:prstGeom>
          <a:solidFill>
            <a:srgbClr val="F5F3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60520" y="4206240"/>
            <a:ext cx="3749039" cy="3474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88536" y="4233672"/>
            <a:ext cx="3520440" cy="292608"/>
          </a:xfrm>
          <a:prstGeom prst="rect">
            <a:avLst/>
          </a:prstGeom>
          <a:noFill/>
        </p:spPr>
        <p:txBody>
          <a:bodyPr wrap="square">
            <a:spAutoFit/>
          </a:bodyPr>
          <a:lstStyle/>
          <a:p>
            <a:pPr algn="l"/>
            <a:r>
              <a:rPr sz="1300" b="1" i="0">
                <a:solidFill>
                  <a:srgbClr val="FFFFFF"/>
                </a:solidFill>
                <a:latin typeface="Helvetica"/>
              </a:rPr>
              <a:t>Tremolo</a:t>
            </a:r>
          </a:p>
        </p:txBody>
      </p:sp>
      <p:sp>
        <p:nvSpPr>
          <p:cNvPr id="14" name="TextBox 13"/>
          <p:cNvSpPr txBox="1"/>
          <p:nvPr/>
        </p:nvSpPr>
        <p:spPr>
          <a:xfrm>
            <a:off x="4288536" y="4645152"/>
            <a:ext cx="3520440" cy="1078992"/>
          </a:xfrm>
          <a:prstGeom prst="rect">
            <a:avLst/>
          </a:prstGeom>
          <a:noFill/>
        </p:spPr>
        <p:txBody>
          <a:bodyPr wrap="square">
            <a:spAutoFit/>
          </a:bodyPr>
          <a:lstStyle/>
          <a:p>
            <a:pPr algn="l"/>
            <a:r>
              <a:rPr sz="1050" b="0" i="0">
                <a:solidFill>
                  <a:srgbClr val="1E293B"/>
                </a:solidFill>
                <a:latin typeface="Helvetica"/>
              </a:rPr>
              <a:t>LFO modulates volume rhythmically. Uses a 64-entry
pre-computed sine table -- no runtime sin().</a:t>
            </a:r>
          </a:p>
        </p:txBody>
      </p:sp>
      <p:sp>
        <p:nvSpPr>
          <p:cNvPr id="15" name="Rectangle 14"/>
          <p:cNvSpPr/>
          <p:nvPr/>
        </p:nvSpPr>
        <p:spPr>
          <a:xfrm>
            <a:off x="7955279" y="4206240"/>
            <a:ext cx="3749039" cy="1600200"/>
          </a:xfrm>
          <a:prstGeom prst="rect">
            <a:avLst/>
          </a:prstGeom>
          <a:solidFill>
            <a:srgbClr val="EFF6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55279" y="4206240"/>
            <a:ext cx="3749039" cy="34747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83296" y="4233672"/>
            <a:ext cx="3520440" cy="292608"/>
          </a:xfrm>
          <a:prstGeom prst="rect">
            <a:avLst/>
          </a:prstGeom>
          <a:noFill/>
        </p:spPr>
        <p:txBody>
          <a:bodyPr wrap="square">
            <a:spAutoFit/>
          </a:bodyPr>
          <a:lstStyle/>
          <a:p>
            <a:pPr algn="l"/>
            <a:r>
              <a:rPr sz="1300" b="1" i="0">
                <a:solidFill>
                  <a:srgbClr val="FFFFFF"/>
                </a:solidFill>
                <a:latin typeface="Helvetica"/>
              </a:rPr>
              <a:t>Delay</a:t>
            </a:r>
          </a:p>
        </p:txBody>
      </p:sp>
      <p:sp>
        <p:nvSpPr>
          <p:cNvPr id="18" name="TextBox 17"/>
          <p:cNvSpPr txBox="1"/>
          <p:nvPr/>
        </p:nvSpPr>
        <p:spPr>
          <a:xfrm>
            <a:off x="8083296" y="4645152"/>
            <a:ext cx="3520440" cy="1078992"/>
          </a:xfrm>
          <a:prstGeom prst="rect">
            <a:avLst/>
          </a:prstGeom>
          <a:noFill/>
        </p:spPr>
        <p:txBody>
          <a:bodyPr wrap="square">
            <a:spAutoFit/>
          </a:bodyPr>
          <a:lstStyle/>
          <a:p>
            <a:pPr algn="l"/>
            <a:r>
              <a:rPr sz="1050" b="0" i="0">
                <a:solidFill>
                  <a:srgbClr val="1E293B"/>
                </a:solidFill>
                <a:latin typeface="Helvetica"/>
              </a:rPr>
              <a:t>Circular buffer in BRAM stores up to 250 ms of audio.
Mixes old audio back in. Feedback = fading echo.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TextBox 2"/>
          <p:cNvSpPr txBox="1"/>
          <p:nvPr/>
        </p:nvSpPr>
        <p:spPr>
          <a:xfrm>
            <a:off x="457200" y="91440"/>
            <a:ext cx="4572000" cy="223138"/>
          </a:xfrm>
          <a:prstGeom prst="rect">
            <a:avLst/>
          </a:prstGeom>
          <a:noFill/>
        </p:spPr>
        <p:txBody>
          <a:bodyPr wrap="square">
            <a:spAutoFit/>
          </a:bodyPr>
          <a:lstStyle/>
          <a:p>
            <a:pPr algn="l"/>
            <a:r>
              <a:rPr sz="850" b="1" i="0">
                <a:latin typeface="Helvetica"/>
              </a:rPr>
              <a:t>HOW IT WORKS</a:t>
            </a:r>
          </a:p>
        </p:txBody>
      </p:sp>
      <p:sp>
        <p:nvSpPr>
          <p:cNvPr id="4" name="TextBox 3"/>
          <p:cNvSpPr txBox="1"/>
          <p:nvPr/>
        </p:nvSpPr>
        <p:spPr>
          <a:xfrm>
            <a:off x="457200" y="420624"/>
            <a:ext cx="11247120" cy="615553"/>
          </a:xfrm>
          <a:prstGeom prst="rect">
            <a:avLst/>
          </a:prstGeom>
          <a:noFill/>
        </p:spPr>
        <p:txBody>
          <a:bodyPr wrap="square">
            <a:spAutoFit/>
          </a:bodyPr>
          <a:lstStyle/>
          <a:p>
            <a:pPr algn="l"/>
            <a:r>
              <a:rPr sz="3400" b="1" i="0">
                <a:latin typeface="Helvetica"/>
              </a:rPr>
              <a:t>Writing Hardware Like Software</a:t>
            </a:r>
          </a:p>
        </p:txBody>
      </p:sp>
      <p:sp>
        <p:nvSpPr>
          <p:cNvPr id="27" name="TextBox 26"/>
          <p:cNvSpPr txBox="1"/>
          <p:nvPr/>
        </p:nvSpPr>
        <p:spPr>
          <a:xfrm>
            <a:off x="685673" y="1875042"/>
            <a:ext cx="2743200" cy="253916"/>
          </a:xfrm>
          <a:prstGeom prst="rect">
            <a:avLst/>
          </a:prstGeom>
          <a:noFill/>
        </p:spPr>
        <p:txBody>
          <a:bodyPr wrap="square">
            <a:spAutoFit/>
          </a:bodyPr>
          <a:lstStyle/>
          <a:p>
            <a:pPr algn="l"/>
            <a:r>
              <a:rPr sz="1050" b="1" i="0">
                <a:latin typeface="Helvetica"/>
              </a:rPr>
              <a:t>PSEUDOCODE</a:t>
            </a:r>
          </a:p>
        </p:txBody>
      </p:sp>
      <p:sp>
        <p:nvSpPr>
          <p:cNvPr id="28" name="TextBox 27"/>
          <p:cNvSpPr txBox="1"/>
          <p:nvPr/>
        </p:nvSpPr>
        <p:spPr>
          <a:xfrm>
            <a:off x="667385" y="2149362"/>
            <a:ext cx="10881360" cy="246221"/>
          </a:xfrm>
          <a:prstGeom prst="rect">
            <a:avLst/>
          </a:prstGeom>
          <a:noFill/>
        </p:spPr>
        <p:txBody>
          <a:bodyPr wrap="square">
            <a:spAutoFit/>
          </a:bodyPr>
          <a:lstStyle/>
          <a:p>
            <a:pPr algn="l"/>
            <a:r>
              <a:rPr sz="1000" b="0" i="0" dirty="0" err="1">
                <a:latin typeface="Helvetica"/>
              </a:rPr>
              <a:t>chain_top</a:t>
            </a:r>
            <a:r>
              <a:rPr sz="1000" b="0" i="0" dirty="0">
                <a:latin typeface="Helvetica"/>
              </a:rPr>
              <a:t>(</a:t>
            </a:r>
            <a:r>
              <a:rPr sz="1000" b="0" i="0" dirty="0" err="1">
                <a:latin typeface="Helvetica"/>
              </a:rPr>
              <a:t>audio_in</a:t>
            </a:r>
            <a:r>
              <a:rPr sz="1000" b="0" i="0" dirty="0">
                <a:latin typeface="Helvetica"/>
              </a:rPr>
              <a:t>[480], </a:t>
            </a:r>
            <a:r>
              <a:rPr sz="1000" b="0" i="0" dirty="0" err="1">
                <a:latin typeface="Helvetica"/>
              </a:rPr>
              <a:t>audio_out</a:t>
            </a:r>
            <a:r>
              <a:rPr sz="1000" b="0" i="0" dirty="0">
                <a:latin typeface="Helvetica"/>
              </a:rPr>
              <a:t>[480], gain, rate, depth, </a:t>
            </a:r>
            <a:r>
              <a:rPr sz="1000" b="0" i="0" dirty="0" err="1">
                <a:latin typeface="Helvetica"/>
              </a:rPr>
              <a:t>delay_n</a:t>
            </a:r>
            <a:r>
              <a:rPr sz="1000" b="0" i="0" dirty="0">
                <a:latin typeface="Helvetica"/>
              </a:rPr>
              <a:t>, feedback, mix):</a:t>
            </a:r>
          </a:p>
        </p:txBody>
      </p:sp>
      <p:sp>
        <p:nvSpPr>
          <p:cNvPr id="29" name="TextBox 28"/>
          <p:cNvSpPr txBox="1"/>
          <p:nvPr/>
        </p:nvSpPr>
        <p:spPr>
          <a:xfrm>
            <a:off x="667385" y="2330413"/>
            <a:ext cx="10881360" cy="369332"/>
          </a:xfrm>
          <a:prstGeom prst="rect">
            <a:avLst/>
          </a:prstGeom>
          <a:noFill/>
        </p:spPr>
        <p:txBody>
          <a:bodyPr wrap="square">
            <a:spAutoFit/>
          </a:bodyPr>
          <a:lstStyle/>
          <a:p>
            <a:pPr algn="l"/>
            <a:endParaRPr/>
          </a:p>
        </p:txBody>
      </p:sp>
      <p:sp>
        <p:nvSpPr>
          <p:cNvPr id="30" name="TextBox 29"/>
          <p:cNvSpPr txBox="1"/>
          <p:nvPr/>
        </p:nvSpPr>
        <p:spPr>
          <a:xfrm>
            <a:off x="667385" y="2511464"/>
            <a:ext cx="10881360" cy="246221"/>
          </a:xfrm>
          <a:prstGeom prst="rect">
            <a:avLst/>
          </a:prstGeom>
          <a:noFill/>
        </p:spPr>
        <p:txBody>
          <a:bodyPr wrap="square">
            <a:spAutoFit/>
          </a:bodyPr>
          <a:lstStyle/>
          <a:p>
            <a:pPr algn="l"/>
            <a:r>
              <a:rPr sz="1000" b="0" i="0" dirty="0">
                <a:latin typeface="Helvetica"/>
              </a:rPr>
              <a:t>    for each of 480 samples:    ← starts a new sample every clock cycle (II=1)</a:t>
            </a:r>
          </a:p>
        </p:txBody>
      </p:sp>
      <p:sp>
        <p:nvSpPr>
          <p:cNvPr id="31" name="TextBox 30"/>
          <p:cNvSpPr txBox="1"/>
          <p:nvPr/>
        </p:nvSpPr>
        <p:spPr>
          <a:xfrm>
            <a:off x="667385" y="2692515"/>
            <a:ext cx="10881360" cy="246221"/>
          </a:xfrm>
          <a:prstGeom prst="rect">
            <a:avLst/>
          </a:prstGeom>
          <a:noFill/>
        </p:spPr>
        <p:txBody>
          <a:bodyPr wrap="square">
            <a:spAutoFit/>
          </a:bodyPr>
          <a:lstStyle/>
          <a:p>
            <a:pPr algn="l"/>
            <a:r>
              <a:rPr sz="1000" b="0" i="0" dirty="0">
                <a:latin typeface="Helvetica"/>
              </a:rPr>
              <a:t>        sample = clip(sample * gain,  MAX)             // distortion</a:t>
            </a:r>
          </a:p>
        </p:txBody>
      </p:sp>
      <p:sp>
        <p:nvSpPr>
          <p:cNvPr id="32" name="TextBox 31"/>
          <p:cNvSpPr txBox="1"/>
          <p:nvPr/>
        </p:nvSpPr>
        <p:spPr>
          <a:xfrm>
            <a:off x="640080" y="4729276"/>
            <a:ext cx="10881360" cy="369332"/>
          </a:xfrm>
          <a:prstGeom prst="rect">
            <a:avLst/>
          </a:prstGeom>
          <a:noFill/>
        </p:spPr>
        <p:txBody>
          <a:bodyPr wrap="square">
            <a:spAutoFit/>
          </a:bodyPr>
          <a:lstStyle/>
          <a:p>
            <a:pPr algn="l"/>
            <a:endParaRPr/>
          </a:p>
        </p:txBody>
      </p:sp>
      <p:sp>
        <p:nvSpPr>
          <p:cNvPr id="33" name="TextBox 32"/>
          <p:cNvSpPr txBox="1"/>
          <p:nvPr/>
        </p:nvSpPr>
        <p:spPr>
          <a:xfrm>
            <a:off x="667385" y="3054618"/>
            <a:ext cx="10881360" cy="246221"/>
          </a:xfrm>
          <a:prstGeom prst="rect">
            <a:avLst/>
          </a:prstGeom>
          <a:noFill/>
        </p:spPr>
        <p:txBody>
          <a:bodyPr wrap="square">
            <a:spAutoFit/>
          </a:bodyPr>
          <a:lstStyle/>
          <a:p>
            <a:pPr algn="l"/>
            <a:r>
              <a:rPr sz="1000" b="0" i="0" dirty="0">
                <a:latin typeface="Helvetica"/>
              </a:rPr>
              <a:t>    for each of 480 samples:    ← II=1</a:t>
            </a:r>
          </a:p>
        </p:txBody>
      </p:sp>
      <p:sp>
        <p:nvSpPr>
          <p:cNvPr id="34" name="TextBox 33"/>
          <p:cNvSpPr txBox="1"/>
          <p:nvPr/>
        </p:nvSpPr>
        <p:spPr>
          <a:xfrm>
            <a:off x="667385" y="3235669"/>
            <a:ext cx="10881360" cy="246221"/>
          </a:xfrm>
          <a:prstGeom prst="rect">
            <a:avLst/>
          </a:prstGeom>
          <a:noFill/>
        </p:spPr>
        <p:txBody>
          <a:bodyPr wrap="square">
            <a:spAutoFit/>
          </a:bodyPr>
          <a:lstStyle/>
          <a:p>
            <a:pPr algn="l"/>
            <a:r>
              <a:rPr sz="1000" b="0" i="0">
                <a:latin typeface="Helvetica"/>
              </a:rPr>
              <a:t>        sample = sample * lfo_volume(phase)            // tremolo</a:t>
            </a:r>
          </a:p>
        </p:txBody>
      </p:sp>
      <p:sp>
        <p:nvSpPr>
          <p:cNvPr id="35" name="TextBox 34"/>
          <p:cNvSpPr txBox="1"/>
          <p:nvPr/>
        </p:nvSpPr>
        <p:spPr>
          <a:xfrm>
            <a:off x="667385" y="3416720"/>
            <a:ext cx="10881360" cy="246221"/>
          </a:xfrm>
          <a:prstGeom prst="rect">
            <a:avLst/>
          </a:prstGeom>
          <a:noFill/>
        </p:spPr>
        <p:txBody>
          <a:bodyPr wrap="square">
            <a:spAutoFit/>
          </a:bodyPr>
          <a:lstStyle/>
          <a:p>
            <a:pPr algn="l"/>
            <a:r>
              <a:rPr sz="1000" b="0" i="1">
                <a:latin typeface="Helvetica"/>
              </a:rPr>
              <a:t>        phase += rate_step                             // advance LFO</a:t>
            </a:r>
          </a:p>
        </p:txBody>
      </p:sp>
      <p:sp>
        <p:nvSpPr>
          <p:cNvPr id="36" name="TextBox 35"/>
          <p:cNvSpPr txBox="1"/>
          <p:nvPr/>
        </p:nvSpPr>
        <p:spPr>
          <a:xfrm>
            <a:off x="640080" y="5453481"/>
            <a:ext cx="10881360" cy="461665"/>
          </a:xfrm>
          <a:prstGeom prst="rect">
            <a:avLst/>
          </a:prstGeom>
          <a:noFill/>
        </p:spPr>
        <p:txBody>
          <a:bodyPr wrap="square">
            <a:spAutoFit/>
          </a:bodyPr>
          <a:lstStyle/>
          <a:p>
            <a:pPr algn="l"/>
            <a:endParaRPr sz="2400"/>
          </a:p>
        </p:txBody>
      </p:sp>
      <p:sp>
        <p:nvSpPr>
          <p:cNvPr id="37" name="TextBox 36"/>
          <p:cNvSpPr txBox="1"/>
          <p:nvPr/>
        </p:nvSpPr>
        <p:spPr>
          <a:xfrm>
            <a:off x="667385" y="3778822"/>
            <a:ext cx="10881360" cy="223138"/>
          </a:xfrm>
          <a:prstGeom prst="rect">
            <a:avLst/>
          </a:prstGeom>
          <a:noFill/>
        </p:spPr>
        <p:txBody>
          <a:bodyPr wrap="square">
            <a:spAutoFit/>
          </a:bodyPr>
          <a:lstStyle/>
          <a:p>
            <a:pPr algn="l"/>
            <a:r>
              <a:rPr sz="850" b="0" i="0">
                <a:latin typeface="Helvetica"/>
              </a:rPr>
              <a:t>    for each of 480 samples:    ← II=1</a:t>
            </a:r>
          </a:p>
        </p:txBody>
      </p:sp>
      <p:sp>
        <p:nvSpPr>
          <p:cNvPr id="38" name="TextBox 37"/>
          <p:cNvSpPr txBox="1"/>
          <p:nvPr/>
        </p:nvSpPr>
        <p:spPr>
          <a:xfrm>
            <a:off x="667385" y="3959873"/>
            <a:ext cx="10881360" cy="246221"/>
          </a:xfrm>
          <a:prstGeom prst="rect">
            <a:avLst/>
          </a:prstGeom>
          <a:noFill/>
        </p:spPr>
        <p:txBody>
          <a:bodyPr wrap="square">
            <a:spAutoFit/>
          </a:bodyPr>
          <a:lstStyle/>
          <a:p>
            <a:pPr algn="l"/>
            <a:r>
              <a:rPr sz="1000" b="0" i="0" dirty="0">
                <a:latin typeface="Helvetica"/>
              </a:rPr>
              <a:t>        sample = dry(sample, mix) + wet(buffer[</a:t>
            </a:r>
            <a:r>
              <a:rPr sz="1000" b="0" i="0" dirty="0" err="1">
                <a:latin typeface="Helvetica"/>
              </a:rPr>
              <a:t>rp</a:t>
            </a:r>
            <a:r>
              <a:rPr sz="1000" b="0" i="0" dirty="0">
                <a:latin typeface="Helvetica"/>
              </a:rPr>
              <a:t>], mix)  // delay</a:t>
            </a:r>
          </a:p>
        </p:txBody>
      </p:sp>
      <p:sp>
        <p:nvSpPr>
          <p:cNvPr id="39" name="TextBox 38"/>
          <p:cNvSpPr txBox="1"/>
          <p:nvPr/>
        </p:nvSpPr>
        <p:spPr>
          <a:xfrm>
            <a:off x="667385" y="4140925"/>
            <a:ext cx="10881360" cy="246221"/>
          </a:xfrm>
          <a:prstGeom prst="rect">
            <a:avLst/>
          </a:prstGeom>
          <a:noFill/>
        </p:spPr>
        <p:txBody>
          <a:bodyPr wrap="square">
            <a:spAutoFit/>
          </a:bodyPr>
          <a:lstStyle/>
          <a:p>
            <a:pPr algn="l"/>
            <a:r>
              <a:rPr sz="1000" b="0" i="1">
                <a:latin typeface="Helvetica"/>
              </a:rPr>
              <a:t>        buffer[wp] = sample + buffer[rp] * feedback    // echo fade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4572000" cy="256032"/>
          </a:xfrm>
          <a:prstGeom prst="rect">
            <a:avLst/>
          </a:prstGeom>
          <a:noFill/>
        </p:spPr>
        <p:txBody>
          <a:bodyPr wrap="square">
            <a:spAutoFit/>
          </a:bodyPr>
          <a:lstStyle/>
          <a:p>
            <a:pPr algn="l"/>
            <a:r>
              <a:rPr sz="850" b="1" i="0">
                <a:solidFill>
                  <a:srgbClr val="2D6A4F"/>
                </a:solidFill>
                <a:latin typeface="Helvetica"/>
              </a:rPr>
              <a:t>BUILD COMPARISON</a:t>
            </a:r>
          </a:p>
        </p:txBody>
      </p:sp>
      <p:sp>
        <p:nvSpPr>
          <p:cNvPr id="4" name="TextBox 3"/>
          <p:cNvSpPr txBox="1"/>
          <p:nvPr/>
        </p:nvSpPr>
        <p:spPr>
          <a:xfrm>
            <a:off x="457200" y="420624"/>
            <a:ext cx="11247120" cy="749808"/>
          </a:xfrm>
          <a:prstGeom prst="rect">
            <a:avLst/>
          </a:prstGeom>
          <a:noFill/>
        </p:spPr>
        <p:txBody>
          <a:bodyPr wrap="square">
            <a:spAutoFit/>
          </a:bodyPr>
          <a:lstStyle/>
          <a:p>
            <a:pPr algn="l"/>
            <a:r>
              <a:rPr sz="3400" b="1" i="0">
                <a:solidFill>
                  <a:srgbClr val="0F172A"/>
                </a:solidFill>
                <a:latin typeface="Helvetica"/>
              </a:rPr>
              <a:t>Build 1 vs Build 2 — Synthesis Results</a:t>
            </a:r>
          </a:p>
        </p:txBody>
      </p:sp>
      <p:sp>
        <p:nvSpPr>
          <p:cNvPr id="5" name="TextBox 4"/>
          <p:cNvSpPr txBox="1"/>
          <p:nvPr/>
        </p:nvSpPr>
        <p:spPr>
          <a:xfrm>
            <a:off x="457200" y="1115568"/>
            <a:ext cx="11247120" cy="347472"/>
          </a:xfrm>
          <a:prstGeom prst="rect">
            <a:avLst/>
          </a:prstGeom>
          <a:noFill/>
        </p:spPr>
        <p:txBody>
          <a:bodyPr wrap="square">
            <a:spAutoFit/>
          </a:bodyPr>
          <a:lstStyle/>
          <a:p>
            <a:pPr algn="l"/>
            <a:r>
              <a:rPr sz="1300" b="0" i="0">
                <a:solidFill>
                  <a:srgbClr val="64748B"/>
                </a:solidFill>
                <a:latin typeface="Helvetica"/>
              </a:rPr>
              <a:t>Same algorithm, different HLS scheduling — data from Vitis HLS 2024.1 on xczu3eg</a:t>
            </a:r>
          </a:p>
        </p:txBody>
      </p:sp>
      <p:sp>
        <p:nvSpPr>
          <p:cNvPr id="6" name="Rectangle 5"/>
          <p:cNvSpPr/>
          <p:nvPr/>
        </p:nvSpPr>
        <p:spPr>
          <a:xfrm>
            <a:off x="457200" y="1517904"/>
            <a:ext cx="11247120" cy="201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1664208"/>
            <a:ext cx="5541264" cy="420624"/>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1755648"/>
            <a:ext cx="5340096" cy="256032"/>
          </a:xfrm>
          <a:prstGeom prst="rect">
            <a:avLst/>
          </a:prstGeom>
          <a:noFill/>
        </p:spPr>
        <p:txBody>
          <a:bodyPr wrap="square">
            <a:spAutoFit/>
          </a:bodyPr>
          <a:lstStyle/>
          <a:p>
            <a:pPr algn="l"/>
            <a:r>
              <a:rPr sz="1300" b="1" i="0">
                <a:solidFill>
                  <a:srgbClr val="FFFFFF"/>
                </a:solidFill>
                <a:latin typeface="Helvetica"/>
              </a:rPr>
              <a:t>BUILD 1  —  Sequential loops  (no DATAFLOW)</a:t>
            </a:r>
          </a:p>
        </p:txBody>
      </p:sp>
      <p:sp>
        <p:nvSpPr>
          <p:cNvPr id="9" name="Rectangle 8"/>
          <p:cNvSpPr/>
          <p:nvPr/>
        </p:nvSpPr>
        <p:spPr>
          <a:xfrm>
            <a:off x="6272784" y="1664208"/>
            <a:ext cx="5541264" cy="420624"/>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19088" y="1755648"/>
            <a:ext cx="5340096" cy="256032"/>
          </a:xfrm>
          <a:prstGeom prst="rect">
            <a:avLst/>
          </a:prstGeom>
          <a:noFill/>
        </p:spPr>
        <p:txBody>
          <a:bodyPr wrap="square">
            <a:spAutoFit/>
          </a:bodyPr>
          <a:lstStyle/>
          <a:p>
            <a:pPr algn="l"/>
            <a:r>
              <a:rPr sz="1300" b="1" i="0">
                <a:solidFill>
                  <a:srgbClr val="FFFFFF"/>
                </a:solidFill>
                <a:latin typeface="Helvetica"/>
              </a:rPr>
              <a:t>BUILD 2  —  DATAFLOW  (concurrent stages)</a:t>
            </a:r>
          </a:p>
        </p:txBody>
      </p:sp>
      <p:sp>
        <p:nvSpPr>
          <p:cNvPr id="11" name="Rectangle 10"/>
          <p:cNvSpPr/>
          <p:nvPr/>
        </p:nvSpPr>
        <p:spPr>
          <a:xfrm>
            <a:off x="384048" y="2084832"/>
            <a:ext cx="5541264" cy="6675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2064" y="2139696"/>
            <a:ext cx="1737360" cy="219456"/>
          </a:xfrm>
          <a:prstGeom prst="rect">
            <a:avLst/>
          </a:prstGeom>
          <a:noFill/>
        </p:spPr>
        <p:txBody>
          <a:bodyPr wrap="square">
            <a:spAutoFit/>
          </a:bodyPr>
          <a:lstStyle/>
          <a:p>
            <a:pPr algn="l"/>
            <a:r>
              <a:rPr sz="900" b="0" i="0">
                <a:solidFill>
                  <a:srgbClr val="64748B"/>
                </a:solidFill>
                <a:latin typeface="Helvetica"/>
              </a:rPr>
              <a:t>Latency</a:t>
            </a:r>
          </a:p>
        </p:txBody>
      </p:sp>
      <p:sp>
        <p:nvSpPr>
          <p:cNvPr id="13" name="TextBox 12"/>
          <p:cNvSpPr txBox="1"/>
          <p:nvPr/>
        </p:nvSpPr>
        <p:spPr>
          <a:xfrm>
            <a:off x="512064" y="2395728"/>
            <a:ext cx="2881457" cy="310896"/>
          </a:xfrm>
          <a:prstGeom prst="rect">
            <a:avLst/>
          </a:prstGeom>
          <a:noFill/>
        </p:spPr>
        <p:txBody>
          <a:bodyPr wrap="square">
            <a:spAutoFit/>
          </a:bodyPr>
          <a:lstStyle/>
          <a:p>
            <a:pPr algn="l"/>
            <a:r>
              <a:rPr sz="1250" b="1" i="0">
                <a:solidFill>
                  <a:srgbClr val="0F172A"/>
                </a:solidFill>
                <a:latin typeface="Helvetica"/>
              </a:rPr>
              <a:t>1,469 cycles</a:t>
            </a:r>
          </a:p>
        </p:txBody>
      </p:sp>
      <p:sp>
        <p:nvSpPr>
          <p:cNvPr id="14" name="TextBox 13"/>
          <p:cNvSpPr txBox="1"/>
          <p:nvPr/>
        </p:nvSpPr>
        <p:spPr>
          <a:xfrm>
            <a:off x="3338657" y="2340864"/>
            <a:ext cx="2439253" cy="347472"/>
          </a:xfrm>
          <a:prstGeom prst="rect">
            <a:avLst/>
          </a:prstGeom>
          <a:noFill/>
        </p:spPr>
        <p:txBody>
          <a:bodyPr wrap="square">
            <a:spAutoFit/>
          </a:bodyPr>
          <a:lstStyle/>
          <a:p>
            <a:pPr algn="r"/>
            <a:r>
              <a:rPr sz="950" b="0" i="1">
                <a:solidFill>
                  <a:srgbClr val="94A3B8"/>
                </a:solidFill>
                <a:latin typeface="Helvetica"/>
              </a:rPr>
              <a:t>per chunk</a:t>
            </a:r>
          </a:p>
        </p:txBody>
      </p:sp>
      <p:sp>
        <p:nvSpPr>
          <p:cNvPr id="15" name="Rectangle 14"/>
          <p:cNvSpPr/>
          <p:nvPr/>
        </p:nvSpPr>
        <p:spPr>
          <a:xfrm>
            <a:off x="6272784" y="2084832"/>
            <a:ext cx="5541264" cy="667512"/>
          </a:xfrm>
          <a:prstGeom prst="rect">
            <a:avLst/>
          </a:prstGeom>
          <a:solidFill>
            <a:srgbClr val="D8F3D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2139696"/>
            <a:ext cx="1737360" cy="219456"/>
          </a:xfrm>
          <a:prstGeom prst="rect">
            <a:avLst/>
          </a:prstGeom>
          <a:noFill/>
        </p:spPr>
        <p:txBody>
          <a:bodyPr wrap="square">
            <a:spAutoFit/>
          </a:bodyPr>
          <a:lstStyle/>
          <a:p>
            <a:pPr algn="l"/>
            <a:r>
              <a:rPr sz="900" b="0" i="0">
                <a:solidFill>
                  <a:srgbClr val="64748B"/>
                </a:solidFill>
                <a:latin typeface="Helvetica"/>
              </a:rPr>
              <a:t>Latency</a:t>
            </a:r>
          </a:p>
        </p:txBody>
      </p:sp>
      <p:sp>
        <p:nvSpPr>
          <p:cNvPr id="17" name="TextBox 16"/>
          <p:cNvSpPr txBox="1"/>
          <p:nvPr/>
        </p:nvSpPr>
        <p:spPr>
          <a:xfrm>
            <a:off x="6400800" y="2395728"/>
            <a:ext cx="2881457" cy="310896"/>
          </a:xfrm>
          <a:prstGeom prst="rect">
            <a:avLst/>
          </a:prstGeom>
          <a:noFill/>
        </p:spPr>
        <p:txBody>
          <a:bodyPr wrap="square">
            <a:spAutoFit/>
          </a:bodyPr>
          <a:lstStyle/>
          <a:p>
            <a:pPr algn="l"/>
            <a:r>
              <a:rPr sz="1250" b="1" i="0">
                <a:solidFill>
                  <a:srgbClr val="0F172A"/>
                </a:solidFill>
                <a:latin typeface="Helvetica"/>
              </a:rPr>
              <a:t>1,469 cycles</a:t>
            </a:r>
          </a:p>
        </p:txBody>
      </p:sp>
      <p:sp>
        <p:nvSpPr>
          <p:cNvPr id="18" name="TextBox 17"/>
          <p:cNvSpPr txBox="1"/>
          <p:nvPr/>
        </p:nvSpPr>
        <p:spPr>
          <a:xfrm>
            <a:off x="9227393" y="2340864"/>
            <a:ext cx="2439253" cy="347472"/>
          </a:xfrm>
          <a:prstGeom prst="rect">
            <a:avLst/>
          </a:prstGeom>
          <a:noFill/>
        </p:spPr>
        <p:txBody>
          <a:bodyPr wrap="square">
            <a:spAutoFit/>
          </a:bodyPr>
          <a:lstStyle/>
          <a:p>
            <a:pPr algn="r"/>
            <a:r>
              <a:rPr sz="950" b="0" i="1">
                <a:solidFill>
                  <a:srgbClr val="94A3B8"/>
                </a:solidFill>
                <a:latin typeface="Helvetica"/>
              </a:rPr>
              <a:t>unchanged  (see slide 1)</a:t>
            </a:r>
          </a:p>
        </p:txBody>
      </p:sp>
      <p:sp>
        <p:nvSpPr>
          <p:cNvPr id="19" name="Rectangle 18"/>
          <p:cNvSpPr/>
          <p:nvPr/>
        </p:nvSpPr>
        <p:spPr>
          <a:xfrm>
            <a:off x="384048" y="2752344"/>
            <a:ext cx="5541264" cy="6675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2064" y="2807208"/>
            <a:ext cx="1737360" cy="219456"/>
          </a:xfrm>
          <a:prstGeom prst="rect">
            <a:avLst/>
          </a:prstGeom>
          <a:noFill/>
        </p:spPr>
        <p:txBody>
          <a:bodyPr wrap="square">
            <a:spAutoFit/>
          </a:bodyPr>
          <a:lstStyle/>
          <a:p>
            <a:pPr algn="l"/>
            <a:r>
              <a:rPr sz="900" b="0" i="0">
                <a:solidFill>
                  <a:srgbClr val="64748B"/>
                </a:solidFill>
                <a:latin typeface="Helvetica"/>
              </a:rPr>
              <a:t>Interval (II)</a:t>
            </a:r>
          </a:p>
        </p:txBody>
      </p:sp>
      <p:sp>
        <p:nvSpPr>
          <p:cNvPr id="21" name="TextBox 20"/>
          <p:cNvSpPr txBox="1"/>
          <p:nvPr/>
        </p:nvSpPr>
        <p:spPr>
          <a:xfrm>
            <a:off x="512064" y="3063240"/>
            <a:ext cx="2881457" cy="310896"/>
          </a:xfrm>
          <a:prstGeom prst="rect">
            <a:avLst/>
          </a:prstGeom>
          <a:noFill/>
        </p:spPr>
        <p:txBody>
          <a:bodyPr wrap="square">
            <a:spAutoFit/>
          </a:bodyPr>
          <a:lstStyle/>
          <a:p>
            <a:pPr algn="l"/>
            <a:r>
              <a:rPr sz="1250" b="1" i="0">
                <a:solidFill>
                  <a:srgbClr val="0F172A"/>
                </a:solidFill>
                <a:latin typeface="Helvetica"/>
              </a:rPr>
              <a:t>1,470 cycles</a:t>
            </a:r>
          </a:p>
        </p:txBody>
      </p:sp>
      <p:sp>
        <p:nvSpPr>
          <p:cNvPr id="22" name="TextBox 21"/>
          <p:cNvSpPr txBox="1"/>
          <p:nvPr/>
        </p:nvSpPr>
        <p:spPr>
          <a:xfrm>
            <a:off x="3338657" y="3008376"/>
            <a:ext cx="2439253" cy="347472"/>
          </a:xfrm>
          <a:prstGeom prst="rect">
            <a:avLst/>
          </a:prstGeom>
          <a:noFill/>
        </p:spPr>
        <p:txBody>
          <a:bodyPr wrap="square">
            <a:spAutoFit/>
          </a:bodyPr>
          <a:lstStyle/>
          <a:p>
            <a:pPr algn="r"/>
            <a:r>
              <a:rPr sz="950" b="0" i="1">
                <a:solidFill>
                  <a:srgbClr val="94A3B8"/>
                </a:solidFill>
                <a:latin typeface="Helvetica"/>
              </a:rPr>
              <a:t>14.70 µs / chunk</a:t>
            </a:r>
          </a:p>
        </p:txBody>
      </p:sp>
      <p:sp>
        <p:nvSpPr>
          <p:cNvPr id="23" name="Rectangle 22"/>
          <p:cNvSpPr/>
          <p:nvPr/>
        </p:nvSpPr>
        <p:spPr>
          <a:xfrm>
            <a:off x="6272784" y="2752344"/>
            <a:ext cx="5541264" cy="6675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2807208"/>
            <a:ext cx="1737360" cy="219456"/>
          </a:xfrm>
          <a:prstGeom prst="rect">
            <a:avLst/>
          </a:prstGeom>
          <a:noFill/>
        </p:spPr>
        <p:txBody>
          <a:bodyPr wrap="square">
            <a:spAutoFit/>
          </a:bodyPr>
          <a:lstStyle/>
          <a:p>
            <a:pPr algn="l"/>
            <a:r>
              <a:rPr sz="900" b="0" i="0">
                <a:solidFill>
                  <a:srgbClr val="64748B"/>
                </a:solidFill>
                <a:latin typeface="Helvetica"/>
              </a:rPr>
              <a:t>Interval (II)</a:t>
            </a:r>
          </a:p>
        </p:txBody>
      </p:sp>
      <p:sp>
        <p:nvSpPr>
          <p:cNvPr id="25" name="TextBox 24"/>
          <p:cNvSpPr txBox="1"/>
          <p:nvPr/>
        </p:nvSpPr>
        <p:spPr>
          <a:xfrm>
            <a:off x="6400800" y="3063240"/>
            <a:ext cx="2881457" cy="310896"/>
          </a:xfrm>
          <a:prstGeom prst="rect">
            <a:avLst/>
          </a:prstGeom>
          <a:noFill/>
        </p:spPr>
        <p:txBody>
          <a:bodyPr wrap="square">
            <a:spAutoFit/>
          </a:bodyPr>
          <a:lstStyle/>
          <a:p>
            <a:pPr algn="l"/>
            <a:r>
              <a:rPr sz="1250" b="1" i="0">
                <a:solidFill>
                  <a:srgbClr val="2D6A4F"/>
                </a:solidFill>
                <a:latin typeface="Helvetica"/>
              </a:rPr>
              <a:t>493 cycles</a:t>
            </a:r>
          </a:p>
        </p:txBody>
      </p:sp>
      <p:sp>
        <p:nvSpPr>
          <p:cNvPr id="26" name="TextBox 25"/>
          <p:cNvSpPr txBox="1"/>
          <p:nvPr/>
        </p:nvSpPr>
        <p:spPr>
          <a:xfrm>
            <a:off x="9227393" y="3008376"/>
            <a:ext cx="2439253" cy="347472"/>
          </a:xfrm>
          <a:prstGeom prst="rect">
            <a:avLst/>
          </a:prstGeom>
          <a:noFill/>
        </p:spPr>
        <p:txBody>
          <a:bodyPr wrap="square">
            <a:spAutoFit/>
          </a:bodyPr>
          <a:lstStyle/>
          <a:p>
            <a:pPr algn="r"/>
            <a:r>
              <a:rPr sz="950" b="0" i="1">
                <a:solidFill>
                  <a:srgbClr val="2D6A4F"/>
                </a:solidFill>
                <a:latin typeface="Helvetica"/>
              </a:rPr>
              <a:t>4.93 µs / chunk   ★ 3×</a:t>
            </a:r>
          </a:p>
        </p:txBody>
      </p:sp>
      <p:sp>
        <p:nvSpPr>
          <p:cNvPr id="27" name="Rectangle 26"/>
          <p:cNvSpPr/>
          <p:nvPr/>
        </p:nvSpPr>
        <p:spPr>
          <a:xfrm>
            <a:off x="384048" y="3419856"/>
            <a:ext cx="5541264" cy="6675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12064" y="3474720"/>
            <a:ext cx="1737360" cy="219456"/>
          </a:xfrm>
          <a:prstGeom prst="rect">
            <a:avLst/>
          </a:prstGeom>
          <a:noFill/>
        </p:spPr>
        <p:txBody>
          <a:bodyPr wrap="square">
            <a:spAutoFit/>
          </a:bodyPr>
          <a:lstStyle/>
          <a:p>
            <a:pPr algn="l"/>
            <a:r>
              <a:rPr sz="900" b="0" i="0">
                <a:solidFill>
                  <a:srgbClr val="64748B"/>
                </a:solidFill>
                <a:latin typeface="Helvetica"/>
              </a:rPr>
              <a:t>DSP</a:t>
            </a:r>
          </a:p>
        </p:txBody>
      </p:sp>
      <p:sp>
        <p:nvSpPr>
          <p:cNvPr id="29" name="TextBox 28"/>
          <p:cNvSpPr txBox="1"/>
          <p:nvPr/>
        </p:nvSpPr>
        <p:spPr>
          <a:xfrm>
            <a:off x="512064" y="3730752"/>
            <a:ext cx="2881457" cy="310896"/>
          </a:xfrm>
          <a:prstGeom prst="rect">
            <a:avLst/>
          </a:prstGeom>
          <a:noFill/>
        </p:spPr>
        <p:txBody>
          <a:bodyPr wrap="square">
            <a:spAutoFit/>
          </a:bodyPr>
          <a:lstStyle/>
          <a:p>
            <a:pPr algn="l"/>
            <a:r>
              <a:rPr sz="1250" b="1" i="0">
                <a:solidFill>
                  <a:srgbClr val="0F172A"/>
                </a:solidFill>
                <a:latin typeface="Helvetica"/>
              </a:rPr>
              <a:t>12  (3%)</a:t>
            </a:r>
          </a:p>
        </p:txBody>
      </p:sp>
      <p:sp>
        <p:nvSpPr>
          <p:cNvPr id="30" name="Rectangle 29"/>
          <p:cNvSpPr/>
          <p:nvPr/>
        </p:nvSpPr>
        <p:spPr>
          <a:xfrm>
            <a:off x="6272784" y="3419856"/>
            <a:ext cx="5541264" cy="667512"/>
          </a:xfrm>
          <a:prstGeom prst="rect">
            <a:avLst/>
          </a:prstGeom>
          <a:solidFill>
            <a:srgbClr val="D8F3D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74720"/>
            <a:ext cx="1737360" cy="219456"/>
          </a:xfrm>
          <a:prstGeom prst="rect">
            <a:avLst/>
          </a:prstGeom>
          <a:noFill/>
        </p:spPr>
        <p:txBody>
          <a:bodyPr wrap="square">
            <a:spAutoFit/>
          </a:bodyPr>
          <a:lstStyle/>
          <a:p>
            <a:pPr algn="l"/>
            <a:r>
              <a:rPr sz="900" b="0" i="0">
                <a:solidFill>
                  <a:srgbClr val="64748B"/>
                </a:solidFill>
                <a:latin typeface="Helvetica"/>
              </a:rPr>
              <a:t>DSP</a:t>
            </a:r>
          </a:p>
        </p:txBody>
      </p:sp>
      <p:sp>
        <p:nvSpPr>
          <p:cNvPr id="32" name="TextBox 31"/>
          <p:cNvSpPr txBox="1"/>
          <p:nvPr/>
        </p:nvSpPr>
        <p:spPr>
          <a:xfrm>
            <a:off x="6400800" y="3730752"/>
            <a:ext cx="2881457" cy="310896"/>
          </a:xfrm>
          <a:prstGeom prst="rect">
            <a:avLst/>
          </a:prstGeom>
          <a:noFill/>
        </p:spPr>
        <p:txBody>
          <a:bodyPr wrap="square">
            <a:spAutoFit/>
          </a:bodyPr>
          <a:lstStyle/>
          <a:p>
            <a:pPr algn="l"/>
            <a:r>
              <a:rPr sz="1250" b="1" i="0">
                <a:solidFill>
                  <a:srgbClr val="0F172A"/>
                </a:solidFill>
                <a:latin typeface="Helvetica"/>
              </a:rPr>
              <a:t>12  (3%)</a:t>
            </a:r>
          </a:p>
        </p:txBody>
      </p:sp>
      <p:sp>
        <p:nvSpPr>
          <p:cNvPr id="33" name="TextBox 32"/>
          <p:cNvSpPr txBox="1"/>
          <p:nvPr/>
        </p:nvSpPr>
        <p:spPr>
          <a:xfrm>
            <a:off x="9227393" y="3675888"/>
            <a:ext cx="2439253" cy="347472"/>
          </a:xfrm>
          <a:prstGeom prst="rect">
            <a:avLst/>
          </a:prstGeom>
          <a:noFill/>
        </p:spPr>
        <p:txBody>
          <a:bodyPr wrap="square">
            <a:spAutoFit/>
          </a:bodyPr>
          <a:lstStyle/>
          <a:p>
            <a:pPr algn="r"/>
            <a:r>
              <a:rPr sz="950" b="0" i="1">
                <a:solidFill>
                  <a:srgbClr val="94A3B8"/>
                </a:solidFill>
                <a:latin typeface="Helvetica"/>
              </a:rPr>
              <a:t>no change</a:t>
            </a:r>
          </a:p>
        </p:txBody>
      </p:sp>
      <p:sp>
        <p:nvSpPr>
          <p:cNvPr id="34" name="Rectangle 33"/>
          <p:cNvSpPr/>
          <p:nvPr/>
        </p:nvSpPr>
        <p:spPr>
          <a:xfrm>
            <a:off x="384048" y="4087368"/>
            <a:ext cx="5541264" cy="6675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12064" y="4142232"/>
            <a:ext cx="1737360" cy="219456"/>
          </a:xfrm>
          <a:prstGeom prst="rect">
            <a:avLst/>
          </a:prstGeom>
          <a:noFill/>
        </p:spPr>
        <p:txBody>
          <a:bodyPr wrap="square">
            <a:spAutoFit/>
          </a:bodyPr>
          <a:lstStyle/>
          <a:p>
            <a:pPr algn="l"/>
            <a:r>
              <a:rPr sz="900" b="0" i="0">
                <a:solidFill>
                  <a:srgbClr val="64748B"/>
                </a:solidFill>
                <a:latin typeface="Helvetica"/>
              </a:rPr>
              <a:t>LUT</a:t>
            </a:r>
          </a:p>
        </p:txBody>
      </p:sp>
      <p:sp>
        <p:nvSpPr>
          <p:cNvPr id="36" name="TextBox 35"/>
          <p:cNvSpPr txBox="1"/>
          <p:nvPr/>
        </p:nvSpPr>
        <p:spPr>
          <a:xfrm>
            <a:off x="512064" y="4398264"/>
            <a:ext cx="2881457" cy="310896"/>
          </a:xfrm>
          <a:prstGeom prst="rect">
            <a:avLst/>
          </a:prstGeom>
          <a:noFill/>
        </p:spPr>
        <p:txBody>
          <a:bodyPr wrap="square">
            <a:spAutoFit/>
          </a:bodyPr>
          <a:lstStyle/>
          <a:p>
            <a:pPr algn="l"/>
            <a:r>
              <a:rPr sz="1250" b="1" i="0">
                <a:solidFill>
                  <a:srgbClr val="0F172A"/>
                </a:solidFill>
                <a:latin typeface="Helvetica"/>
              </a:rPr>
              <a:t>3,249  (4%)</a:t>
            </a:r>
          </a:p>
        </p:txBody>
      </p:sp>
      <p:sp>
        <p:nvSpPr>
          <p:cNvPr id="37" name="Rectangle 36"/>
          <p:cNvSpPr/>
          <p:nvPr/>
        </p:nvSpPr>
        <p:spPr>
          <a:xfrm>
            <a:off x="6272784" y="4087368"/>
            <a:ext cx="5541264" cy="6675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0" y="4142232"/>
            <a:ext cx="1737360" cy="219456"/>
          </a:xfrm>
          <a:prstGeom prst="rect">
            <a:avLst/>
          </a:prstGeom>
          <a:noFill/>
        </p:spPr>
        <p:txBody>
          <a:bodyPr wrap="square">
            <a:spAutoFit/>
          </a:bodyPr>
          <a:lstStyle/>
          <a:p>
            <a:pPr algn="l"/>
            <a:r>
              <a:rPr sz="900" b="0" i="0">
                <a:solidFill>
                  <a:srgbClr val="64748B"/>
                </a:solidFill>
                <a:latin typeface="Helvetica"/>
              </a:rPr>
              <a:t>LUT</a:t>
            </a:r>
          </a:p>
        </p:txBody>
      </p:sp>
      <p:sp>
        <p:nvSpPr>
          <p:cNvPr id="39" name="TextBox 38"/>
          <p:cNvSpPr txBox="1"/>
          <p:nvPr/>
        </p:nvSpPr>
        <p:spPr>
          <a:xfrm>
            <a:off x="6400800" y="4398264"/>
            <a:ext cx="2881457" cy="310896"/>
          </a:xfrm>
          <a:prstGeom prst="rect">
            <a:avLst/>
          </a:prstGeom>
          <a:noFill/>
        </p:spPr>
        <p:txBody>
          <a:bodyPr wrap="square">
            <a:spAutoFit/>
          </a:bodyPr>
          <a:lstStyle/>
          <a:p>
            <a:pPr algn="l"/>
            <a:r>
              <a:rPr sz="1250" b="1" i="0">
                <a:solidFill>
                  <a:srgbClr val="0F172A"/>
                </a:solidFill>
                <a:latin typeface="Helvetica"/>
              </a:rPr>
              <a:t>3,911  (5%)</a:t>
            </a:r>
          </a:p>
        </p:txBody>
      </p:sp>
      <p:sp>
        <p:nvSpPr>
          <p:cNvPr id="40" name="TextBox 39"/>
          <p:cNvSpPr txBox="1"/>
          <p:nvPr/>
        </p:nvSpPr>
        <p:spPr>
          <a:xfrm>
            <a:off x="9227393" y="4343400"/>
            <a:ext cx="2439253" cy="347472"/>
          </a:xfrm>
          <a:prstGeom prst="rect">
            <a:avLst/>
          </a:prstGeom>
          <a:noFill/>
        </p:spPr>
        <p:txBody>
          <a:bodyPr wrap="square">
            <a:spAutoFit/>
          </a:bodyPr>
          <a:lstStyle/>
          <a:p>
            <a:pPr algn="r"/>
            <a:r>
              <a:rPr sz="950" b="0" i="1">
                <a:solidFill>
                  <a:srgbClr val="94A3B8"/>
                </a:solidFill>
                <a:latin typeface="Helvetica"/>
              </a:rPr>
              <a:t>+20%  (DATAFLOW ctrl logic)</a:t>
            </a:r>
          </a:p>
        </p:txBody>
      </p:sp>
      <p:sp>
        <p:nvSpPr>
          <p:cNvPr id="41" name="Rectangle 40"/>
          <p:cNvSpPr/>
          <p:nvPr/>
        </p:nvSpPr>
        <p:spPr>
          <a:xfrm>
            <a:off x="384048" y="4754880"/>
            <a:ext cx="5541264" cy="66751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12064" y="4809744"/>
            <a:ext cx="1737360" cy="219456"/>
          </a:xfrm>
          <a:prstGeom prst="rect">
            <a:avLst/>
          </a:prstGeom>
          <a:noFill/>
        </p:spPr>
        <p:txBody>
          <a:bodyPr wrap="square">
            <a:spAutoFit/>
          </a:bodyPr>
          <a:lstStyle/>
          <a:p>
            <a:pPr algn="l"/>
            <a:r>
              <a:rPr sz="900" b="0" i="0">
                <a:solidFill>
                  <a:srgbClr val="64748B"/>
                </a:solidFill>
                <a:latin typeface="Helvetica"/>
              </a:rPr>
              <a:t>FF</a:t>
            </a:r>
          </a:p>
        </p:txBody>
      </p:sp>
      <p:sp>
        <p:nvSpPr>
          <p:cNvPr id="43" name="TextBox 42"/>
          <p:cNvSpPr txBox="1"/>
          <p:nvPr/>
        </p:nvSpPr>
        <p:spPr>
          <a:xfrm>
            <a:off x="512064" y="5065776"/>
            <a:ext cx="2881457" cy="310896"/>
          </a:xfrm>
          <a:prstGeom prst="rect">
            <a:avLst/>
          </a:prstGeom>
          <a:noFill/>
        </p:spPr>
        <p:txBody>
          <a:bodyPr wrap="square">
            <a:spAutoFit/>
          </a:bodyPr>
          <a:lstStyle/>
          <a:p>
            <a:pPr algn="l"/>
            <a:r>
              <a:rPr sz="1250" b="1" i="0">
                <a:solidFill>
                  <a:srgbClr val="0F172A"/>
                </a:solidFill>
                <a:latin typeface="Helvetica"/>
              </a:rPr>
              <a:t>2,246  (1%)</a:t>
            </a:r>
          </a:p>
        </p:txBody>
      </p:sp>
      <p:sp>
        <p:nvSpPr>
          <p:cNvPr id="44" name="Rectangle 43"/>
          <p:cNvSpPr/>
          <p:nvPr/>
        </p:nvSpPr>
        <p:spPr>
          <a:xfrm>
            <a:off x="6272784" y="4754880"/>
            <a:ext cx="5541264" cy="667512"/>
          </a:xfrm>
          <a:prstGeom prst="rect">
            <a:avLst/>
          </a:prstGeom>
          <a:solidFill>
            <a:srgbClr val="D8F3D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0" y="4809744"/>
            <a:ext cx="1737360" cy="219456"/>
          </a:xfrm>
          <a:prstGeom prst="rect">
            <a:avLst/>
          </a:prstGeom>
          <a:noFill/>
        </p:spPr>
        <p:txBody>
          <a:bodyPr wrap="square">
            <a:spAutoFit/>
          </a:bodyPr>
          <a:lstStyle/>
          <a:p>
            <a:pPr algn="l"/>
            <a:r>
              <a:rPr sz="900" b="0" i="0">
                <a:solidFill>
                  <a:srgbClr val="64748B"/>
                </a:solidFill>
                <a:latin typeface="Helvetica"/>
              </a:rPr>
              <a:t>FF</a:t>
            </a:r>
          </a:p>
        </p:txBody>
      </p:sp>
      <p:sp>
        <p:nvSpPr>
          <p:cNvPr id="46" name="TextBox 45"/>
          <p:cNvSpPr txBox="1"/>
          <p:nvPr/>
        </p:nvSpPr>
        <p:spPr>
          <a:xfrm>
            <a:off x="6400800" y="5065776"/>
            <a:ext cx="2881457" cy="310896"/>
          </a:xfrm>
          <a:prstGeom prst="rect">
            <a:avLst/>
          </a:prstGeom>
          <a:noFill/>
        </p:spPr>
        <p:txBody>
          <a:bodyPr wrap="square">
            <a:spAutoFit/>
          </a:bodyPr>
          <a:lstStyle/>
          <a:p>
            <a:pPr algn="l"/>
            <a:r>
              <a:rPr sz="1250" b="1" i="0">
                <a:solidFill>
                  <a:srgbClr val="0F172A"/>
                </a:solidFill>
                <a:latin typeface="Helvetica"/>
              </a:rPr>
              <a:t>3,134  (2%)</a:t>
            </a:r>
          </a:p>
        </p:txBody>
      </p:sp>
      <p:sp>
        <p:nvSpPr>
          <p:cNvPr id="47" name="TextBox 46"/>
          <p:cNvSpPr txBox="1"/>
          <p:nvPr/>
        </p:nvSpPr>
        <p:spPr>
          <a:xfrm>
            <a:off x="9227393" y="5010912"/>
            <a:ext cx="2439253" cy="347472"/>
          </a:xfrm>
          <a:prstGeom prst="rect">
            <a:avLst/>
          </a:prstGeom>
          <a:noFill/>
        </p:spPr>
        <p:txBody>
          <a:bodyPr wrap="square">
            <a:spAutoFit/>
          </a:bodyPr>
          <a:lstStyle/>
          <a:p>
            <a:pPr algn="r"/>
            <a:r>
              <a:rPr sz="950" b="0" i="1">
                <a:solidFill>
                  <a:srgbClr val="94A3B8"/>
                </a:solidFill>
                <a:latin typeface="Helvetica"/>
              </a:rPr>
              <a:t>+40%  (DATAFLOW ctrl logic)</a:t>
            </a:r>
          </a:p>
        </p:txBody>
      </p:sp>
      <p:sp>
        <p:nvSpPr>
          <p:cNvPr id="48" name="Rectangle 47"/>
          <p:cNvSpPr/>
          <p:nvPr/>
        </p:nvSpPr>
        <p:spPr>
          <a:xfrm>
            <a:off x="384048" y="5422392"/>
            <a:ext cx="5541264" cy="6675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064" y="5477255"/>
            <a:ext cx="1737360" cy="219456"/>
          </a:xfrm>
          <a:prstGeom prst="rect">
            <a:avLst/>
          </a:prstGeom>
          <a:noFill/>
        </p:spPr>
        <p:txBody>
          <a:bodyPr wrap="square">
            <a:spAutoFit/>
          </a:bodyPr>
          <a:lstStyle/>
          <a:p>
            <a:pPr algn="l"/>
            <a:r>
              <a:rPr sz="900" b="0" i="0">
                <a:solidFill>
                  <a:srgbClr val="64748B"/>
                </a:solidFill>
                <a:latin typeface="Helvetica"/>
              </a:rPr>
              <a:t>BRAM</a:t>
            </a:r>
          </a:p>
        </p:txBody>
      </p:sp>
      <p:sp>
        <p:nvSpPr>
          <p:cNvPr id="50" name="TextBox 49"/>
          <p:cNvSpPr txBox="1"/>
          <p:nvPr/>
        </p:nvSpPr>
        <p:spPr>
          <a:xfrm>
            <a:off x="512064" y="5733288"/>
            <a:ext cx="2881457" cy="310896"/>
          </a:xfrm>
          <a:prstGeom prst="rect">
            <a:avLst/>
          </a:prstGeom>
          <a:noFill/>
        </p:spPr>
        <p:txBody>
          <a:bodyPr wrap="square">
            <a:spAutoFit/>
          </a:bodyPr>
          <a:lstStyle/>
          <a:p>
            <a:pPr algn="l"/>
            <a:r>
              <a:rPr sz="1250" b="1" i="0">
                <a:solidFill>
                  <a:srgbClr val="0F172A"/>
                </a:solidFill>
                <a:latin typeface="Helvetica"/>
              </a:rPr>
              <a:t>19  (4%)</a:t>
            </a:r>
          </a:p>
        </p:txBody>
      </p:sp>
      <p:sp>
        <p:nvSpPr>
          <p:cNvPr id="51" name="TextBox 50"/>
          <p:cNvSpPr txBox="1"/>
          <p:nvPr/>
        </p:nvSpPr>
        <p:spPr>
          <a:xfrm>
            <a:off x="3338657" y="5678424"/>
            <a:ext cx="2439253" cy="347472"/>
          </a:xfrm>
          <a:prstGeom prst="rect">
            <a:avLst/>
          </a:prstGeom>
          <a:noFill/>
        </p:spPr>
        <p:txBody>
          <a:bodyPr wrap="square">
            <a:spAutoFit/>
          </a:bodyPr>
          <a:lstStyle/>
          <a:p>
            <a:pPr algn="r"/>
            <a:r>
              <a:rPr sz="950" b="0" i="1">
                <a:solidFill>
                  <a:srgbClr val="94A3B8"/>
                </a:solidFill>
                <a:latin typeface="Helvetica"/>
              </a:rPr>
              <a:t>14 delay + 3 other</a:t>
            </a:r>
          </a:p>
        </p:txBody>
      </p:sp>
      <p:sp>
        <p:nvSpPr>
          <p:cNvPr id="52" name="Rectangle 51"/>
          <p:cNvSpPr/>
          <p:nvPr/>
        </p:nvSpPr>
        <p:spPr>
          <a:xfrm>
            <a:off x="6272784" y="5422392"/>
            <a:ext cx="5541264" cy="66751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00800" y="5477255"/>
            <a:ext cx="1737360" cy="219456"/>
          </a:xfrm>
          <a:prstGeom prst="rect">
            <a:avLst/>
          </a:prstGeom>
          <a:noFill/>
        </p:spPr>
        <p:txBody>
          <a:bodyPr wrap="square">
            <a:spAutoFit/>
          </a:bodyPr>
          <a:lstStyle/>
          <a:p>
            <a:pPr algn="l"/>
            <a:r>
              <a:rPr sz="900" b="0" i="0">
                <a:solidFill>
                  <a:srgbClr val="64748B"/>
                </a:solidFill>
                <a:latin typeface="Helvetica"/>
              </a:rPr>
              <a:t>BRAM</a:t>
            </a:r>
          </a:p>
        </p:txBody>
      </p:sp>
      <p:sp>
        <p:nvSpPr>
          <p:cNvPr id="54" name="TextBox 53"/>
          <p:cNvSpPr txBox="1"/>
          <p:nvPr/>
        </p:nvSpPr>
        <p:spPr>
          <a:xfrm>
            <a:off x="6400800" y="5733288"/>
            <a:ext cx="2881457" cy="310896"/>
          </a:xfrm>
          <a:prstGeom prst="rect">
            <a:avLst/>
          </a:prstGeom>
          <a:noFill/>
        </p:spPr>
        <p:txBody>
          <a:bodyPr wrap="square">
            <a:spAutoFit/>
          </a:bodyPr>
          <a:lstStyle/>
          <a:p>
            <a:pPr algn="l"/>
            <a:r>
              <a:rPr sz="1250" b="1" i="0">
                <a:solidFill>
                  <a:srgbClr val="0F172A"/>
                </a:solidFill>
                <a:latin typeface="Helvetica"/>
              </a:rPr>
              <a:t>19  (4%)</a:t>
            </a:r>
          </a:p>
        </p:txBody>
      </p:sp>
      <p:sp>
        <p:nvSpPr>
          <p:cNvPr id="55" name="TextBox 54"/>
          <p:cNvSpPr txBox="1"/>
          <p:nvPr/>
        </p:nvSpPr>
        <p:spPr>
          <a:xfrm>
            <a:off x="9227393" y="5678424"/>
            <a:ext cx="2439253" cy="347472"/>
          </a:xfrm>
          <a:prstGeom prst="rect">
            <a:avLst/>
          </a:prstGeom>
          <a:noFill/>
        </p:spPr>
        <p:txBody>
          <a:bodyPr wrap="square">
            <a:spAutoFit/>
          </a:bodyPr>
          <a:lstStyle/>
          <a:p>
            <a:pPr algn="r"/>
            <a:r>
              <a:rPr sz="950" b="0" i="1">
                <a:solidFill>
                  <a:srgbClr val="94A3B8"/>
                </a:solidFill>
                <a:latin typeface="Helvetica"/>
              </a:rPr>
              <a:t>same  (pipo = same blocks)</a:t>
            </a:r>
          </a:p>
        </p:txBody>
      </p:sp>
      <p:sp>
        <p:nvSpPr>
          <p:cNvPr id="56" name="Rectangle 55"/>
          <p:cNvSpPr/>
          <p:nvPr/>
        </p:nvSpPr>
        <p:spPr>
          <a:xfrm>
            <a:off x="384048" y="6181344"/>
            <a:ext cx="11430000" cy="658368"/>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66928" y="6254496"/>
            <a:ext cx="11064240" cy="253916"/>
          </a:xfrm>
          <a:prstGeom prst="rect">
            <a:avLst/>
          </a:prstGeom>
          <a:noFill/>
        </p:spPr>
        <p:txBody>
          <a:bodyPr wrap="square">
            <a:spAutoFit/>
          </a:bodyPr>
          <a:lstStyle/>
          <a:p>
            <a:pPr algn="l"/>
            <a:r>
              <a:rPr sz="1050" b="1" i="0">
                <a:solidFill>
                  <a:srgbClr val="FFFFFF"/>
                </a:solidFill>
                <a:latin typeface="Helvetica"/>
              </a:rPr>
              <a:t>Measured hardware:  B1 = 42.31 µs  |  B2 = 32.97 µs  |  1.28× speedup  —  better than predicted.</a:t>
            </a:r>
          </a:p>
        </p:txBody>
      </p:sp>
      <p:sp>
        <p:nvSpPr>
          <p:cNvPr id="58" name="TextBox 57"/>
          <p:cNvSpPr txBox="1"/>
          <p:nvPr/>
        </p:nvSpPr>
        <p:spPr>
          <a:xfrm>
            <a:off x="566928" y="6510528"/>
            <a:ext cx="11064240" cy="384721"/>
          </a:xfrm>
          <a:prstGeom prst="rect">
            <a:avLst/>
          </a:prstGeom>
          <a:noFill/>
        </p:spPr>
        <p:txBody>
          <a:bodyPr wrap="square">
            <a:spAutoFit/>
          </a:bodyPr>
          <a:lstStyle/>
          <a:p>
            <a:pPr algn="l"/>
            <a:r>
              <a:rPr sz="950" b="0" i="0">
                <a:solidFill>
                  <a:srgbClr val="52B788"/>
                </a:solidFill>
                <a:latin typeface="Helvetica"/>
              </a:rPr>
              <a:t>DATAFLOW improves II (throughput) ~3× and also cuts sequential latency — restructuring improves AXI/DDR access patterns.  BRAM and DSP identical;  LUT +20%, FF +40% for DATAFLOW control logic.</a:t>
            </a:r>
          </a:p>
        </p:txBody>
      </p:sp>
    </p:spTree>
    <p:extLst>
      <p:ext uri="{BB962C8B-B14F-4D97-AF65-F5344CB8AC3E}">
        <p14:creationId xmlns:p14="http://schemas.microsoft.com/office/powerpoint/2010/main" val="1269424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4572000" cy="256032"/>
          </a:xfrm>
          <a:prstGeom prst="rect">
            <a:avLst/>
          </a:prstGeom>
          <a:noFill/>
        </p:spPr>
        <p:txBody>
          <a:bodyPr wrap="square">
            <a:spAutoFit/>
          </a:bodyPr>
          <a:lstStyle/>
          <a:p>
            <a:pPr algn="l"/>
            <a:r>
              <a:rPr sz="850" b="1" i="0">
                <a:solidFill>
                  <a:srgbClr val="2D6A4F"/>
                </a:solidFill>
                <a:latin typeface="Helvetica"/>
              </a:rPr>
              <a:t>BUILD 1</a:t>
            </a:r>
          </a:p>
        </p:txBody>
      </p:sp>
      <p:sp>
        <p:nvSpPr>
          <p:cNvPr id="4" name="TextBox 3"/>
          <p:cNvSpPr txBox="1"/>
          <p:nvPr/>
        </p:nvSpPr>
        <p:spPr>
          <a:xfrm>
            <a:off x="457200" y="420624"/>
            <a:ext cx="11247120" cy="749808"/>
          </a:xfrm>
          <a:prstGeom prst="rect">
            <a:avLst/>
          </a:prstGeom>
          <a:noFill/>
        </p:spPr>
        <p:txBody>
          <a:bodyPr wrap="square">
            <a:spAutoFit/>
          </a:bodyPr>
          <a:lstStyle/>
          <a:p>
            <a:pPr algn="l"/>
            <a:r>
              <a:rPr sz="3400" b="1" i="0">
                <a:solidFill>
                  <a:srgbClr val="0F172A"/>
                </a:solidFill>
                <a:latin typeface="Helvetica"/>
              </a:rPr>
              <a:t>Build 1 — Sequential Pipeline</a:t>
            </a:r>
          </a:p>
        </p:txBody>
      </p:sp>
      <p:sp>
        <p:nvSpPr>
          <p:cNvPr id="5" name="TextBox 4"/>
          <p:cNvSpPr txBox="1"/>
          <p:nvPr/>
        </p:nvSpPr>
        <p:spPr>
          <a:xfrm>
            <a:off x="457200" y="1115568"/>
            <a:ext cx="11247120" cy="347472"/>
          </a:xfrm>
          <a:prstGeom prst="rect">
            <a:avLst/>
          </a:prstGeom>
          <a:noFill/>
        </p:spPr>
        <p:txBody>
          <a:bodyPr wrap="square">
            <a:spAutoFit/>
          </a:bodyPr>
          <a:lstStyle/>
          <a:p>
            <a:pPr algn="l"/>
            <a:r>
              <a:rPr sz="1300" b="0" i="0">
                <a:solidFill>
                  <a:srgbClr val="64748B"/>
                </a:solidFill>
                <a:latin typeface="Helvetica"/>
              </a:rPr>
              <a:t>Three pipelined loops inside one function, running one after the other</a:t>
            </a:r>
          </a:p>
        </p:txBody>
      </p:sp>
      <p:sp>
        <p:nvSpPr>
          <p:cNvPr id="6" name="Rectangle 5"/>
          <p:cNvSpPr/>
          <p:nvPr/>
        </p:nvSpPr>
        <p:spPr>
          <a:xfrm>
            <a:off x="457200" y="1517904"/>
            <a:ext cx="11247120" cy="201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287" y="2304288"/>
            <a:ext cx="1481328" cy="1060704"/>
          </a:xfrm>
          <a:prstGeom prst="rect">
            <a:avLst/>
          </a:prstGeom>
          <a:solidFill>
            <a:srgbClr val="EFF6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7" y="2432304"/>
            <a:ext cx="1298448" cy="274320"/>
          </a:xfrm>
          <a:prstGeom prst="rect">
            <a:avLst/>
          </a:prstGeom>
          <a:noFill/>
        </p:spPr>
        <p:txBody>
          <a:bodyPr wrap="square">
            <a:spAutoFit/>
          </a:bodyPr>
          <a:lstStyle/>
          <a:p>
            <a:pPr algn="ctr"/>
            <a:r>
              <a:rPr sz="1100" b="1" i="0">
                <a:solidFill>
                  <a:srgbClr val="1E40AF"/>
                </a:solidFill>
                <a:latin typeface="Helvetica"/>
              </a:rPr>
              <a:t>DDR In</a:t>
            </a:r>
          </a:p>
        </p:txBody>
      </p:sp>
      <p:sp>
        <p:nvSpPr>
          <p:cNvPr id="9" name="TextBox 8"/>
          <p:cNvSpPr txBox="1"/>
          <p:nvPr/>
        </p:nvSpPr>
        <p:spPr>
          <a:xfrm>
            <a:off x="109727" y="2743200"/>
            <a:ext cx="1298448" cy="457200"/>
          </a:xfrm>
          <a:prstGeom prst="rect">
            <a:avLst/>
          </a:prstGeom>
          <a:noFill/>
        </p:spPr>
        <p:txBody>
          <a:bodyPr wrap="square">
            <a:spAutoFit/>
          </a:bodyPr>
          <a:lstStyle/>
          <a:p>
            <a:pPr algn="ctr"/>
            <a:r>
              <a:rPr sz="900" b="0" i="0">
                <a:solidFill>
                  <a:srgbClr val="64748B"/>
                </a:solidFill>
                <a:latin typeface="Helvetica"/>
              </a:rPr>
              <a:t>480 samples
16-bit Q15</a:t>
            </a:r>
          </a:p>
        </p:txBody>
      </p:sp>
      <p:sp>
        <p:nvSpPr>
          <p:cNvPr id="10" name="Rectangle 9"/>
          <p:cNvSpPr/>
          <p:nvPr/>
        </p:nvSpPr>
        <p:spPr>
          <a:xfrm>
            <a:off x="1828799" y="2176272"/>
            <a:ext cx="2697480" cy="1316736"/>
          </a:xfrm>
          <a:prstGeom prst="rect">
            <a:avLst/>
          </a:prstGeom>
          <a:solidFill>
            <a:srgbClr val="FFF7ED"/>
          </a:solidFill>
          <a:ln w="254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799" y="2176272"/>
            <a:ext cx="2697480" cy="347472"/>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38527" y="2203704"/>
            <a:ext cx="2487168" cy="292608"/>
          </a:xfrm>
          <a:prstGeom prst="rect">
            <a:avLst/>
          </a:prstGeom>
          <a:noFill/>
        </p:spPr>
        <p:txBody>
          <a:bodyPr wrap="square">
            <a:spAutoFit/>
          </a:bodyPr>
          <a:lstStyle/>
          <a:p>
            <a:pPr algn="l"/>
            <a:r>
              <a:rPr sz="1000" b="1" i="0">
                <a:solidFill>
                  <a:srgbClr val="FFFFFF"/>
                </a:solidFill>
                <a:latin typeface="Helvetica"/>
              </a:rPr>
              <a:t>DIST_LOOP</a:t>
            </a:r>
          </a:p>
        </p:txBody>
      </p:sp>
      <p:sp>
        <p:nvSpPr>
          <p:cNvPr id="13" name="TextBox 12"/>
          <p:cNvSpPr txBox="1"/>
          <p:nvPr/>
        </p:nvSpPr>
        <p:spPr>
          <a:xfrm>
            <a:off x="1938527" y="2578608"/>
            <a:ext cx="1554480" cy="310896"/>
          </a:xfrm>
          <a:prstGeom prst="rect">
            <a:avLst/>
          </a:prstGeom>
          <a:noFill/>
        </p:spPr>
        <p:txBody>
          <a:bodyPr wrap="square">
            <a:spAutoFit/>
          </a:bodyPr>
          <a:lstStyle/>
          <a:p>
            <a:pPr algn="l"/>
            <a:r>
              <a:rPr sz="1400" b="1" i="0">
                <a:solidFill>
                  <a:srgbClr val="92400E"/>
                </a:solidFill>
                <a:latin typeface="Helvetica"/>
              </a:rPr>
              <a:t>Distortion</a:t>
            </a:r>
          </a:p>
        </p:txBody>
      </p:sp>
      <p:sp>
        <p:nvSpPr>
          <p:cNvPr id="14" name="TextBox 13"/>
          <p:cNvSpPr txBox="1"/>
          <p:nvPr/>
        </p:nvSpPr>
        <p:spPr>
          <a:xfrm>
            <a:off x="1938527" y="2926080"/>
            <a:ext cx="1554480" cy="274320"/>
          </a:xfrm>
          <a:prstGeom prst="rect">
            <a:avLst/>
          </a:prstGeom>
          <a:noFill/>
        </p:spPr>
        <p:txBody>
          <a:bodyPr wrap="square">
            <a:spAutoFit/>
          </a:bodyPr>
          <a:lstStyle/>
          <a:p>
            <a:pPr algn="l"/>
            <a:r>
              <a:rPr sz="900" b="0" i="0">
                <a:solidFill>
                  <a:srgbClr val="64748B"/>
                </a:solidFill>
                <a:latin typeface="Helvetica"/>
              </a:rPr>
              <a:t>481 cycles  /  II=1</a:t>
            </a:r>
          </a:p>
        </p:txBody>
      </p:sp>
      <p:sp>
        <p:nvSpPr>
          <p:cNvPr id="15" name="TextBox 14"/>
          <p:cNvSpPr txBox="1"/>
          <p:nvPr/>
        </p:nvSpPr>
        <p:spPr>
          <a:xfrm>
            <a:off x="3547870" y="2834640"/>
            <a:ext cx="868680" cy="502920"/>
          </a:xfrm>
          <a:prstGeom prst="rect">
            <a:avLst/>
          </a:prstGeom>
          <a:noFill/>
        </p:spPr>
        <p:txBody>
          <a:bodyPr wrap="square">
            <a:spAutoFit/>
          </a:bodyPr>
          <a:lstStyle/>
          <a:p>
            <a:pPr algn="r"/>
            <a:r>
              <a:rPr sz="900" b="0" i="0">
                <a:solidFill>
                  <a:srgbClr val="94A3B8"/>
                </a:solidFill>
                <a:latin typeface="Helvetica"/>
              </a:rPr>
              <a:t>2 DSP</a:t>
            </a:r>
          </a:p>
        </p:txBody>
      </p:sp>
      <p:cxnSp>
        <p:nvCxnSpPr>
          <p:cNvPr id="16" name="Connector 15"/>
          <p:cNvCxnSpPr/>
          <p:nvPr/>
        </p:nvCxnSpPr>
        <p:spPr>
          <a:xfrm>
            <a:off x="1508759" y="2852928"/>
            <a:ext cx="320040" cy="0"/>
          </a:xfrm>
          <a:prstGeom prst="line">
            <a:avLst/>
          </a:prstGeom>
          <a:ln w="25400">
            <a:solidFill>
              <a:srgbClr val="94A3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62855" y="2724912"/>
            <a:ext cx="1005840" cy="365760"/>
          </a:xfrm>
          <a:prstGeom prst="rect">
            <a:avLst/>
          </a:prstGeom>
          <a:noFill/>
        </p:spPr>
        <p:txBody>
          <a:bodyPr wrap="square">
            <a:spAutoFit/>
          </a:bodyPr>
          <a:lstStyle/>
          <a:p>
            <a:pPr algn="ctr"/>
            <a:r>
              <a:rPr sz="850" b="0" i="1">
                <a:solidFill>
                  <a:srgbClr val="94A3B8"/>
                </a:solidFill>
                <a:latin typeface="Helvetica"/>
              </a:rPr>
              <a:t>mid1[480]</a:t>
            </a:r>
          </a:p>
        </p:txBody>
      </p:sp>
      <p:sp>
        <p:nvSpPr>
          <p:cNvPr id="18" name="Rectangle 17"/>
          <p:cNvSpPr/>
          <p:nvPr/>
        </p:nvSpPr>
        <p:spPr>
          <a:xfrm>
            <a:off x="4864606" y="2176272"/>
            <a:ext cx="2697480" cy="1316736"/>
          </a:xfrm>
          <a:prstGeom prst="rect">
            <a:avLst/>
          </a:prstGeom>
          <a:solidFill>
            <a:srgbClr val="F5F3FF"/>
          </a:solidFill>
          <a:ln w="254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864606" y="2176272"/>
            <a:ext cx="2697480" cy="3474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74334" y="2203704"/>
            <a:ext cx="2487168" cy="292608"/>
          </a:xfrm>
          <a:prstGeom prst="rect">
            <a:avLst/>
          </a:prstGeom>
          <a:noFill/>
        </p:spPr>
        <p:txBody>
          <a:bodyPr wrap="square">
            <a:spAutoFit/>
          </a:bodyPr>
          <a:lstStyle/>
          <a:p>
            <a:pPr algn="l"/>
            <a:r>
              <a:rPr sz="1000" b="1" i="0">
                <a:solidFill>
                  <a:srgbClr val="FFFFFF"/>
                </a:solidFill>
                <a:latin typeface="Helvetica"/>
              </a:rPr>
              <a:t>TREM_LOOP</a:t>
            </a:r>
          </a:p>
        </p:txBody>
      </p:sp>
      <p:sp>
        <p:nvSpPr>
          <p:cNvPr id="21" name="TextBox 20"/>
          <p:cNvSpPr txBox="1"/>
          <p:nvPr/>
        </p:nvSpPr>
        <p:spPr>
          <a:xfrm>
            <a:off x="4974334" y="2578608"/>
            <a:ext cx="1554480" cy="310896"/>
          </a:xfrm>
          <a:prstGeom prst="rect">
            <a:avLst/>
          </a:prstGeom>
          <a:noFill/>
        </p:spPr>
        <p:txBody>
          <a:bodyPr wrap="square">
            <a:spAutoFit/>
          </a:bodyPr>
          <a:lstStyle/>
          <a:p>
            <a:pPr algn="l"/>
            <a:r>
              <a:rPr sz="1400" b="1" i="0">
                <a:solidFill>
                  <a:srgbClr val="6D28D9"/>
                </a:solidFill>
                <a:latin typeface="Helvetica"/>
              </a:rPr>
              <a:t>Tremolo</a:t>
            </a:r>
          </a:p>
        </p:txBody>
      </p:sp>
      <p:sp>
        <p:nvSpPr>
          <p:cNvPr id="22" name="TextBox 21"/>
          <p:cNvSpPr txBox="1"/>
          <p:nvPr/>
        </p:nvSpPr>
        <p:spPr>
          <a:xfrm>
            <a:off x="4974334" y="2926080"/>
            <a:ext cx="1554480" cy="274320"/>
          </a:xfrm>
          <a:prstGeom prst="rect">
            <a:avLst/>
          </a:prstGeom>
          <a:noFill/>
        </p:spPr>
        <p:txBody>
          <a:bodyPr wrap="square">
            <a:spAutoFit/>
          </a:bodyPr>
          <a:lstStyle/>
          <a:p>
            <a:pPr algn="l"/>
            <a:r>
              <a:rPr sz="900" b="0" i="0">
                <a:solidFill>
                  <a:srgbClr val="64748B"/>
                </a:solidFill>
                <a:latin typeface="Helvetica"/>
              </a:rPr>
              <a:t>481 cycles  /  II=1</a:t>
            </a:r>
          </a:p>
        </p:txBody>
      </p:sp>
      <p:sp>
        <p:nvSpPr>
          <p:cNvPr id="23" name="TextBox 22"/>
          <p:cNvSpPr txBox="1"/>
          <p:nvPr/>
        </p:nvSpPr>
        <p:spPr>
          <a:xfrm>
            <a:off x="6583678" y="2834640"/>
            <a:ext cx="868680" cy="502920"/>
          </a:xfrm>
          <a:prstGeom prst="rect">
            <a:avLst/>
          </a:prstGeom>
          <a:noFill/>
        </p:spPr>
        <p:txBody>
          <a:bodyPr wrap="square">
            <a:spAutoFit/>
          </a:bodyPr>
          <a:lstStyle/>
          <a:p>
            <a:pPr algn="r"/>
            <a:r>
              <a:rPr sz="900" b="0" i="0">
                <a:solidFill>
                  <a:srgbClr val="94A3B8"/>
                </a:solidFill>
                <a:latin typeface="Helvetica"/>
              </a:rPr>
              <a:t>4 DSP</a:t>
            </a:r>
          </a:p>
        </p:txBody>
      </p:sp>
      <p:cxnSp>
        <p:nvCxnSpPr>
          <p:cNvPr id="24" name="Connector 23"/>
          <p:cNvCxnSpPr/>
          <p:nvPr/>
        </p:nvCxnSpPr>
        <p:spPr>
          <a:xfrm>
            <a:off x="4498846" y="2852928"/>
            <a:ext cx="320040" cy="0"/>
          </a:xfrm>
          <a:prstGeom prst="line">
            <a:avLst/>
          </a:prstGeom>
          <a:ln w="25400">
            <a:solidFill>
              <a:srgbClr val="94A3B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598662" y="2724912"/>
            <a:ext cx="1005840" cy="365760"/>
          </a:xfrm>
          <a:prstGeom prst="rect">
            <a:avLst/>
          </a:prstGeom>
          <a:noFill/>
        </p:spPr>
        <p:txBody>
          <a:bodyPr wrap="square">
            <a:spAutoFit/>
          </a:bodyPr>
          <a:lstStyle/>
          <a:p>
            <a:pPr algn="ctr"/>
            <a:r>
              <a:rPr sz="850" b="0" i="1">
                <a:solidFill>
                  <a:srgbClr val="94A3B8"/>
                </a:solidFill>
                <a:latin typeface="Helvetica"/>
              </a:rPr>
              <a:t>mid2[480]</a:t>
            </a:r>
          </a:p>
        </p:txBody>
      </p:sp>
      <p:sp>
        <p:nvSpPr>
          <p:cNvPr id="26" name="Rectangle 25"/>
          <p:cNvSpPr/>
          <p:nvPr/>
        </p:nvSpPr>
        <p:spPr>
          <a:xfrm>
            <a:off x="7900415" y="2176272"/>
            <a:ext cx="2697480" cy="1316736"/>
          </a:xfrm>
          <a:prstGeom prst="rect">
            <a:avLst/>
          </a:prstGeom>
          <a:solidFill>
            <a:srgbClr val="EFF6FF"/>
          </a:solidFill>
          <a:ln w="254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900415" y="2176272"/>
            <a:ext cx="2697480" cy="34747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10142" y="2203704"/>
            <a:ext cx="2487168" cy="292608"/>
          </a:xfrm>
          <a:prstGeom prst="rect">
            <a:avLst/>
          </a:prstGeom>
          <a:noFill/>
        </p:spPr>
        <p:txBody>
          <a:bodyPr wrap="square">
            <a:spAutoFit/>
          </a:bodyPr>
          <a:lstStyle/>
          <a:p>
            <a:pPr algn="l"/>
            <a:r>
              <a:rPr sz="1000" b="1" i="0">
                <a:solidFill>
                  <a:srgbClr val="FFFFFF"/>
                </a:solidFill>
                <a:latin typeface="Helvetica"/>
              </a:rPr>
              <a:t>DELAY_LOOP</a:t>
            </a:r>
          </a:p>
        </p:txBody>
      </p:sp>
      <p:sp>
        <p:nvSpPr>
          <p:cNvPr id="29" name="TextBox 28"/>
          <p:cNvSpPr txBox="1"/>
          <p:nvPr/>
        </p:nvSpPr>
        <p:spPr>
          <a:xfrm>
            <a:off x="8010142" y="2578608"/>
            <a:ext cx="1554480" cy="310896"/>
          </a:xfrm>
          <a:prstGeom prst="rect">
            <a:avLst/>
          </a:prstGeom>
          <a:noFill/>
        </p:spPr>
        <p:txBody>
          <a:bodyPr wrap="square">
            <a:spAutoFit/>
          </a:bodyPr>
          <a:lstStyle/>
          <a:p>
            <a:pPr algn="l"/>
            <a:r>
              <a:rPr sz="1400" b="1" i="0">
                <a:solidFill>
                  <a:srgbClr val="1E40AF"/>
                </a:solidFill>
                <a:latin typeface="Helvetica"/>
              </a:rPr>
              <a:t>Delay</a:t>
            </a:r>
          </a:p>
        </p:txBody>
      </p:sp>
      <p:sp>
        <p:nvSpPr>
          <p:cNvPr id="30" name="TextBox 29"/>
          <p:cNvSpPr txBox="1"/>
          <p:nvPr/>
        </p:nvSpPr>
        <p:spPr>
          <a:xfrm>
            <a:off x="8010142" y="2926080"/>
            <a:ext cx="1554480" cy="274320"/>
          </a:xfrm>
          <a:prstGeom prst="rect">
            <a:avLst/>
          </a:prstGeom>
          <a:noFill/>
        </p:spPr>
        <p:txBody>
          <a:bodyPr wrap="square">
            <a:spAutoFit/>
          </a:bodyPr>
          <a:lstStyle/>
          <a:p>
            <a:pPr algn="l"/>
            <a:r>
              <a:rPr sz="900" b="0" i="0">
                <a:solidFill>
                  <a:srgbClr val="64748B"/>
                </a:solidFill>
                <a:latin typeface="Helvetica"/>
              </a:rPr>
              <a:t>482 cycles  /  II=1</a:t>
            </a:r>
          </a:p>
        </p:txBody>
      </p:sp>
      <p:sp>
        <p:nvSpPr>
          <p:cNvPr id="31" name="TextBox 30"/>
          <p:cNvSpPr txBox="1"/>
          <p:nvPr/>
        </p:nvSpPr>
        <p:spPr>
          <a:xfrm>
            <a:off x="9619487" y="2834640"/>
            <a:ext cx="868680" cy="502920"/>
          </a:xfrm>
          <a:prstGeom prst="rect">
            <a:avLst/>
          </a:prstGeom>
          <a:noFill/>
        </p:spPr>
        <p:txBody>
          <a:bodyPr wrap="square">
            <a:spAutoFit/>
          </a:bodyPr>
          <a:lstStyle/>
          <a:p>
            <a:pPr algn="r"/>
            <a:r>
              <a:rPr sz="900" b="0" i="0">
                <a:solidFill>
                  <a:srgbClr val="94A3B8"/>
                </a:solidFill>
                <a:latin typeface="Helvetica"/>
              </a:rPr>
              <a:t>6 DSP
14 BRAM</a:t>
            </a:r>
          </a:p>
        </p:txBody>
      </p:sp>
      <p:cxnSp>
        <p:nvCxnSpPr>
          <p:cNvPr id="32" name="Connector 31"/>
          <p:cNvCxnSpPr/>
          <p:nvPr/>
        </p:nvCxnSpPr>
        <p:spPr>
          <a:xfrm>
            <a:off x="7534654" y="2852928"/>
            <a:ext cx="320040" cy="0"/>
          </a:xfrm>
          <a:prstGeom prst="line">
            <a:avLst/>
          </a:prstGeom>
          <a:ln w="254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a:cxnSpLocks/>
          </p:cNvCxnSpPr>
          <p:nvPr/>
        </p:nvCxnSpPr>
        <p:spPr>
          <a:xfrm>
            <a:off x="10597896" y="2852928"/>
            <a:ext cx="256032" cy="0"/>
          </a:xfrm>
          <a:prstGeom prst="line">
            <a:avLst/>
          </a:prstGeom>
          <a:ln w="25400">
            <a:solidFill>
              <a:srgbClr val="94A3B8"/>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0872216" y="2304288"/>
            <a:ext cx="1206882" cy="1060704"/>
          </a:xfrm>
          <a:prstGeom prst="rect">
            <a:avLst/>
          </a:prstGeom>
          <a:solidFill>
            <a:srgbClr val="D8F3DC"/>
          </a:solidFill>
          <a:ln w="1905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780650" y="2432304"/>
            <a:ext cx="1298448" cy="274320"/>
          </a:xfrm>
          <a:prstGeom prst="rect">
            <a:avLst/>
          </a:prstGeom>
          <a:noFill/>
        </p:spPr>
        <p:txBody>
          <a:bodyPr wrap="square">
            <a:spAutoFit/>
          </a:bodyPr>
          <a:lstStyle/>
          <a:p>
            <a:pPr algn="ctr"/>
            <a:r>
              <a:rPr sz="1100" b="1" i="0" dirty="0">
                <a:solidFill>
                  <a:srgbClr val="2D6A4F"/>
                </a:solidFill>
                <a:latin typeface="Helvetica"/>
              </a:rPr>
              <a:t>DDR Out</a:t>
            </a:r>
          </a:p>
        </p:txBody>
      </p:sp>
      <p:sp>
        <p:nvSpPr>
          <p:cNvPr id="36" name="TextBox 35"/>
          <p:cNvSpPr txBox="1"/>
          <p:nvPr/>
        </p:nvSpPr>
        <p:spPr>
          <a:xfrm>
            <a:off x="10808082" y="2743200"/>
            <a:ext cx="1298448" cy="457200"/>
          </a:xfrm>
          <a:prstGeom prst="rect">
            <a:avLst/>
          </a:prstGeom>
          <a:noFill/>
        </p:spPr>
        <p:txBody>
          <a:bodyPr wrap="square">
            <a:spAutoFit/>
          </a:bodyPr>
          <a:lstStyle/>
          <a:p>
            <a:pPr algn="ctr"/>
            <a:r>
              <a:rPr sz="900" b="0" i="0" dirty="0">
                <a:solidFill>
                  <a:srgbClr val="64748B"/>
                </a:solidFill>
                <a:latin typeface="Helvetica"/>
              </a:rPr>
              <a:t>480 samples
processed</a:t>
            </a:r>
          </a:p>
        </p:txBody>
      </p:sp>
      <p:sp>
        <p:nvSpPr>
          <p:cNvPr id="37" name="Rectangle 36"/>
          <p:cNvSpPr/>
          <p:nvPr/>
        </p:nvSpPr>
        <p:spPr>
          <a:xfrm>
            <a:off x="0" y="3838652"/>
            <a:ext cx="12179807" cy="9326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0" y="3977639"/>
            <a:ext cx="3218688" cy="475488"/>
          </a:xfrm>
          <a:prstGeom prst="rect">
            <a:avLst/>
          </a:prstGeom>
          <a:solidFill>
            <a:srgbClr val="FFF7ED"/>
          </a:solidFill>
          <a:ln w="1524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2" y="4005072"/>
            <a:ext cx="3108960" cy="402336"/>
          </a:xfrm>
          <a:prstGeom prst="rect">
            <a:avLst/>
          </a:prstGeom>
          <a:noFill/>
        </p:spPr>
        <p:txBody>
          <a:bodyPr wrap="square">
            <a:spAutoFit/>
          </a:bodyPr>
          <a:lstStyle/>
          <a:p>
            <a:pPr algn="ctr"/>
            <a:r>
              <a:rPr sz="1000" b="0" i="0">
                <a:solidFill>
                  <a:srgbClr val="92400E"/>
                </a:solidFill>
                <a:latin typeface="Helvetica"/>
              </a:rPr>
              <a:t>DIST  481 cyc</a:t>
            </a:r>
          </a:p>
        </p:txBody>
      </p:sp>
      <p:sp>
        <p:nvSpPr>
          <p:cNvPr id="40" name="Rectangle 39"/>
          <p:cNvSpPr/>
          <p:nvPr/>
        </p:nvSpPr>
        <p:spPr>
          <a:xfrm>
            <a:off x="3218688" y="3977639"/>
            <a:ext cx="3218688" cy="475488"/>
          </a:xfrm>
          <a:prstGeom prst="rect">
            <a:avLst/>
          </a:prstGeom>
          <a:solidFill>
            <a:srgbClr val="F5F3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005072"/>
            <a:ext cx="3108960" cy="402336"/>
          </a:xfrm>
          <a:prstGeom prst="rect">
            <a:avLst/>
          </a:prstGeom>
          <a:noFill/>
        </p:spPr>
        <p:txBody>
          <a:bodyPr wrap="square">
            <a:spAutoFit/>
          </a:bodyPr>
          <a:lstStyle/>
          <a:p>
            <a:pPr algn="ctr"/>
            <a:r>
              <a:rPr sz="1000" b="0" i="0">
                <a:solidFill>
                  <a:srgbClr val="6D28D9"/>
                </a:solidFill>
                <a:latin typeface="Helvetica"/>
              </a:rPr>
              <a:t>TREM  481 cyc</a:t>
            </a:r>
          </a:p>
        </p:txBody>
      </p:sp>
      <p:sp>
        <p:nvSpPr>
          <p:cNvPr id="42" name="Rectangle 41"/>
          <p:cNvSpPr/>
          <p:nvPr/>
        </p:nvSpPr>
        <p:spPr>
          <a:xfrm>
            <a:off x="6437376" y="3977639"/>
            <a:ext cx="3218688" cy="475488"/>
          </a:xfrm>
          <a:prstGeom prst="rect">
            <a:avLst/>
          </a:prstGeom>
          <a:solidFill>
            <a:srgbClr val="EFF6FF"/>
          </a:solidFill>
          <a:ln w="1524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510528" y="4005072"/>
            <a:ext cx="3108960" cy="402336"/>
          </a:xfrm>
          <a:prstGeom prst="rect">
            <a:avLst/>
          </a:prstGeom>
          <a:noFill/>
        </p:spPr>
        <p:txBody>
          <a:bodyPr wrap="square">
            <a:spAutoFit/>
          </a:bodyPr>
          <a:lstStyle/>
          <a:p>
            <a:pPr algn="ctr"/>
            <a:r>
              <a:rPr sz="1000" b="0" i="0">
                <a:solidFill>
                  <a:srgbClr val="1E40AF"/>
                </a:solidFill>
                <a:latin typeface="Helvetica"/>
              </a:rPr>
              <a:t>DELAY  482 cyc</a:t>
            </a:r>
          </a:p>
        </p:txBody>
      </p:sp>
      <p:sp>
        <p:nvSpPr>
          <p:cNvPr id="44" name="Rectangle 43"/>
          <p:cNvSpPr/>
          <p:nvPr/>
        </p:nvSpPr>
        <p:spPr>
          <a:xfrm>
            <a:off x="9656064" y="3977639"/>
            <a:ext cx="2532761" cy="475488"/>
          </a:xfrm>
          <a:prstGeom prst="rect">
            <a:avLst/>
          </a:prstGeom>
          <a:solidFill>
            <a:srgbClr val="F1F5F9"/>
          </a:solidFill>
          <a:ln w="1524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729216" y="4005072"/>
            <a:ext cx="2450591" cy="402336"/>
          </a:xfrm>
          <a:prstGeom prst="rect">
            <a:avLst/>
          </a:prstGeom>
          <a:noFill/>
        </p:spPr>
        <p:txBody>
          <a:bodyPr wrap="square">
            <a:spAutoFit/>
          </a:bodyPr>
          <a:lstStyle/>
          <a:p>
            <a:pPr algn="ctr"/>
            <a:r>
              <a:rPr sz="1000" b="0" i="0" dirty="0">
                <a:solidFill>
                  <a:srgbClr val="64748B"/>
                </a:solidFill>
                <a:latin typeface="Helvetica"/>
              </a:rPr>
              <a:t>AXI  +5 </a:t>
            </a:r>
            <a:r>
              <a:rPr sz="1000" b="0" i="0" dirty="0" err="1">
                <a:solidFill>
                  <a:srgbClr val="64748B"/>
                </a:solidFill>
                <a:latin typeface="Helvetica"/>
              </a:rPr>
              <a:t>cyc</a:t>
            </a:r>
            <a:endParaRPr sz="1000" b="0" i="0" dirty="0">
              <a:solidFill>
                <a:srgbClr val="64748B"/>
              </a:solidFill>
              <a:latin typeface="Helvetica"/>
            </a:endParaRPr>
          </a:p>
        </p:txBody>
      </p:sp>
      <p:sp>
        <p:nvSpPr>
          <p:cNvPr id="46" name="TextBox 45"/>
          <p:cNvSpPr txBox="1"/>
          <p:nvPr/>
        </p:nvSpPr>
        <p:spPr>
          <a:xfrm>
            <a:off x="-1" y="4572000"/>
            <a:ext cx="12508992" cy="438912"/>
          </a:xfrm>
          <a:prstGeom prst="rect">
            <a:avLst/>
          </a:prstGeom>
          <a:noFill/>
        </p:spPr>
        <p:txBody>
          <a:bodyPr wrap="square">
            <a:spAutoFit/>
          </a:bodyPr>
          <a:lstStyle/>
          <a:p>
            <a:pPr algn="ctr"/>
            <a:r>
              <a:rPr sz="1400" b="1" i="0" dirty="0">
                <a:solidFill>
                  <a:srgbClr val="0F172A"/>
                </a:solidFill>
                <a:latin typeface="Helvetica"/>
              </a:rPr>
              <a:t>Total:  1,469 cycles  @  100 MHz</a:t>
            </a:r>
          </a:p>
        </p:txBody>
      </p:sp>
      <p:sp>
        <p:nvSpPr>
          <p:cNvPr id="47" name="Rectangle 46"/>
          <p:cNvSpPr/>
          <p:nvPr/>
        </p:nvSpPr>
        <p:spPr>
          <a:xfrm>
            <a:off x="182879" y="5120640"/>
            <a:ext cx="8156447" cy="960120"/>
          </a:xfrm>
          <a:prstGeom prst="rect">
            <a:avLst/>
          </a:prstGeom>
          <a:solidFill>
            <a:srgbClr val="D8F3DC"/>
          </a:solidFill>
          <a:ln w="1905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82879" y="5175504"/>
            <a:ext cx="8065008" cy="329184"/>
          </a:xfrm>
          <a:prstGeom prst="rect">
            <a:avLst/>
          </a:prstGeom>
          <a:noFill/>
        </p:spPr>
        <p:txBody>
          <a:bodyPr wrap="square">
            <a:spAutoFit/>
          </a:bodyPr>
          <a:lstStyle/>
          <a:p>
            <a:pPr algn="l"/>
            <a:r>
              <a:rPr sz="1200" b="1" i="0">
                <a:solidFill>
                  <a:srgbClr val="2D6A4F"/>
                </a:solidFill>
                <a:latin typeface="Helvetica"/>
              </a:rPr>
              <a:t>Delay loop hit II=1 despite BRAM read-write on the same buffer.</a:t>
            </a:r>
          </a:p>
        </p:txBody>
      </p:sp>
      <p:sp>
        <p:nvSpPr>
          <p:cNvPr id="49" name="TextBox 48"/>
          <p:cNvSpPr txBox="1"/>
          <p:nvPr/>
        </p:nvSpPr>
        <p:spPr>
          <a:xfrm>
            <a:off x="182879" y="5468112"/>
            <a:ext cx="8065008" cy="475488"/>
          </a:xfrm>
          <a:prstGeom prst="rect">
            <a:avLst/>
          </a:prstGeom>
          <a:noFill/>
        </p:spPr>
        <p:txBody>
          <a:bodyPr wrap="square">
            <a:spAutoFit/>
          </a:bodyPr>
          <a:lstStyle/>
          <a:p>
            <a:pPr algn="l"/>
            <a:r>
              <a:rPr sz="1050" b="0" i="0">
                <a:solidFill>
                  <a:srgbClr val="64748B"/>
                </a:solidFill>
                <a:latin typeface="Helvetica"/>
              </a:rPr>
              <a:t>HLS would normally force II=2 for the read-then-write pattern. The DEPENDENCE pragma told it the accesses are safe.</a:t>
            </a:r>
          </a:p>
        </p:txBody>
      </p:sp>
      <p:sp>
        <p:nvSpPr>
          <p:cNvPr id="50" name="Rectangle 49"/>
          <p:cNvSpPr/>
          <p:nvPr/>
        </p:nvSpPr>
        <p:spPr>
          <a:xfrm>
            <a:off x="8485631" y="5120640"/>
            <a:ext cx="3520315" cy="960120"/>
          </a:xfrm>
          <a:prstGeom prst="rect">
            <a:avLst/>
          </a:prstGeom>
          <a:solidFill>
            <a:srgbClr val="D8F3DC"/>
          </a:solidFill>
          <a:ln w="1905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631935" y="5175504"/>
            <a:ext cx="3730752" cy="329184"/>
          </a:xfrm>
          <a:prstGeom prst="rect">
            <a:avLst/>
          </a:prstGeom>
          <a:noFill/>
        </p:spPr>
        <p:txBody>
          <a:bodyPr wrap="square">
            <a:spAutoFit/>
          </a:bodyPr>
          <a:lstStyle/>
          <a:p>
            <a:pPr algn="ctr"/>
            <a:r>
              <a:rPr sz="1300" b="1" i="0">
                <a:solidFill>
                  <a:srgbClr val="2D6A4F"/>
                </a:solidFill>
                <a:latin typeface="Helvetica"/>
              </a:rPr>
              <a:t>Verified on hardware</a:t>
            </a:r>
          </a:p>
        </p:txBody>
      </p:sp>
      <p:sp>
        <p:nvSpPr>
          <p:cNvPr id="52" name="TextBox 51"/>
          <p:cNvSpPr txBox="1"/>
          <p:nvPr/>
        </p:nvSpPr>
        <p:spPr>
          <a:xfrm>
            <a:off x="8631935" y="5468112"/>
            <a:ext cx="3730752" cy="400110"/>
          </a:xfrm>
          <a:prstGeom prst="rect">
            <a:avLst/>
          </a:prstGeom>
          <a:noFill/>
        </p:spPr>
        <p:txBody>
          <a:bodyPr wrap="square">
            <a:spAutoFit/>
          </a:bodyPr>
          <a:lstStyle/>
          <a:p>
            <a:pPr algn="ctr"/>
            <a:r>
              <a:rPr sz="1000" b="0" i="0">
                <a:solidFill>
                  <a:srgbClr val="64748B"/>
                </a:solidFill>
                <a:latin typeface="Helvetica"/>
              </a:rPr>
              <a:t>42.31 µs measured  /  bit-exact PASS (1 chunk)
state-continuity test inconclusive (re-run ordering)</a:t>
            </a:r>
          </a:p>
        </p:txBody>
      </p:sp>
    </p:spTree>
    <p:extLst>
      <p:ext uri="{BB962C8B-B14F-4D97-AF65-F5344CB8AC3E}">
        <p14:creationId xmlns:p14="http://schemas.microsoft.com/office/powerpoint/2010/main" val="2458130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4572000" cy="256032"/>
          </a:xfrm>
          <a:prstGeom prst="rect">
            <a:avLst/>
          </a:prstGeom>
          <a:noFill/>
        </p:spPr>
        <p:txBody>
          <a:bodyPr wrap="square">
            <a:spAutoFit/>
          </a:bodyPr>
          <a:lstStyle/>
          <a:p>
            <a:pPr algn="l"/>
            <a:r>
              <a:rPr sz="850" b="1" i="0">
                <a:solidFill>
                  <a:srgbClr val="2D6A4F"/>
                </a:solidFill>
                <a:latin typeface="Helvetica"/>
              </a:rPr>
              <a:t>BUILD 2</a:t>
            </a:r>
          </a:p>
        </p:txBody>
      </p:sp>
      <p:sp>
        <p:nvSpPr>
          <p:cNvPr id="4" name="TextBox 3"/>
          <p:cNvSpPr txBox="1"/>
          <p:nvPr/>
        </p:nvSpPr>
        <p:spPr>
          <a:xfrm>
            <a:off x="457200" y="420624"/>
            <a:ext cx="11247120" cy="749808"/>
          </a:xfrm>
          <a:prstGeom prst="rect">
            <a:avLst/>
          </a:prstGeom>
          <a:noFill/>
        </p:spPr>
        <p:txBody>
          <a:bodyPr wrap="square">
            <a:spAutoFit/>
          </a:bodyPr>
          <a:lstStyle/>
          <a:p>
            <a:pPr algn="l"/>
            <a:r>
              <a:rPr sz="3400" b="1" i="0">
                <a:solidFill>
                  <a:srgbClr val="0F172A"/>
                </a:solidFill>
                <a:latin typeface="Helvetica"/>
              </a:rPr>
              <a:t>Build 2 — DATAFLOW</a:t>
            </a:r>
          </a:p>
        </p:txBody>
      </p:sp>
      <p:sp>
        <p:nvSpPr>
          <p:cNvPr id="5" name="TextBox 4"/>
          <p:cNvSpPr txBox="1"/>
          <p:nvPr/>
        </p:nvSpPr>
        <p:spPr>
          <a:xfrm>
            <a:off x="457200" y="1115568"/>
            <a:ext cx="11247120" cy="307777"/>
          </a:xfrm>
          <a:prstGeom prst="rect">
            <a:avLst/>
          </a:prstGeom>
          <a:noFill/>
        </p:spPr>
        <p:txBody>
          <a:bodyPr wrap="square">
            <a:spAutoFit/>
          </a:bodyPr>
          <a:lstStyle/>
          <a:p>
            <a:pPr algn="l"/>
            <a:r>
              <a:rPr lang="en-US" sz="1400" b="0" i="0" dirty="0">
                <a:solidFill>
                  <a:srgbClr val="64748B"/>
                </a:solidFill>
                <a:latin typeface="Helvetica"/>
              </a:rPr>
              <a:t>Same compute, but DATAFLOW: stages run concurrently instead of back-to-back</a:t>
            </a:r>
          </a:p>
        </p:txBody>
      </p:sp>
      <p:sp>
        <p:nvSpPr>
          <p:cNvPr id="6" name="Rectangle 5"/>
          <p:cNvSpPr/>
          <p:nvPr/>
        </p:nvSpPr>
        <p:spPr>
          <a:xfrm>
            <a:off x="457200" y="1517904"/>
            <a:ext cx="11247120" cy="201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2249932"/>
            <a:ext cx="5349240" cy="1572768"/>
          </a:xfrm>
          <a:prstGeom prst="rect">
            <a:avLst/>
          </a:prstGeom>
          <a:solidFill>
            <a:srgbClr val="D8F3DC"/>
          </a:solidFill>
          <a:ln w="1905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2304796"/>
            <a:ext cx="5074920" cy="310896"/>
          </a:xfrm>
          <a:prstGeom prst="rect">
            <a:avLst/>
          </a:prstGeom>
          <a:noFill/>
        </p:spPr>
        <p:txBody>
          <a:bodyPr wrap="square">
            <a:spAutoFit/>
          </a:bodyPr>
          <a:lstStyle/>
          <a:p>
            <a:pPr algn="l"/>
            <a:r>
              <a:rPr lang="en-US" sz="1400" b="1" i="0" dirty="0">
                <a:solidFill>
                  <a:srgbClr val="2D6A4F"/>
                </a:solidFill>
                <a:latin typeface="Helvetica"/>
              </a:rPr>
              <a:t>What DATAFLOW achieved</a:t>
            </a:r>
          </a:p>
        </p:txBody>
      </p:sp>
      <p:sp>
        <p:nvSpPr>
          <p:cNvPr id="10" name="TextBox 9"/>
          <p:cNvSpPr txBox="1"/>
          <p:nvPr/>
        </p:nvSpPr>
        <p:spPr>
          <a:xfrm>
            <a:off x="530352" y="2652268"/>
            <a:ext cx="5074920" cy="954107"/>
          </a:xfrm>
          <a:prstGeom prst="rect">
            <a:avLst/>
          </a:prstGeom>
          <a:noFill/>
        </p:spPr>
        <p:txBody>
          <a:bodyPr wrap="square">
            <a:spAutoFit/>
          </a:bodyPr>
          <a:lstStyle/>
          <a:p>
            <a:pPr algn="l"/>
            <a:r>
              <a:rPr lang="en-US" sz="1400" b="0" i="0" dirty="0">
                <a:solidFill>
                  <a:srgbClr val="1E293B"/>
                </a:solidFill>
                <a:latin typeface="Helvetica"/>
              </a:rPr>
              <a:t>II: 1,470 → 493 cycles (~3× throughput).
New chunk starts every 493 cycles in streaming mode.
HLS ping-pong BRAMs unchanged (same block count).
DATAFLOW overhead: LUT +20%, FF +40%.</a:t>
            </a:r>
          </a:p>
        </p:txBody>
      </p:sp>
      <p:sp>
        <p:nvSpPr>
          <p:cNvPr id="11" name="Rectangle 10"/>
          <p:cNvSpPr/>
          <p:nvPr/>
        </p:nvSpPr>
        <p:spPr>
          <a:xfrm>
            <a:off x="5989320" y="2249932"/>
            <a:ext cx="6172200" cy="1572768"/>
          </a:xfrm>
          <a:prstGeom prst="rect">
            <a:avLst/>
          </a:prstGeom>
          <a:solidFill>
            <a:srgbClr val="FFF7ED"/>
          </a:solidFill>
          <a:ln w="1905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53912" y="2304796"/>
            <a:ext cx="5897880" cy="307777"/>
          </a:xfrm>
          <a:prstGeom prst="rect">
            <a:avLst/>
          </a:prstGeom>
          <a:noFill/>
        </p:spPr>
        <p:txBody>
          <a:bodyPr wrap="square">
            <a:spAutoFit/>
          </a:bodyPr>
          <a:lstStyle/>
          <a:p>
            <a:pPr algn="l"/>
            <a:r>
              <a:rPr lang="en-US" sz="1400" b="1" i="0" dirty="0">
                <a:solidFill>
                  <a:srgbClr val="1D4ED8"/>
                </a:solidFill>
                <a:latin typeface="Helvetica"/>
              </a:rPr>
              <a:t>Measured result</a:t>
            </a:r>
          </a:p>
        </p:txBody>
      </p:sp>
      <p:sp>
        <p:nvSpPr>
          <p:cNvPr id="13" name="TextBox 12"/>
          <p:cNvSpPr txBox="1"/>
          <p:nvPr/>
        </p:nvSpPr>
        <p:spPr>
          <a:xfrm>
            <a:off x="6153912" y="2652268"/>
            <a:ext cx="5897880" cy="738664"/>
          </a:xfrm>
          <a:prstGeom prst="rect">
            <a:avLst/>
          </a:prstGeom>
          <a:noFill/>
        </p:spPr>
        <p:txBody>
          <a:bodyPr wrap="square">
            <a:spAutoFit/>
          </a:bodyPr>
          <a:lstStyle/>
          <a:p>
            <a:pPr algn="l"/>
            <a:r>
              <a:rPr lang="en-US" sz="1400" b="0" i="0" dirty="0">
                <a:solidFill>
                  <a:srgbClr val="1E293B"/>
                </a:solidFill>
                <a:latin typeface="Helvetica"/>
              </a:rPr>
              <a:t>B1 = 42.3 μs, B2 = 33.0 μs — 1.28× wall-clock speedup.
B2 faster even in sequential mode (better AXI/DDR access).
Bit-exact PASS on both builds.</a:t>
            </a:r>
          </a:p>
        </p:txBody>
      </p:sp>
      <p:sp>
        <p:nvSpPr>
          <p:cNvPr id="30" name="PPHeader"/>
          <p:cNvSpPr>
            <a:spLocks noGrp="1"/>
          </p:cNvSpPr>
          <p:nvPr/>
        </p:nvSpPr>
        <p:spPr>
          <a:xfrm>
            <a:off x="457200" y="3962400"/>
            <a:ext cx="11264900" cy="304800"/>
          </a:xfrm>
          <a:prstGeom prst="rect">
            <a:avLst/>
          </a:prstGeom>
          <a:solidFill>
            <a:srgbClr val="0F172A"/>
          </a:solidFill>
          <a:ln>
            <a:noFill/>
          </a:ln>
        </p:spPr>
        <p:txBody>
          <a:bodyPr lIns="91440" tIns="0" rIns="91440" bIns="0" anchor="ctr"/>
          <a:lstStyle/>
          <a:p>
            <a:pPr algn="l"/>
            <a:r>
              <a:rPr lang="en-US" sz="1300" b="1" dirty="0">
                <a:solidFill>
                  <a:srgbClr val="FFFFFF"/>
                </a:solidFill>
                <a:latin typeface="Helvetica"/>
              </a:rPr>
              <a:t>How DATAFLOW ping-pong works — 3 chunks in flight simultaneously</a:t>
            </a:r>
          </a:p>
        </p:txBody>
      </p:sp>
      <p:sp>
        <p:nvSpPr>
          <p:cNvPr id="31" name="StageDistortion"/>
          <p:cNvSpPr>
            <a:spLocks noGrp="1"/>
          </p:cNvSpPr>
          <p:nvPr/>
        </p:nvSpPr>
        <p:spPr>
          <a:xfrm>
            <a:off x="457200" y="4318000"/>
            <a:ext cx="3429000" cy="1371600"/>
          </a:xfrm>
          <a:prstGeom prst="roundRect">
            <a:avLst>
              <a:gd name="adj" fmla="val 10000"/>
            </a:avLst>
          </a:prstGeom>
          <a:solidFill>
            <a:srgbClr val="2D6A4F"/>
          </a:solidFill>
          <a:ln>
            <a:noFill/>
          </a:ln>
        </p:spPr>
        <p:txBody>
          <a:bodyPr lIns="91440" tIns="45720" rIns="91440" bIns="45720" anchor="ctr"/>
          <a:lstStyle/>
          <a:p>
            <a:pPr algn="ctr"/>
            <a:r>
              <a:rPr lang="en-US" sz="1300" b="1" dirty="0">
                <a:solidFill>
                  <a:srgbClr val="FFFFFF"/>
                </a:solidFill>
                <a:latin typeface="Helvetica"/>
              </a:rPr>
              <a:t>do_distortion</a:t>
            </a:r>
          </a:p>
          <a:p>
            <a:pPr algn="ctr"/>
            <a:r>
              <a:rPr lang="en-US" sz="1100" b="0" dirty="0">
                <a:solidFill>
                  <a:srgbClr val="B7E4C7"/>
                </a:solidFill>
                <a:latin typeface="Helvetica"/>
              </a:rPr>
              <a:t>working on chunk N+2</a:t>
            </a:r>
          </a:p>
          <a:p>
            <a:pPr algn="ctr"/>
            <a:r>
              <a:rPr lang="en-US" sz="1000" b="0" i="1" dirty="0">
                <a:solidFill>
                  <a:srgbClr val="B7E4C7"/>
                </a:solidFill>
                <a:latin typeface="Helvetica"/>
              </a:rPr>
              <a:t>writes → mid1[A]</a:t>
            </a:r>
          </a:p>
        </p:txBody>
      </p:sp>
      <p:sp>
        <p:nvSpPr>
          <p:cNvPr id="32" name="Arrow1"/>
          <p:cNvSpPr>
            <a:spLocks noGrp="1"/>
          </p:cNvSpPr>
          <p:nvPr/>
        </p:nvSpPr>
        <p:spPr>
          <a:xfrm>
            <a:off x="3886200" y="4737100"/>
            <a:ext cx="457200" cy="508000"/>
          </a:xfrm>
          <a:prstGeom prst="rightArrow">
            <a:avLst>
              <a:gd name="adj1" fmla="val 50000"/>
              <a:gd name="adj2" fmla="val 50000"/>
            </a:avLst>
          </a:prstGeom>
          <a:solidFill>
            <a:srgbClr val="475569"/>
          </a:solidFill>
          <a:ln>
            <a:noFill/>
          </a:ln>
        </p:spPr>
        <p:txBody>
          <a:bodyPr/>
          <a:lstStyle/>
          <a:p>
            <a:endParaRPr lang="en-US" dirty="0"/>
          </a:p>
        </p:txBody>
      </p:sp>
      <p:sp>
        <p:nvSpPr>
          <p:cNvPr id="34" name="StageTremolo"/>
          <p:cNvSpPr>
            <a:spLocks noGrp="1"/>
          </p:cNvSpPr>
          <p:nvPr/>
        </p:nvSpPr>
        <p:spPr>
          <a:xfrm>
            <a:off x="4343400" y="4318000"/>
            <a:ext cx="3429000" cy="1371600"/>
          </a:xfrm>
          <a:prstGeom prst="roundRect">
            <a:avLst>
              <a:gd name="adj" fmla="val 10000"/>
            </a:avLst>
          </a:prstGeom>
          <a:solidFill>
            <a:srgbClr val="1D4ED8"/>
          </a:solidFill>
          <a:ln>
            <a:noFill/>
          </a:ln>
        </p:spPr>
        <p:txBody>
          <a:bodyPr lIns="91440" tIns="45720" rIns="91440" bIns="45720" anchor="ctr"/>
          <a:lstStyle/>
          <a:p>
            <a:pPr algn="ctr"/>
            <a:r>
              <a:rPr lang="en-US" sz="1300" b="1" dirty="0">
                <a:solidFill>
                  <a:srgbClr val="FFFFFF"/>
                </a:solidFill>
                <a:latin typeface="Helvetica"/>
              </a:rPr>
              <a:t>do_tremolo</a:t>
            </a:r>
          </a:p>
          <a:p>
            <a:pPr algn="ctr"/>
            <a:r>
              <a:rPr lang="en-US" sz="1100" b="0" dirty="0">
                <a:solidFill>
                  <a:srgbClr val="BFDBFE"/>
                </a:solidFill>
                <a:latin typeface="Helvetica"/>
              </a:rPr>
              <a:t>working on chunk N+1</a:t>
            </a:r>
          </a:p>
          <a:p>
            <a:pPr algn="ctr"/>
            <a:r>
              <a:rPr lang="en-US" sz="1000" b="0" i="1" dirty="0">
                <a:solidFill>
                  <a:srgbClr val="BFDBFE"/>
                </a:solidFill>
                <a:latin typeface="Helvetica"/>
              </a:rPr>
              <a:t>reads mid1[B] → writes mid2[A]</a:t>
            </a:r>
          </a:p>
        </p:txBody>
      </p:sp>
      <p:sp>
        <p:nvSpPr>
          <p:cNvPr id="35" name="Arrow2"/>
          <p:cNvSpPr>
            <a:spLocks noGrp="1"/>
          </p:cNvSpPr>
          <p:nvPr/>
        </p:nvSpPr>
        <p:spPr>
          <a:xfrm>
            <a:off x="7772400" y="4737100"/>
            <a:ext cx="457200" cy="508000"/>
          </a:xfrm>
          <a:prstGeom prst="rightArrow">
            <a:avLst>
              <a:gd name="adj1" fmla="val 50000"/>
              <a:gd name="adj2" fmla="val 50000"/>
            </a:avLst>
          </a:prstGeom>
          <a:solidFill>
            <a:srgbClr val="475569"/>
          </a:solidFill>
          <a:ln>
            <a:noFill/>
          </a:ln>
        </p:spPr>
        <p:txBody>
          <a:bodyPr/>
          <a:lstStyle/>
          <a:p>
            <a:endParaRPr lang="en-US" dirty="0"/>
          </a:p>
        </p:txBody>
      </p:sp>
      <p:sp>
        <p:nvSpPr>
          <p:cNvPr id="37" name="StageDelay"/>
          <p:cNvSpPr>
            <a:spLocks noGrp="1"/>
          </p:cNvSpPr>
          <p:nvPr/>
        </p:nvSpPr>
        <p:spPr>
          <a:xfrm>
            <a:off x="8229600" y="4318000"/>
            <a:ext cx="3492500" cy="1371600"/>
          </a:xfrm>
          <a:prstGeom prst="roundRect">
            <a:avLst>
              <a:gd name="adj" fmla="val 10000"/>
            </a:avLst>
          </a:prstGeom>
          <a:solidFill>
            <a:srgbClr val="4C1D95"/>
          </a:solidFill>
          <a:ln>
            <a:noFill/>
          </a:ln>
        </p:spPr>
        <p:txBody>
          <a:bodyPr lIns="91440" tIns="45720" rIns="91440" bIns="45720" anchor="ctr"/>
          <a:lstStyle/>
          <a:p>
            <a:pPr algn="ctr"/>
            <a:r>
              <a:rPr lang="en-US" sz="1300" b="1" dirty="0">
                <a:solidFill>
                  <a:srgbClr val="FFFFFF"/>
                </a:solidFill>
                <a:latin typeface="Helvetica"/>
              </a:rPr>
              <a:t>do_delay</a:t>
            </a:r>
          </a:p>
          <a:p>
            <a:pPr algn="ctr"/>
            <a:r>
              <a:rPr lang="en-US" sz="1100" b="0" dirty="0">
                <a:solidFill>
                  <a:srgbClr val="DDD6FE"/>
                </a:solidFill>
                <a:latin typeface="Helvetica"/>
              </a:rPr>
              <a:t>working on chunk N</a:t>
            </a:r>
          </a:p>
          <a:p>
            <a:pPr algn="ctr"/>
            <a:r>
              <a:rPr lang="en-US" sz="1000" b="0" i="1" dirty="0">
                <a:solidFill>
                  <a:srgbClr val="DDD6FE"/>
                </a:solidFill>
                <a:latin typeface="Helvetica"/>
              </a:rPr>
              <a:t>reads mid2[B] → out</a:t>
            </a:r>
          </a:p>
        </p:txBody>
      </p:sp>
      <p:sp>
        <p:nvSpPr>
          <p:cNvPr id="38" name="DelayBufBox"/>
          <p:cNvSpPr>
            <a:spLocks noGrp="1"/>
          </p:cNvSpPr>
          <p:nvPr/>
        </p:nvSpPr>
        <p:spPr>
          <a:xfrm>
            <a:off x="8229600" y="5765800"/>
            <a:ext cx="3492500" cy="685800"/>
          </a:xfrm>
          <a:prstGeom prst="roundRect">
            <a:avLst>
              <a:gd name="adj" fmla="val 8000"/>
            </a:avLst>
          </a:prstGeom>
          <a:solidFill>
            <a:srgbClr val="F5F3FF"/>
          </a:solidFill>
          <a:ln w="19050">
            <a:solidFill>
              <a:srgbClr val="4C1D95"/>
            </a:solidFill>
            <a:prstDash val="sysDash"/>
          </a:ln>
        </p:spPr>
        <p:txBody>
          <a:bodyPr lIns="91440" tIns="45720" rIns="91440" bIns="45720" anchor="ctr"/>
          <a:lstStyle/>
          <a:p>
            <a:pPr algn="ctr"/>
            <a:r>
              <a:rPr lang="en-US" sz="1100" b="1" dirty="0">
                <a:solidFill>
                  <a:srgbClr val="4C1D95"/>
                </a:solidFill>
                <a:latin typeface="Helvetica"/>
              </a:rPr>
              <a:t>delay_buf[19200]</a:t>
            </a:r>
          </a:p>
          <a:p>
            <a:pPr algn="ctr"/>
            <a:r>
              <a:rPr lang="en-US" sz="1000" b="0" dirty="0">
                <a:solidFill>
                  <a:srgbClr val="6D28D9"/>
                </a:solidFill>
                <a:latin typeface="Helvetica"/>
              </a:rPr>
              <a:t>static — ~400 ms rolling history</a:t>
            </a:r>
          </a:p>
          <a:p>
            <a:pPr algn="ctr"/>
            <a:r>
              <a:rPr lang="en-US" sz="1000" b="0" i="1" dirty="0">
                <a:solidFill>
                  <a:srgbClr val="6D28D9"/>
                </a:solidFill>
                <a:latin typeface="Helvetica"/>
              </a:rPr>
              <a:t>NOT ping-ponged (one true history)</a:t>
            </a:r>
          </a:p>
        </p:txBody>
      </p:sp>
      <p:sp>
        <p:nvSpPr>
          <p:cNvPr id="39" name="DelayConnector"/>
          <p:cNvSpPr>
            <a:spLocks noGrp="1"/>
          </p:cNvSpPr>
          <p:nvPr/>
        </p:nvSpPr>
        <p:spPr>
          <a:xfrm>
            <a:off x="9969500" y="5689600"/>
            <a:ext cx="25400" cy="101600"/>
          </a:xfrm>
          <a:prstGeom prst="rect">
            <a:avLst/>
          </a:prstGeom>
          <a:solidFill>
            <a:srgbClr val="4C1D95"/>
          </a:solidFill>
          <a:ln>
            <a:noFill/>
          </a:ln>
        </p:spPr>
        <p:txBody>
          <a:bodyPr/>
          <a:lstStyle/>
          <a:p>
            <a:endParaRPr lang="en-US" dirty="0"/>
          </a:p>
        </p:txBody>
      </p:sp>
      <p:sp>
        <p:nvSpPr>
          <p:cNvPr id="40" name="PPNote"/>
          <p:cNvSpPr>
            <a:spLocks noGrp="1"/>
          </p:cNvSpPr>
          <p:nvPr/>
        </p:nvSpPr>
        <p:spPr>
          <a:xfrm>
            <a:off x="457200" y="6477000"/>
            <a:ext cx="11264900" cy="355600"/>
          </a:xfrm>
          <a:prstGeom prst="rect">
            <a:avLst/>
          </a:prstGeom>
          <a:solidFill>
            <a:srgbClr val="F1F5F9"/>
          </a:solidFill>
          <a:ln>
            <a:solidFill>
              <a:srgbClr val="CBD5E1"/>
            </a:solidFill>
          </a:ln>
        </p:spPr>
        <p:txBody>
          <a:bodyPr lIns="114300" tIns="45720" rIns="114300" bIns="45720" anchor="ctr"/>
          <a:lstStyle/>
          <a:p>
            <a:pPr algn="l"/>
            <a:r>
              <a:rPr lang="en-US" sz="1100" b="1" dirty="0">
                <a:solidFill>
                  <a:srgbClr val="374151"/>
                </a:solidFill>
                <a:latin typeface="Helvetica"/>
              </a:rPr>
              <a:t>mid1 / mid2 </a:t>
            </a:r>
            <a:r>
              <a:rPr lang="en-US" sz="1100" b="0" dirty="0">
                <a:solidFill>
                  <a:srgbClr val="374151"/>
                </a:solidFill>
                <a:latin typeface="Helvetica"/>
              </a:rPr>
              <a:t>are chunk-sized handoffs (480 samples each) — HLS allocates </a:t>
            </a:r>
            <a:r>
              <a:rPr lang="en-US" sz="1100" b="1" dirty="0">
                <a:solidFill>
                  <a:srgbClr val="374151"/>
                </a:solidFill>
                <a:latin typeface="Helvetica"/>
              </a:rPr>
              <a:t>two physical BRAMs each</a:t>
            </a:r>
            <a:r>
              <a:rPr lang="en-US" sz="1100" b="0" dirty="0">
                <a:solidFill>
                  <a:srgbClr val="374151"/>
                </a:solidFill>
                <a:latin typeface="Helvetica"/>
              </a:rPr>
              <a:t> and toggles a pointer every chunk. II = 493 cycles because do_delay (the slowest stage) takes ~480 cycles to walk all 480 samples.</a:t>
            </a:r>
          </a:p>
        </p:txBody>
      </p:sp>
    </p:spTree>
    <p:extLst>
      <p:ext uri="{BB962C8B-B14F-4D97-AF65-F5344CB8AC3E}">
        <p14:creationId xmlns:p14="http://schemas.microsoft.com/office/powerpoint/2010/main" val="149860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4572000" cy="256032"/>
          </a:xfrm>
          <a:prstGeom prst="rect">
            <a:avLst/>
          </a:prstGeom>
          <a:noFill/>
        </p:spPr>
        <p:txBody>
          <a:bodyPr wrap="square">
            <a:spAutoFit/>
          </a:bodyPr>
          <a:lstStyle/>
          <a:p>
            <a:pPr algn="l"/>
            <a:r>
              <a:rPr sz="850" b="1" i="0">
                <a:solidFill>
                  <a:srgbClr val="2D6A4F"/>
                </a:solidFill>
                <a:latin typeface="Helvetica"/>
              </a:rPr>
              <a:t>RESULTS</a:t>
            </a:r>
          </a:p>
        </p:txBody>
      </p:sp>
      <p:sp>
        <p:nvSpPr>
          <p:cNvPr id="4" name="TextBox 3"/>
          <p:cNvSpPr txBox="1"/>
          <p:nvPr/>
        </p:nvSpPr>
        <p:spPr>
          <a:xfrm>
            <a:off x="457200" y="420624"/>
            <a:ext cx="11247120" cy="749808"/>
          </a:xfrm>
          <a:prstGeom prst="rect">
            <a:avLst/>
          </a:prstGeom>
          <a:noFill/>
        </p:spPr>
        <p:txBody>
          <a:bodyPr wrap="square">
            <a:spAutoFit/>
          </a:bodyPr>
          <a:lstStyle/>
          <a:p>
            <a:pPr algn="l"/>
            <a:r>
              <a:rPr sz="3400" b="1" i="0" dirty="0">
                <a:solidFill>
                  <a:srgbClr val="0F172A"/>
                </a:solidFill>
                <a:latin typeface="Helvetica"/>
              </a:rPr>
              <a:t>Hardware &amp; Implementation Results</a:t>
            </a:r>
          </a:p>
        </p:txBody>
      </p:sp>
      <p:sp>
        <p:nvSpPr>
          <p:cNvPr id="5" name="TextBox 4"/>
          <p:cNvSpPr txBox="1"/>
          <p:nvPr/>
        </p:nvSpPr>
        <p:spPr>
          <a:xfrm>
            <a:off x="457200" y="1115568"/>
            <a:ext cx="11247120" cy="347472"/>
          </a:xfrm>
          <a:prstGeom prst="rect">
            <a:avLst/>
          </a:prstGeom>
          <a:noFill/>
        </p:spPr>
        <p:txBody>
          <a:bodyPr wrap="square">
            <a:spAutoFit/>
          </a:bodyPr>
          <a:lstStyle/>
          <a:p>
            <a:pPr algn="l"/>
            <a:r>
              <a:rPr sz="1300" b="0" i="0">
                <a:solidFill>
                  <a:srgbClr val="64748B"/>
                </a:solidFill>
                <a:latin typeface="Helvetica"/>
              </a:rPr>
              <a:t>Measured on AUP-ZU3  |  Vivado 2024.1 post-P&amp;R  |  xczu3eg-sfvc784-2-e @ 100 MHz</a:t>
            </a:r>
          </a:p>
        </p:txBody>
      </p:sp>
      <p:sp>
        <p:nvSpPr>
          <p:cNvPr id="6" name="Rectangle 5"/>
          <p:cNvSpPr/>
          <p:nvPr/>
        </p:nvSpPr>
        <p:spPr>
          <a:xfrm>
            <a:off x="457200" y="1517904"/>
            <a:ext cx="11247120" cy="201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737360"/>
            <a:ext cx="2788920" cy="1664208"/>
          </a:xfrm>
          <a:prstGeom prst="rect">
            <a:avLst/>
          </a:prstGeom>
          <a:solidFill>
            <a:srgbClr val="D8F3DC"/>
          </a:solidFill>
          <a:ln w="2286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 y="1828800"/>
            <a:ext cx="2542032" cy="492443"/>
          </a:xfrm>
          <a:prstGeom prst="rect">
            <a:avLst/>
          </a:prstGeom>
          <a:noFill/>
        </p:spPr>
        <p:txBody>
          <a:bodyPr wrap="square">
            <a:spAutoFit/>
          </a:bodyPr>
          <a:lstStyle/>
          <a:p>
            <a:pPr algn="ctr"/>
            <a:r>
              <a:rPr sz="2600" b="1" i="0">
                <a:solidFill>
                  <a:srgbClr val="2D6A4F"/>
                </a:solidFill>
                <a:latin typeface="Helvetica"/>
              </a:rPr>
              <a:t>32.97 µs</a:t>
            </a:r>
          </a:p>
        </p:txBody>
      </p:sp>
      <p:sp>
        <p:nvSpPr>
          <p:cNvPr id="9" name="TextBox 8"/>
          <p:cNvSpPr txBox="1"/>
          <p:nvPr/>
        </p:nvSpPr>
        <p:spPr>
          <a:xfrm>
            <a:off x="493776" y="2834640"/>
            <a:ext cx="2542032" cy="430887"/>
          </a:xfrm>
          <a:prstGeom prst="rect">
            <a:avLst/>
          </a:prstGeom>
          <a:noFill/>
        </p:spPr>
        <p:txBody>
          <a:bodyPr wrap="square">
            <a:spAutoFit/>
          </a:bodyPr>
          <a:lstStyle/>
          <a:p>
            <a:pPr algn="ctr"/>
            <a:r>
              <a:rPr lang="en-US" sz="1100" b="0" i="0" dirty="0">
                <a:solidFill>
                  <a:srgbClr val="64748B"/>
                </a:solidFill>
                <a:latin typeface="Helvetica"/>
              </a:rPr>
              <a:t>measured round-trip
(B2 optimized path)</a:t>
            </a:r>
          </a:p>
        </p:txBody>
      </p:sp>
      <p:sp>
        <p:nvSpPr>
          <p:cNvPr id="10" name="Rectangle 9"/>
          <p:cNvSpPr/>
          <p:nvPr/>
        </p:nvSpPr>
        <p:spPr>
          <a:xfrm>
            <a:off x="3310128" y="1737360"/>
            <a:ext cx="2788920" cy="1664208"/>
          </a:xfrm>
          <a:prstGeom prst="rect">
            <a:avLst/>
          </a:prstGeom>
          <a:solidFill>
            <a:srgbClr val="EFF6FF"/>
          </a:solidFill>
          <a:ln w="2286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38144" y="1828800"/>
            <a:ext cx="2542032" cy="492443"/>
          </a:xfrm>
          <a:prstGeom prst="rect">
            <a:avLst/>
          </a:prstGeom>
          <a:noFill/>
        </p:spPr>
        <p:txBody>
          <a:bodyPr wrap="square">
            <a:spAutoFit/>
          </a:bodyPr>
          <a:lstStyle/>
          <a:p>
            <a:pPr algn="ctr"/>
            <a:r>
              <a:rPr sz="2600" b="1" i="0">
                <a:solidFill>
                  <a:srgbClr val="1E40AF"/>
                </a:solidFill>
                <a:latin typeface="Helvetica"/>
              </a:rPr>
              <a:t>1.28×</a:t>
            </a:r>
          </a:p>
        </p:txBody>
      </p:sp>
      <p:sp>
        <p:nvSpPr>
          <p:cNvPr id="12" name="TextBox 11"/>
          <p:cNvSpPr txBox="1"/>
          <p:nvPr/>
        </p:nvSpPr>
        <p:spPr>
          <a:xfrm>
            <a:off x="3438144" y="2834640"/>
            <a:ext cx="2542032" cy="430887"/>
          </a:xfrm>
          <a:prstGeom prst="rect">
            <a:avLst/>
          </a:prstGeom>
          <a:noFill/>
        </p:spPr>
        <p:txBody>
          <a:bodyPr wrap="square">
            <a:spAutoFit/>
          </a:bodyPr>
          <a:lstStyle/>
          <a:p>
            <a:pPr algn="ctr"/>
            <a:r>
              <a:rPr lang="en-US" sz="1100" b="0" i="0" dirty="0">
                <a:solidFill>
                  <a:srgbClr val="64748B"/>
                </a:solidFill>
                <a:latin typeface="Helvetica"/>
              </a:rPr>
              <a:t>B2 vs B1 speedup
(sequential test)</a:t>
            </a:r>
          </a:p>
        </p:txBody>
      </p:sp>
      <p:sp>
        <p:nvSpPr>
          <p:cNvPr id="13" name="Rectangle 12"/>
          <p:cNvSpPr/>
          <p:nvPr/>
        </p:nvSpPr>
        <p:spPr>
          <a:xfrm>
            <a:off x="6254496" y="1737360"/>
            <a:ext cx="2788920" cy="1664208"/>
          </a:xfrm>
          <a:prstGeom prst="rect">
            <a:avLst/>
          </a:prstGeom>
          <a:solidFill>
            <a:srgbClr val="F5F3FF"/>
          </a:solidFill>
          <a:ln w="2286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1828800"/>
            <a:ext cx="2542032" cy="914400"/>
          </a:xfrm>
          <a:prstGeom prst="rect">
            <a:avLst/>
          </a:prstGeom>
          <a:noFill/>
        </p:spPr>
        <p:txBody>
          <a:bodyPr wrap="square">
            <a:spAutoFit/>
          </a:bodyPr>
          <a:lstStyle/>
          <a:p>
            <a:pPr algn="ctr"/>
            <a:r>
              <a:rPr sz="2600" b="1" i="0">
                <a:solidFill>
                  <a:srgbClr val="6D28D9"/>
                </a:solidFill>
                <a:latin typeface="Helvetica"/>
              </a:rPr>
              <a:t>II = 1</a:t>
            </a:r>
          </a:p>
        </p:txBody>
      </p:sp>
      <p:sp>
        <p:nvSpPr>
          <p:cNvPr id="15" name="TextBox 14"/>
          <p:cNvSpPr txBox="1"/>
          <p:nvPr/>
        </p:nvSpPr>
        <p:spPr>
          <a:xfrm>
            <a:off x="6382512" y="2834640"/>
            <a:ext cx="2542032" cy="475488"/>
          </a:xfrm>
          <a:prstGeom prst="rect">
            <a:avLst/>
          </a:prstGeom>
          <a:noFill/>
        </p:spPr>
        <p:txBody>
          <a:bodyPr wrap="square">
            <a:spAutoFit/>
          </a:bodyPr>
          <a:lstStyle/>
          <a:p>
            <a:pPr algn="ctr"/>
            <a:r>
              <a:rPr sz="1100" b="0" i="0">
                <a:solidFill>
                  <a:srgbClr val="64748B"/>
                </a:solidFill>
                <a:latin typeface="Helvetica"/>
              </a:rPr>
              <a:t>every loop achieved
pipeline II=1</a:t>
            </a:r>
          </a:p>
        </p:txBody>
      </p:sp>
      <p:sp>
        <p:nvSpPr>
          <p:cNvPr id="16" name="Rectangle 15"/>
          <p:cNvSpPr/>
          <p:nvPr/>
        </p:nvSpPr>
        <p:spPr>
          <a:xfrm>
            <a:off x="9198864" y="1737360"/>
            <a:ext cx="2788920" cy="1664208"/>
          </a:xfrm>
          <a:prstGeom prst="rect">
            <a:avLst/>
          </a:prstGeom>
          <a:solidFill>
            <a:srgbClr val="FFF7ED"/>
          </a:solidFill>
          <a:ln w="2286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0" y="1828800"/>
            <a:ext cx="2542032" cy="914400"/>
          </a:xfrm>
          <a:prstGeom prst="rect">
            <a:avLst/>
          </a:prstGeom>
          <a:noFill/>
        </p:spPr>
        <p:txBody>
          <a:bodyPr wrap="square">
            <a:spAutoFit/>
          </a:bodyPr>
          <a:lstStyle/>
          <a:p>
            <a:pPr algn="ctr"/>
            <a:r>
              <a:rPr sz="2600" b="1" i="0" dirty="0">
                <a:solidFill>
                  <a:srgbClr val="92400E"/>
                </a:solidFill>
                <a:latin typeface="Helvetica"/>
              </a:rPr>
              <a:t>WNS
3.43 ns</a:t>
            </a:r>
            <a:r>
              <a:rPr lang="en-US" sz="2600" b="1" i="0" dirty="0">
                <a:solidFill>
                  <a:srgbClr val="92400E"/>
                </a:solidFill>
                <a:latin typeface="Helvetica"/>
              </a:rPr>
              <a:t>, &lt;1 </a:t>
            </a:r>
            <a:r>
              <a:rPr lang="en-US" sz="2600" b="1" i="0" dirty="0" err="1">
                <a:solidFill>
                  <a:srgbClr val="92400E"/>
                </a:solidFill>
                <a:latin typeface="Helvetica"/>
              </a:rPr>
              <a:t>clk</a:t>
            </a:r>
            <a:endParaRPr sz="2600" b="1" i="0" dirty="0">
              <a:solidFill>
                <a:srgbClr val="92400E"/>
              </a:solidFill>
              <a:latin typeface="Helvetica"/>
            </a:endParaRPr>
          </a:p>
        </p:txBody>
      </p:sp>
      <p:sp>
        <p:nvSpPr>
          <p:cNvPr id="18" name="TextBox 17"/>
          <p:cNvSpPr txBox="1"/>
          <p:nvPr/>
        </p:nvSpPr>
        <p:spPr>
          <a:xfrm>
            <a:off x="9326880" y="2834640"/>
            <a:ext cx="2542032" cy="475488"/>
          </a:xfrm>
          <a:prstGeom prst="rect">
            <a:avLst/>
          </a:prstGeom>
          <a:noFill/>
        </p:spPr>
        <p:txBody>
          <a:bodyPr wrap="square">
            <a:spAutoFit/>
          </a:bodyPr>
          <a:lstStyle/>
          <a:p>
            <a:pPr algn="ctr"/>
            <a:r>
              <a:rPr sz="1100" b="0" i="0">
                <a:solidFill>
                  <a:srgbClr val="64748B"/>
                </a:solidFill>
                <a:latin typeface="Helvetica"/>
              </a:rPr>
              <a:t>timing margin  (B2)
@ 100 MHz — all paths met</a:t>
            </a:r>
          </a:p>
        </p:txBody>
      </p:sp>
      <p:pic>
        <p:nvPicPr>
          <p:cNvPr id="19" name="Picture 18" descr="image.png"/>
          <p:cNvPicPr>
            <a:picLocks noChangeAspect="1"/>
          </p:cNvPicPr>
          <p:nvPr/>
        </p:nvPicPr>
        <p:blipFill>
          <a:blip r:embed="rId3"/>
          <a:srcRect t="13173"/>
          <a:stretch>
            <a:fillRect/>
          </a:stretch>
        </p:blipFill>
        <p:spPr>
          <a:xfrm>
            <a:off x="365760" y="3968496"/>
            <a:ext cx="5486400" cy="1747820"/>
          </a:xfrm>
          <a:prstGeom prst="rect">
            <a:avLst/>
          </a:prstGeom>
        </p:spPr>
      </p:pic>
      <p:pic>
        <p:nvPicPr>
          <p:cNvPr id="20" name="Picture 19" descr="WORKING ON PYNQ!!!.png"/>
          <p:cNvPicPr>
            <a:picLocks noChangeAspect="1"/>
          </p:cNvPicPr>
          <p:nvPr/>
        </p:nvPicPr>
        <p:blipFill>
          <a:blip r:embed="rId4"/>
          <a:stretch>
            <a:fillRect/>
          </a:stretch>
        </p:blipFill>
        <p:spPr>
          <a:xfrm>
            <a:off x="6709029" y="3603102"/>
            <a:ext cx="4359021" cy="2596529"/>
          </a:xfrm>
          <a:prstGeom prst="rect">
            <a:avLst/>
          </a:prstGeom>
        </p:spPr>
      </p:pic>
      <p:sp>
        <p:nvSpPr>
          <p:cNvPr id="21" name="TextBox 20"/>
          <p:cNvSpPr txBox="1"/>
          <p:nvPr/>
        </p:nvSpPr>
        <p:spPr>
          <a:xfrm>
            <a:off x="6126480" y="6199632"/>
            <a:ext cx="5852160" cy="246221"/>
          </a:xfrm>
          <a:prstGeom prst="rect">
            <a:avLst/>
          </a:prstGeom>
          <a:noFill/>
        </p:spPr>
        <p:txBody>
          <a:bodyPr wrap="square">
            <a:spAutoFit/>
          </a:bodyPr>
          <a:lstStyle/>
          <a:p>
            <a:pPr algn="ctr"/>
            <a:r>
              <a:rPr sz="1000" b="0" i="1" dirty="0">
                <a:solidFill>
                  <a:srgbClr val="94A3B8"/>
                </a:solidFill>
                <a:latin typeface="Helvetica"/>
              </a:rPr>
              <a:t>Verified bit-exact on hardware</a:t>
            </a:r>
            <a:r>
              <a:rPr lang="en-US" sz="1000" b="0" i="1" dirty="0">
                <a:solidFill>
                  <a:srgbClr val="94A3B8"/>
                </a:solidFill>
                <a:latin typeface="Helvetica"/>
              </a:rPr>
              <a:t>;</a:t>
            </a:r>
            <a:r>
              <a:rPr sz="1000" b="0" i="1" dirty="0">
                <a:solidFill>
                  <a:srgbClr val="94A3B8"/>
                </a:solidFill>
                <a:latin typeface="Helvetica"/>
              </a:rPr>
              <a:t> output matches Python integer reference for every sample.</a:t>
            </a:r>
          </a:p>
        </p:txBody>
      </p:sp>
    </p:spTree>
    <p:extLst>
      <p:ext uri="{BB962C8B-B14F-4D97-AF65-F5344CB8AC3E}">
        <p14:creationId xmlns:p14="http://schemas.microsoft.com/office/powerpoint/2010/main" val="639950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5029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4572000" cy="256032"/>
          </a:xfrm>
          <a:prstGeom prst="rect">
            <a:avLst/>
          </a:prstGeom>
          <a:noFill/>
        </p:spPr>
        <p:txBody>
          <a:bodyPr wrap="square">
            <a:spAutoFit/>
          </a:bodyPr>
          <a:lstStyle/>
          <a:p>
            <a:pPr algn="l"/>
            <a:r>
              <a:rPr sz="850" b="1" i="0">
                <a:solidFill>
                  <a:srgbClr val="2D6A4F"/>
                </a:solidFill>
                <a:latin typeface="Helvetica"/>
              </a:rPr>
              <a:t>HARDWARE</a:t>
            </a:r>
          </a:p>
        </p:txBody>
      </p:sp>
      <p:sp>
        <p:nvSpPr>
          <p:cNvPr id="4" name="TextBox 3"/>
          <p:cNvSpPr txBox="1"/>
          <p:nvPr/>
        </p:nvSpPr>
        <p:spPr>
          <a:xfrm>
            <a:off x="457200" y="420624"/>
            <a:ext cx="11247120" cy="749808"/>
          </a:xfrm>
          <a:prstGeom prst="rect">
            <a:avLst/>
          </a:prstGeom>
          <a:noFill/>
        </p:spPr>
        <p:txBody>
          <a:bodyPr wrap="square">
            <a:spAutoFit/>
          </a:bodyPr>
          <a:lstStyle/>
          <a:p>
            <a:pPr algn="l"/>
            <a:r>
              <a:rPr sz="3400" b="1" i="0" dirty="0">
                <a:solidFill>
                  <a:srgbClr val="0F172A"/>
                </a:solidFill>
                <a:latin typeface="Helvetica"/>
              </a:rPr>
              <a:t>Running on the AUP-ZU3</a:t>
            </a:r>
          </a:p>
        </p:txBody>
      </p:sp>
      <p:sp>
        <p:nvSpPr>
          <p:cNvPr id="5" name="TextBox 4"/>
          <p:cNvSpPr txBox="1"/>
          <p:nvPr/>
        </p:nvSpPr>
        <p:spPr>
          <a:xfrm>
            <a:off x="457200" y="1115568"/>
            <a:ext cx="11247120" cy="347472"/>
          </a:xfrm>
          <a:prstGeom prst="rect">
            <a:avLst/>
          </a:prstGeom>
          <a:noFill/>
        </p:spPr>
        <p:txBody>
          <a:bodyPr wrap="square">
            <a:spAutoFit/>
          </a:bodyPr>
          <a:lstStyle/>
          <a:p>
            <a:pPr algn="l"/>
            <a:r>
              <a:rPr sz="1300" b="0" i="0">
                <a:solidFill>
                  <a:srgbClr val="64748B"/>
                </a:solidFill>
                <a:latin typeface="Helvetica"/>
              </a:rPr>
              <a:t>PYNQ Python framework loads the bitstream and drives the IP</a:t>
            </a:r>
          </a:p>
        </p:txBody>
      </p:sp>
      <p:sp>
        <p:nvSpPr>
          <p:cNvPr id="6" name="Rectangle 5"/>
          <p:cNvSpPr/>
          <p:nvPr/>
        </p:nvSpPr>
        <p:spPr>
          <a:xfrm>
            <a:off x="457200" y="1517904"/>
            <a:ext cx="11247120" cy="201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0" y="1719072"/>
            <a:ext cx="5943600" cy="1444752"/>
          </a:xfrm>
          <a:prstGeom prst="rect">
            <a:avLst/>
          </a:prstGeom>
          <a:solidFill>
            <a:srgbClr val="F5F3FF"/>
          </a:solidFill>
          <a:ln w="2286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0" y="1719072"/>
            <a:ext cx="5943600" cy="3840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71616" y="1764792"/>
            <a:ext cx="5669280" cy="310896"/>
          </a:xfrm>
          <a:prstGeom prst="rect">
            <a:avLst/>
          </a:prstGeom>
          <a:noFill/>
        </p:spPr>
        <p:txBody>
          <a:bodyPr wrap="square">
            <a:spAutoFit/>
          </a:bodyPr>
          <a:lstStyle/>
          <a:p>
            <a:pPr algn="l"/>
            <a:r>
              <a:rPr sz="1300" b="1" i="0">
                <a:solidFill>
                  <a:srgbClr val="FFFFFF"/>
                </a:solidFill>
                <a:latin typeface="Helvetica"/>
              </a:rPr>
              <a:t>s_axi_CTRL</a:t>
            </a:r>
          </a:p>
        </p:txBody>
      </p:sp>
      <p:sp>
        <p:nvSpPr>
          <p:cNvPr id="11" name="TextBox 10"/>
          <p:cNvSpPr txBox="1"/>
          <p:nvPr/>
        </p:nvSpPr>
        <p:spPr>
          <a:xfrm>
            <a:off x="6071616" y="2212848"/>
            <a:ext cx="5669280" cy="841248"/>
          </a:xfrm>
          <a:prstGeom prst="rect">
            <a:avLst/>
          </a:prstGeom>
          <a:noFill/>
        </p:spPr>
        <p:txBody>
          <a:bodyPr wrap="square">
            <a:spAutoFit/>
          </a:bodyPr>
          <a:lstStyle/>
          <a:p>
            <a:pPr algn="l"/>
            <a:r>
              <a:rPr sz="1050" b="0" i="0">
                <a:solidFill>
                  <a:srgbClr val="1E293B"/>
                </a:solidFill>
                <a:latin typeface="Helvetica"/>
              </a:rPr>
              <a:t>ARM writes all 6 effect parameters.
Also AP_START (trigger) and AP_DONE (status).</a:t>
            </a:r>
          </a:p>
        </p:txBody>
      </p:sp>
      <p:sp>
        <p:nvSpPr>
          <p:cNvPr id="12" name="Rectangle 11"/>
          <p:cNvSpPr/>
          <p:nvPr/>
        </p:nvSpPr>
        <p:spPr>
          <a:xfrm>
            <a:off x="5943600" y="3319272"/>
            <a:ext cx="5943600" cy="1444752"/>
          </a:xfrm>
          <a:prstGeom prst="rect">
            <a:avLst/>
          </a:prstGeom>
          <a:solidFill>
            <a:srgbClr val="EFF6FF"/>
          </a:solidFill>
          <a:ln w="2286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43600" y="3319272"/>
            <a:ext cx="5943600" cy="38404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71616" y="3364991"/>
            <a:ext cx="5669280" cy="310896"/>
          </a:xfrm>
          <a:prstGeom prst="rect">
            <a:avLst/>
          </a:prstGeom>
          <a:noFill/>
        </p:spPr>
        <p:txBody>
          <a:bodyPr wrap="square">
            <a:spAutoFit/>
          </a:bodyPr>
          <a:lstStyle/>
          <a:p>
            <a:pPr algn="l"/>
            <a:r>
              <a:rPr sz="1300" b="1" i="0">
                <a:solidFill>
                  <a:srgbClr val="FFFFFF"/>
                </a:solidFill>
                <a:latin typeface="Helvetica"/>
              </a:rPr>
              <a:t>s_axi_control</a:t>
            </a:r>
          </a:p>
        </p:txBody>
      </p:sp>
      <p:sp>
        <p:nvSpPr>
          <p:cNvPr id="15" name="TextBox 14"/>
          <p:cNvSpPr txBox="1"/>
          <p:nvPr/>
        </p:nvSpPr>
        <p:spPr>
          <a:xfrm>
            <a:off x="6071616" y="3813048"/>
            <a:ext cx="5669280" cy="841248"/>
          </a:xfrm>
          <a:prstGeom prst="rect">
            <a:avLst/>
          </a:prstGeom>
          <a:noFill/>
        </p:spPr>
        <p:txBody>
          <a:bodyPr wrap="square">
            <a:spAutoFit/>
          </a:bodyPr>
          <a:lstStyle/>
          <a:p>
            <a:pPr algn="l"/>
            <a:r>
              <a:rPr sz="1050" b="0" i="0">
                <a:solidFill>
                  <a:srgbClr val="1E293B"/>
                </a:solidFill>
                <a:latin typeface="Helvetica"/>
              </a:rPr>
              <a:t>ARM writes the 64-bit physical DDR
addresses for input and output buffers.</a:t>
            </a:r>
          </a:p>
        </p:txBody>
      </p:sp>
      <p:sp>
        <p:nvSpPr>
          <p:cNvPr id="16" name="Rectangle 15"/>
          <p:cNvSpPr/>
          <p:nvPr/>
        </p:nvSpPr>
        <p:spPr>
          <a:xfrm>
            <a:off x="5943600" y="4919472"/>
            <a:ext cx="5943600" cy="1444752"/>
          </a:xfrm>
          <a:prstGeom prst="rect">
            <a:avLst/>
          </a:prstGeom>
          <a:solidFill>
            <a:srgbClr val="FFF7ED"/>
          </a:solidFill>
          <a:ln w="2286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0" y="4919472"/>
            <a:ext cx="5943600" cy="384048"/>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71616" y="4965192"/>
            <a:ext cx="5669280" cy="310896"/>
          </a:xfrm>
          <a:prstGeom prst="rect">
            <a:avLst/>
          </a:prstGeom>
          <a:noFill/>
        </p:spPr>
        <p:txBody>
          <a:bodyPr wrap="square">
            <a:spAutoFit/>
          </a:bodyPr>
          <a:lstStyle/>
          <a:p>
            <a:pPr algn="l"/>
            <a:r>
              <a:rPr sz="1300" b="1" i="0" dirty="0" err="1">
                <a:solidFill>
                  <a:srgbClr val="FFFFFF"/>
                </a:solidFill>
                <a:latin typeface="Helvetica"/>
              </a:rPr>
              <a:t>m_axi_MEM</a:t>
            </a:r>
            <a:endParaRPr sz="1300" b="1" i="0" dirty="0">
              <a:solidFill>
                <a:srgbClr val="FFFFFF"/>
              </a:solidFill>
              <a:latin typeface="Helvetica"/>
            </a:endParaRPr>
          </a:p>
        </p:txBody>
      </p:sp>
      <p:sp>
        <p:nvSpPr>
          <p:cNvPr id="19" name="TextBox 18"/>
          <p:cNvSpPr txBox="1"/>
          <p:nvPr/>
        </p:nvSpPr>
        <p:spPr>
          <a:xfrm>
            <a:off x="6071616" y="5413248"/>
            <a:ext cx="5669280" cy="577081"/>
          </a:xfrm>
          <a:prstGeom prst="rect">
            <a:avLst/>
          </a:prstGeom>
          <a:noFill/>
        </p:spPr>
        <p:txBody>
          <a:bodyPr wrap="square">
            <a:spAutoFit/>
          </a:bodyPr>
          <a:lstStyle/>
          <a:p>
            <a:pPr algn="l"/>
            <a:r>
              <a:rPr sz="1050" b="0" i="0" dirty="0">
                <a:solidFill>
                  <a:srgbClr val="1E293B"/>
                </a:solidFill>
                <a:latin typeface="Helvetica"/>
              </a:rPr>
              <a:t>FPGA DMA bus -- burst reads input samples</a:t>
            </a:r>
            <a:r>
              <a:rPr lang="en-US" sz="1050" b="0" i="0" dirty="0">
                <a:solidFill>
                  <a:srgbClr val="1E293B"/>
                </a:solidFill>
                <a:latin typeface="Helvetica"/>
              </a:rPr>
              <a:t> (max 2MB/s)</a:t>
            </a:r>
            <a:r>
              <a:rPr sz="1050" b="0" i="0" dirty="0">
                <a:solidFill>
                  <a:srgbClr val="1E293B"/>
                </a:solidFill>
                <a:latin typeface="Helvetica"/>
              </a:rPr>
              <a:t>
from DDR, burst writes results back.
Must connect to HP0 on Zynq PS.</a:t>
            </a:r>
          </a:p>
        </p:txBody>
      </p:sp>
      <p:pic>
        <p:nvPicPr>
          <p:cNvPr id="20" name="Picture 19" descr="seems like i got plenty of space!.png"/>
          <p:cNvPicPr>
            <a:picLocks noChangeAspect="1"/>
          </p:cNvPicPr>
          <p:nvPr/>
        </p:nvPicPr>
        <p:blipFill>
          <a:blip r:embed="rId3"/>
          <a:stretch>
            <a:fillRect/>
          </a:stretch>
        </p:blipFill>
        <p:spPr>
          <a:xfrm>
            <a:off x="1298194" y="3364991"/>
            <a:ext cx="3604006" cy="2944027"/>
          </a:xfrm>
          <a:prstGeom prst="rect">
            <a:avLst/>
          </a:prstGeom>
        </p:spPr>
      </p:pic>
      <p:sp>
        <p:nvSpPr>
          <p:cNvPr id="21" name="TextBox 20"/>
          <p:cNvSpPr txBox="1"/>
          <p:nvPr/>
        </p:nvSpPr>
        <p:spPr>
          <a:xfrm>
            <a:off x="320040" y="6291072"/>
            <a:ext cx="5303520" cy="238527"/>
          </a:xfrm>
          <a:prstGeom prst="rect">
            <a:avLst/>
          </a:prstGeom>
          <a:noFill/>
        </p:spPr>
        <p:txBody>
          <a:bodyPr wrap="square">
            <a:spAutoFit/>
          </a:bodyPr>
          <a:lstStyle/>
          <a:p>
            <a:pPr algn="ctr"/>
            <a:r>
              <a:rPr sz="950" b="0" i="1">
                <a:solidFill>
                  <a:srgbClr val="94A3B8"/>
                </a:solidFill>
                <a:latin typeface="Helvetica"/>
              </a:rPr>
              <a:t>The design barely shows up on the chip -- only 5.2% LUTs used.</a:t>
            </a:r>
          </a:p>
        </p:txBody>
      </p:sp>
      <p:pic>
        <p:nvPicPr>
          <p:cNvPr id="23" name="Picture 22">
            <a:extLst>
              <a:ext uri="{FF2B5EF4-FFF2-40B4-BE49-F238E27FC236}">
                <a16:creationId xmlns:a16="http://schemas.microsoft.com/office/drawing/2014/main" id="{F3BECA6B-F001-E426-3E2D-A8723C822800}"/>
              </a:ext>
            </a:extLst>
          </p:cNvPr>
          <p:cNvPicPr>
            <a:picLocks noChangeAspect="1"/>
          </p:cNvPicPr>
          <p:nvPr/>
        </p:nvPicPr>
        <p:blipFill>
          <a:blip r:embed="rId4"/>
          <a:stretch>
            <a:fillRect/>
          </a:stretch>
        </p:blipFill>
        <p:spPr>
          <a:xfrm>
            <a:off x="-18288" y="1592884"/>
            <a:ext cx="5943600" cy="1838143"/>
          </a:xfrm>
          <a:prstGeom prst="rect">
            <a:avLst/>
          </a:prstGeom>
        </p:spPr>
      </p:pic>
    </p:spTree>
    <p:extLst>
      <p:ext uri="{BB962C8B-B14F-4D97-AF65-F5344CB8AC3E}">
        <p14:creationId xmlns:p14="http://schemas.microsoft.com/office/powerpoint/2010/main" val="711404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58133E-4D8F-4F03-9F05-448553B84966}"/>
              </a:ext>
            </a:extLst>
          </p:cNvPr>
          <p:cNvSpPr/>
          <p:nvPr/>
        </p:nvSpPr>
        <p:spPr>
          <a:xfrm>
            <a:off x="0" y="0"/>
            <a:ext cx="12192000" cy="50800"/>
          </a:xfrm>
          <a:prstGeom prst="rect">
            <a:avLst/>
          </a:prstGeom>
          <a:solidFill>
            <a:srgbClr val="2D6A4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F7D70C70-5C4F-4723-9034-67B7BBCA5AF6}"/>
              </a:ext>
            </a:extLst>
          </p:cNvPr>
          <p:cNvSpPr txBox="1"/>
          <p:nvPr/>
        </p:nvSpPr>
        <p:spPr>
          <a:xfrm>
            <a:off x="457200" y="88900"/>
            <a:ext cx="4572000" cy="223138"/>
          </a:xfrm>
          <a:prstGeom prst="rect">
            <a:avLst/>
          </a:prstGeom>
          <a:noFill/>
        </p:spPr>
        <p:txBody>
          <a:bodyPr vertOverflow="overflow" vert="horz" wrap="square" rtlCol="0" anchor="t">
            <a:spAutoFit/>
          </a:bodyPr>
          <a:lstStyle/>
          <a:p>
            <a:pPr algn="l"/>
            <a:r>
              <a:rPr lang="en-US" sz="850" b="1" dirty="0">
                <a:solidFill>
                  <a:srgbClr val="2D6A4F"/>
                </a:solidFill>
                <a:latin typeface="Helvetica"/>
              </a:rPr>
              <a:t>PARAMETERS</a:t>
            </a:r>
          </a:p>
        </p:txBody>
      </p:sp>
      <p:sp>
        <p:nvSpPr>
          <p:cNvPr id="4" name="TextBox 3">
            <a:extLst>
              <a:ext uri="{FF2B5EF4-FFF2-40B4-BE49-F238E27FC236}">
                <a16:creationId xmlns:a16="http://schemas.microsoft.com/office/drawing/2014/main" id="{AAE572F2-FD80-4684-9837-B3B909390003}"/>
              </a:ext>
            </a:extLst>
          </p:cNvPr>
          <p:cNvSpPr txBox="1"/>
          <p:nvPr/>
        </p:nvSpPr>
        <p:spPr>
          <a:xfrm>
            <a:off x="457200" y="419100"/>
            <a:ext cx="11252200" cy="635000"/>
          </a:xfrm>
          <a:prstGeom prst="rect">
            <a:avLst/>
          </a:prstGeom>
          <a:noFill/>
        </p:spPr>
        <p:txBody>
          <a:bodyPr vertOverflow="overflow" vert="horz" wrap="square" rtlCol="0" anchor="t">
            <a:spAutoFit/>
          </a:bodyPr>
          <a:lstStyle/>
          <a:p>
            <a:pPr algn="l"/>
            <a:r>
              <a:rPr lang="en-US" sz="3400" b="1" dirty="0">
                <a:solidFill>
                  <a:srgbClr val="0F172A"/>
                </a:solidFill>
                <a:latin typeface="Helvetica"/>
              </a:rPr>
              <a:t>Hardcoded vs. Adjustable at Runtime</a:t>
            </a:r>
          </a:p>
        </p:txBody>
      </p:sp>
      <p:sp>
        <p:nvSpPr>
          <p:cNvPr id="22" name="TextBox 21">
            <a:extLst>
              <a:ext uri="{FF2B5EF4-FFF2-40B4-BE49-F238E27FC236}">
                <a16:creationId xmlns:a16="http://schemas.microsoft.com/office/drawing/2014/main" id="{FCDD49F2-CED1-454E-A46E-243F1B562275}"/>
              </a:ext>
            </a:extLst>
          </p:cNvPr>
          <p:cNvSpPr txBox="1"/>
          <p:nvPr/>
        </p:nvSpPr>
        <p:spPr>
          <a:xfrm>
            <a:off x="457200" y="1117600"/>
            <a:ext cx="11252200" cy="292388"/>
          </a:xfrm>
          <a:prstGeom prst="rect">
            <a:avLst/>
          </a:prstGeom>
          <a:noFill/>
        </p:spPr>
        <p:txBody>
          <a:bodyPr vertOverflow="overflow" vert="horz" wrap="square" rtlCol="0" anchor="t">
            <a:spAutoFit/>
          </a:bodyPr>
          <a:lstStyle/>
          <a:p>
            <a:pPr algn="l"/>
            <a:r>
              <a:rPr lang="en-US" sz="1300" b="0" dirty="0">
                <a:solidFill>
                  <a:srgbClr val="64748B"/>
                </a:solidFill>
                <a:latin typeface="Helvetica"/>
              </a:rPr>
              <a:t>Some parameters are baked into the bitstream; others can be tweaked live over AXI-Lite. MIDI WOULD BE BETTER! </a:t>
            </a:r>
          </a:p>
        </p:txBody>
      </p:sp>
      <p:sp>
        <p:nvSpPr>
          <p:cNvPr id="23" name="Rectangle 22">
            <a:extLst>
              <a:ext uri="{FF2B5EF4-FFF2-40B4-BE49-F238E27FC236}">
                <a16:creationId xmlns:a16="http://schemas.microsoft.com/office/drawing/2014/main" id="{7E562B52-D69E-4DA2-9EB6-805986B14046}"/>
              </a:ext>
            </a:extLst>
          </p:cNvPr>
          <p:cNvSpPr/>
          <p:nvPr/>
        </p:nvSpPr>
        <p:spPr>
          <a:xfrm>
            <a:off x="457200" y="1524000"/>
            <a:ext cx="11252200" cy="25400"/>
          </a:xfrm>
          <a:prstGeom prst="rect">
            <a:avLst/>
          </a:prstGeom>
          <a:solidFill>
            <a:srgbClr val="E2E8F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0" name="TextBox 59">
            <a:extLst>
              <a:ext uri="{FF2B5EF4-FFF2-40B4-BE49-F238E27FC236}">
                <a16:creationId xmlns:a16="http://schemas.microsoft.com/office/drawing/2014/main" id="{C58C78F4-BAC0-47F6-B100-0E40EF60F099}"/>
              </a:ext>
            </a:extLst>
          </p:cNvPr>
          <p:cNvSpPr txBox="1"/>
          <p:nvPr/>
        </p:nvSpPr>
        <p:spPr>
          <a:xfrm>
            <a:off x="15240000" y="127000"/>
            <a:ext cx="127000" cy="127000"/>
          </a:xfrm>
          <a:prstGeom prst="rect">
            <a:avLst/>
          </a:prstGeom>
          <a:noFill/>
        </p:spPr>
        <p:txBody>
          <a:bodyPr vertOverflow="overflow" vert="horz" wrap="square" rtlCol="0" anchor="t">
            <a:spAutoFit/>
          </a:bodyPr>
          <a:lstStyle/>
          <a:p>
            <a:pPr algn="l"/>
            <a:r>
              <a:rPr lang="en-US" sz="1100" b="1" dirty="0">
                <a:solidFill>
                  <a:srgbClr val="2D6A4F"/>
                </a:solidFill>
                <a:latin typeface="Helvetica"/>
              </a:rPr>
              <a:t>feedback_q15</a:t>
            </a:r>
            <a:r>
              <a:rPr lang="en-US" sz="1100" b="0" dirty="0">
                <a:solidFill>
                  <a:srgbClr val="64748B"/>
                </a:solidFill>
                <a:latin typeface="Helvetica"/>
              </a:rPr>
              <a:t>  Feedback amount (Q1.15)</a:t>
            </a:r>
          </a:p>
        </p:txBody>
      </p:sp>
      <p:sp>
        <p:nvSpPr>
          <p:cNvPr id="62" name="Rectangle 61">
            <a:extLst>
              <a:ext uri="{FF2B5EF4-FFF2-40B4-BE49-F238E27FC236}">
                <a16:creationId xmlns:a16="http://schemas.microsoft.com/office/drawing/2014/main" id="{01AEC8A0-F494-4775-B0D3-DAA77A222CF9}"/>
              </a:ext>
            </a:extLst>
          </p:cNvPr>
          <p:cNvSpPr/>
          <p:nvPr/>
        </p:nvSpPr>
        <p:spPr>
          <a:xfrm>
            <a:off x="15240000" y="127000"/>
            <a:ext cx="127000" cy="127000"/>
          </a:xfrm>
          <a:prstGeom prst="rect">
            <a:avLst/>
          </a:prstGeom>
          <a:solidFill>
            <a:srgbClr val="60A5F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7" name="TextBox 66">
            <a:extLst>
              <a:ext uri="{FF2B5EF4-FFF2-40B4-BE49-F238E27FC236}">
                <a16:creationId xmlns:a16="http://schemas.microsoft.com/office/drawing/2014/main" id="{3E685262-53B3-42AA-8660-7B9D631047D5}"/>
              </a:ext>
            </a:extLst>
          </p:cNvPr>
          <p:cNvSpPr txBox="1"/>
          <p:nvPr/>
        </p:nvSpPr>
        <p:spPr>
          <a:xfrm>
            <a:off x="15240000" y="127000"/>
            <a:ext cx="127000" cy="127000"/>
          </a:xfrm>
          <a:prstGeom prst="rect">
            <a:avLst/>
          </a:prstGeom>
          <a:noFill/>
        </p:spPr>
        <p:txBody>
          <a:bodyPr vertOverflow="overflow" vert="horz" wrap="square" rtlCol="0" anchor="t">
            <a:spAutoFit/>
          </a:bodyPr>
          <a:lstStyle/>
          <a:p>
            <a:pPr algn="l"/>
            <a:endParaRPr lang="en-US" sz="1100" dirty="0"/>
          </a:p>
        </p:txBody>
      </p:sp>
      <p:sp>
        <p:nvSpPr>
          <p:cNvPr id="68" name="TextBox 67">
            <a:extLst>
              <a:ext uri="{FF2B5EF4-FFF2-40B4-BE49-F238E27FC236}">
                <a16:creationId xmlns:a16="http://schemas.microsoft.com/office/drawing/2014/main" id="{57F8451D-B181-4510-9405-E68F1FCA7BF7}"/>
              </a:ext>
            </a:extLst>
          </p:cNvPr>
          <p:cNvSpPr txBox="1"/>
          <p:nvPr/>
        </p:nvSpPr>
        <p:spPr>
          <a:xfrm>
            <a:off x="15240000" y="127000"/>
            <a:ext cx="127000" cy="127000"/>
          </a:xfrm>
          <a:prstGeom prst="rect">
            <a:avLst/>
          </a:prstGeom>
          <a:noFill/>
        </p:spPr>
        <p:txBody>
          <a:bodyPr vertOverflow="overflow" vert="horz" wrap="square" rtlCol="0" anchor="t">
            <a:spAutoFit/>
          </a:bodyPr>
          <a:lstStyle/>
          <a:p>
            <a:pPr algn="l"/>
            <a:endParaRPr lang="en-US" sz="1100" dirty="0"/>
          </a:p>
        </p:txBody>
      </p:sp>
      <p:sp>
        <p:nvSpPr>
          <p:cNvPr id="69" name="Rectangle 68">
            <a:extLst>
              <a:ext uri="{FF2B5EF4-FFF2-40B4-BE49-F238E27FC236}">
                <a16:creationId xmlns:a16="http://schemas.microsoft.com/office/drawing/2014/main" id="{F06D91D2-6981-4A41-AF83-9F0931819BC6}"/>
              </a:ext>
            </a:extLst>
          </p:cNvPr>
          <p:cNvSpPr/>
          <p:nvPr/>
        </p:nvSpPr>
        <p:spPr>
          <a:xfrm>
            <a:off x="15240000" y="127000"/>
            <a:ext cx="127000" cy="127000"/>
          </a:xfrm>
          <a:prstGeom prst="rect">
            <a:avLst/>
          </a:prstGeom>
          <a:solidFill>
            <a:srgbClr val="52B78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0" name="TextBox 69">
            <a:extLst>
              <a:ext uri="{FF2B5EF4-FFF2-40B4-BE49-F238E27FC236}">
                <a16:creationId xmlns:a16="http://schemas.microsoft.com/office/drawing/2014/main" id="{BFCCF08E-7978-46BE-868F-511E36A0BBA5}"/>
              </a:ext>
            </a:extLst>
          </p:cNvPr>
          <p:cNvSpPr txBox="1"/>
          <p:nvPr/>
        </p:nvSpPr>
        <p:spPr>
          <a:xfrm>
            <a:off x="15240000" y="127000"/>
            <a:ext cx="127000" cy="127000"/>
          </a:xfrm>
          <a:prstGeom prst="rect">
            <a:avLst/>
          </a:prstGeom>
          <a:noFill/>
        </p:spPr>
        <p:txBody>
          <a:bodyPr vertOverflow="overflow" vert="horz" wrap="square" rtlCol="0" anchor="t">
            <a:spAutoFit/>
          </a:bodyPr>
          <a:lstStyle/>
          <a:p>
            <a:pPr algn="l"/>
            <a:endParaRPr lang="en-US" sz="1100" dirty="0"/>
          </a:p>
        </p:txBody>
      </p:sp>
      <p:sp>
        <p:nvSpPr>
          <p:cNvPr id="71" name="Rectangle 70">
            <a:extLst>
              <a:ext uri="{FF2B5EF4-FFF2-40B4-BE49-F238E27FC236}">
                <a16:creationId xmlns:a16="http://schemas.microsoft.com/office/drawing/2014/main" id="{4C962099-BEC0-4445-9434-F87FAFC8DE1C}"/>
              </a:ext>
            </a:extLst>
          </p:cNvPr>
          <p:cNvSpPr/>
          <p:nvPr/>
        </p:nvSpPr>
        <p:spPr>
          <a:xfrm>
            <a:off x="0" y="6223000"/>
            <a:ext cx="12192000" cy="635000"/>
          </a:xfrm>
          <a:prstGeom prst="rect">
            <a:avLst/>
          </a:prstGeom>
          <a:solidFill>
            <a:srgbClr val="1E1B4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2" name="TextBox 71">
            <a:extLst>
              <a:ext uri="{FF2B5EF4-FFF2-40B4-BE49-F238E27FC236}">
                <a16:creationId xmlns:a16="http://schemas.microsoft.com/office/drawing/2014/main" id="{3770F112-B2AE-4582-9A74-462763EA9F51}"/>
              </a:ext>
            </a:extLst>
          </p:cNvPr>
          <p:cNvSpPr txBox="1"/>
          <p:nvPr/>
        </p:nvSpPr>
        <p:spPr>
          <a:xfrm>
            <a:off x="457200" y="6324600"/>
            <a:ext cx="2540000" cy="261610"/>
          </a:xfrm>
          <a:prstGeom prst="rect">
            <a:avLst/>
          </a:prstGeom>
          <a:noFill/>
        </p:spPr>
        <p:txBody>
          <a:bodyPr vertOverflow="overflow" vert="horz" wrap="square" rtlCol="0" anchor="t">
            <a:spAutoFit/>
          </a:bodyPr>
          <a:lstStyle/>
          <a:p>
            <a:pPr algn="l"/>
            <a:r>
              <a:rPr lang="en-US" sz="1100" b="1" dirty="0">
                <a:solidFill>
                  <a:srgbClr val="E0E7FF"/>
                </a:solidFill>
                <a:latin typeface="Helvetica"/>
              </a:rPr>
              <a:t>SWAPPABILITY</a:t>
            </a:r>
          </a:p>
        </p:txBody>
      </p:sp>
      <p:sp>
        <p:nvSpPr>
          <p:cNvPr id="73" name="TextBox 72">
            <a:extLst>
              <a:ext uri="{FF2B5EF4-FFF2-40B4-BE49-F238E27FC236}">
                <a16:creationId xmlns:a16="http://schemas.microsoft.com/office/drawing/2014/main" id="{28B58839-7D6B-4E89-92BB-C76E9A9FB188}"/>
              </a:ext>
            </a:extLst>
          </p:cNvPr>
          <p:cNvSpPr txBox="1"/>
          <p:nvPr/>
        </p:nvSpPr>
        <p:spPr>
          <a:xfrm>
            <a:off x="457200" y="6540500"/>
            <a:ext cx="11252200" cy="261610"/>
          </a:xfrm>
          <a:prstGeom prst="rect">
            <a:avLst/>
          </a:prstGeom>
          <a:noFill/>
        </p:spPr>
        <p:txBody>
          <a:bodyPr vertOverflow="overflow" vert="horz" wrap="square" rtlCol="0" anchor="t">
            <a:spAutoFit/>
          </a:bodyPr>
          <a:lstStyle/>
          <a:p>
            <a:pPr algn="l"/>
            <a:r>
              <a:rPr lang="en-US" sz="1100" b="0" dirty="0">
                <a:solidFill>
                  <a:srgbClr val="E0E7FF"/>
                </a:solidFill>
                <a:latin typeface="Helvetica"/>
              </a:rPr>
              <a:t>Each effect has a clear int16-in / int16-out signature — adding a biquad EQ or chorus slots in with the same skeleton</a:t>
            </a:r>
          </a:p>
        </p:txBody>
      </p:sp>
      <p:graphicFrame>
        <p:nvGraphicFramePr>
          <p:cNvPr id="7" name="Table 6">
            <a:extLst>
              <a:ext uri="{FF2B5EF4-FFF2-40B4-BE49-F238E27FC236}">
                <a16:creationId xmlns:a16="http://schemas.microsoft.com/office/drawing/2014/main" id="{E1FE50DF-1F92-B5E3-C0B3-1B347A26614B}"/>
              </a:ext>
            </a:extLst>
          </p:cNvPr>
          <p:cNvGraphicFramePr>
            <a:graphicFrameLocks noGrp="1"/>
          </p:cNvGraphicFramePr>
          <p:nvPr>
            <p:extLst>
              <p:ext uri="{D42A27DB-BD31-4B8C-83A1-F6EECF244321}">
                <p14:modId xmlns:p14="http://schemas.microsoft.com/office/powerpoint/2010/main" val="1523365266"/>
              </p:ext>
            </p:extLst>
          </p:nvPr>
        </p:nvGraphicFramePr>
        <p:xfrm>
          <a:off x="952538" y="1842367"/>
          <a:ext cx="9944958" cy="3326532"/>
        </p:xfrm>
        <a:graphic>
          <a:graphicData uri="http://schemas.openxmlformats.org/drawingml/2006/table">
            <a:tbl>
              <a:tblPr firstRow="1" firstCol="1" bandRow="1">
                <a:tableStyleId>{5C22544A-7EE6-4342-B048-85BDC9FD1C3A}</a:tableStyleId>
              </a:tblPr>
              <a:tblGrid>
                <a:gridCol w="4972479">
                  <a:extLst>
                    <a:ext uri="{9D8B030D-6E8A-4147-A177-3AD203B41FA5}">
                      <a16:colId xmlns:a16="http://schemas.microsoft.com/office/drawing/2014/main" val="2018928181"/>
                    </a:ext>
                  </a:extLst>
                </a:gridCol>
                <a:gridCol w="4972479">
                  <a:extLst>
                    <a:ext uri="{9D8B030D-6E8A-4147-A177-3AD203B41FA5}">
                      <a16:colId xmlns:a16="http://schemas.microsoft.com/office/drawing/2014/main" val="505207162"/>
                    </a:ext>
                  </a:extLst>
                </a:gridCol>
              </a:tblGrid>
              <a:tr h="3326532">
                <a:tc>
                  <a:txBody>
                    <a:bodyPr/>
                    <a:lstStyle/>
                    <a:p>
                      <a:pPr marL="76200" marR="76200">
                        <a:lnSpc>
                          <a:spcPct val="115000"/>
                        </a:lnSpc>
                        <a:spcBef>
                          <a:spcPts val="500"/>
                        </a:spcBef>
                        <a:spcAft>
                          <a:spcPts val="500"/>
                        </a:spcAft>
                        <a:buNone/>
                      </a:pPr>
                      <a:r>
                        <a:rPr lang="en-US" sz="1600" dirty="0">
                          <a:effectLst/>
                          <a:latin typeface="Helvetica" panose="020B0604020202020204" pitchFamily="34" charset="0"/>
                          <a:cs typeface="Helvetica" panose="020B0604020202020204" pitchFamily="34" charset="0"/>
                        </a:rPr>
                        <a:t>Hardcoded (requires re-synthesis)</a:t>
                      </a:r>
                      <a:br>
                        <a:rPr lang="en-US" sz="1600" dirty="0">
                          <a:effectLst/>
                          <a:latin typeface="Helvetica" panose="020B0604020202020204" pitchFamily="34" charset="0"/>
                          <a:cs typeface="Helvetica" panose="020B0604020202020204" pitchFamily="34" charset="0"/>
                        </a:rPr>
                      </a:b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Sample format: int16 Q1.15</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Sample rate: 48 kHz</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Chunk size: 480 samples (10 </a:t>
                      </a:r>
                      <a:r>
                        <a:rPr lang="en-US" sz="1400" dirty="0" err="1">
                          <a:effectLst/>
                          <a:latin typeface="Helvetica" panose="020B0604020202020204" pitchFamily="34" charset="0"/>
                          <a:cs typeface="Helvetica" panose="020B0604020202020204" pitchFamily="34" charset="0"/>
                        </a:rPr>
                        <a:t>ms</a:t>
                      </a:r>
                      <a:r>
                        <a:rPr lang="en-US" sz="1400" dirty="0">
                          <a:effectLst/>
                          <a:latin typeface="Helvetica" panose="020B0604020202020204" pitchFamily="34" charset="0"/>
                          <a:cs typeface="Helvetica" panose="020B0604020202020204" pitchFamily="34" charset="0"/>
                        </a:rPr>
                        <a:t>)</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Sine LUT: 64 entries, Q1.15</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Max delay: 19,200 samples (~400 </a:t>
                      </a:r>
                      <a:r>
                        <a:rPr lang="en-US" sz="1400" dirty="0" err="1">
                          <a:effectLst/>
                          <a:latin typeface="Helvetica" panose="020B0604020202020204" pitchFamily="34" charset="0"/>
                          <a:cs typeface="Helvetica" panose="020B0604020202020204" pitchFamily="34" charset="0"/>
                        </a:rPr>
                        <a:t>ms</a:t>
                      </a:r>
                      <a:r>
                        <a:rPr lang="en-US" sz="1400" dirty="0">
                          <a:effectLst/>
                          <a:latin typeface="Helvetica" panose="020B0604020202020204" pitchFamily="34" charset="0"/>
                          <a:cs typeface="Helvetica" panose="020B0604020202020204" pitchFamily="34" charset="0"/>
                        </a:rPr>
                        <a:t> @ 48 kHz)</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PL clock: 100 MHz duh</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AXI data width: 16-bit (</a:t>
                      </a:r>
                      <a:r>
                        <a:rPr lang="en-US" sz="1400" dirty="0" err="1">
                          <a:effectLst/>
                          <a:latin typeface="Helvetica" panose="020B0604020202020204" pitchFamily="34" charset="0"/>
                          <a:cs typeface="Helvetica" panose="020B0604020202020204" pitchFamily="34" charset="0"/>
                        </a:rPr>
                        <a:t>m_axi</a:t>
                      </a:r>
                      <a:r>
                        <a:rPr lang="en-US" sz="1400" dirty="0">
                          <a:effectLst/>
                          <a:latin typeface="Helvetica" panose="020B0604020202020204" pitchFamily="34" charset="0"/>
                          <a:cs typeface="Helvetica" panose="020B0604020202020204" pitchFamily="34" charset="0"/>
                        </a:rPr>
                        <a:t>)</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Loop II target: 1, with DEPENDENCE pragma on delay</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Delay buffer storage: dual-port BRAM</a:t>
                      </a:r>
                      <a:endParaRPr lang="en-US" sz="2400" dirty="0">
                        <a:effectLst/>
                        <a:latin typeface="Helvetica" panose="020B0604020202020204" pitchFamily="34" charset="0"/>
                        <a:ea typeface="MS Mincho" panose="02020609040205080304" pitchFamily="49" charset="-128"/>
                        <a:cs typeface="Helvetica" panose="020B0604020202020204" pitchFamily="34" charset="0"/>
                      </a:endParaRPr>
                    </a:p>
                  </a:txBody>
                  <a:tcPr marL="68580" marR="68580" marT="0" marB="0">
                    <a:solidFill>
                      <a:schemeClr val="accent2">
                        <a:lumMod val="60000"/>
                        <a:lumOff val="40000"/>
                      </a:schemeClr>
                    </a:solidFill>
                  </a:tcPr>
                </a:tc>
                <a:tc>
                  <a:txBody>
                    <a:bodyPr/>
                    <a:lstStyle/>
                    <a:p>
                      <a:pPr marL="76200" marR="76200">
                        <a:lnSpc>
                          <a:spcPct val="115000"/>
                        </a:lnSpc>
                        <a:spcBef>
                          <a:spcPts val="500"/>
                        </a:spcBef>
                        <a:spcAft>
                          <a:spcPts val="500"/>
                        </a:spcAft>
                        <a:buNone/>
                      </a:pPr>
                      <a:r>
                        <a:rPr lang="en-US" sz="1600" dirty="0">
                          <a:effectLst/>
                          <a:latin typeface="Helvetica" panose="020B0604020202020204" pitchFamily="34" charset="0"/>
                          <a:cs typeface="Helvetica" panose="020B0604020202020204" pitchFamily="34" charset="0"/>
                        </a:rPr>
                        <a:t>Adjustable at runtime (AXI-Lite registers)</a:t>
                      </a:r>
                      <a:br>
                        <a:rPr lang="en-US" sz="1600" dirty="0">
                          <a:effectLst/>
                          <a:latin typeface="Helvetica" panose="020B0604020202020204" pitchFamily="34" charset="0"/>
                          <a:cs typeface="Helvetica" panose="020B0604020202020204" pitchFamily="34" charset="0"/>
                        </a:rPr>
                      </a:b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dist_gain: distortion gain (Q1.15)</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trem_rate_step: tremolo LFO speed (16-bit phase step)</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trem_depth_q15: tremolo modulation depth (0 = bypass)</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delay_n: delay length in samples (up to MAX_DELAY)</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feedback_q15: delay feedback amount (Q1.15)</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mix_q15: dry/wet mix for delay (Q1.15)</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In/out DDR buffer addresses (per-chunk if you want)</a:t>
                      </a:r>
                      <a:br>
                        <a:rPr lang="en-US" sz="1400" dirty="0">
                          <a:effectLst/>
                          <a:latin typeface="Helvetica" panose="020B0604020202020204" pitchFamily="34" charset="0"/>
                          <a:cs typeface="Helvetica" panose="020B0604020202020204" pitchFamily="34" charset="0"/>
                        </a:rPr>
                      </a:br>
                      <a:r>
                        <a:rPr lang="en-US" sz="1400" dirty="0">
                          <a:effectLst/>
                          <a:latin typeface="Helvetica" panose="020B0604020202020204" pitchFamily="34" charset="0"/>
                          <a:cs typeface="Helvetica" panose="020B0604020202020204" pitchFamily="34" charset="0"/>
                        </a:rPr>
                        <a:t>  - Input audio (any int16 PCM stream chunked to 480)</a:t>
                      </a:r>
                      <a:endParaRPr lang="en-US" sz="2400" dirty="0">
                        <a:effectLst/>
                        <a:latin typeface="Helvetica" panose="020B0604020202020204" pitchFamily="34" charset="0"/>
                        <a:ea typeface="MS Mincho" panose="02020609040205080304" pitchFamily="49" charset="-128"/>
                        <a:cs typeface="Helvetica" panose="020B0604020202020204" pitchFamily="34" charset="0"/>
                      </a:endParaRPr>
                    </a:p>
                  </a:txBody>
                  <a:tcPr marL="68580" marR="68580" marT="0" marB="0">
                    <a:solidFill>
                      <a:schemeClr val="accent3">
                        <a:lumMod val="75000"/>
                      </a:schemeClr>
                    </a:solidFill>
                  </a:tcPr>
                </a:tc>
                <a:extLst>
                  <a:ext uri="{0D108BD9-81ED-4DB2-BD59-A6C34878D82A}">
                    <a16:rowId xmlns:a16="http://schemas.microsoft.com/office/drawing/2014/main" val="2983737828"/>
                  </a:ext>
                </a:extLst>
              </a:tr>
            </a:tbl>
          </a:graphicData>
        </a:graphic>
      </p:graphicFrame>
    </p:spTree>
    <p:extLst>
      <p:ext uri="{BB962C8B-B14F-4D97-AF65-F5344CB8AC3E}">
        <p14:creationId xmlns:p14="http://schemas.microsoft.com/office/powerpoint/2010/main" val="2890769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58133E-4D8F-4F03-9F05-448553B84966}"/>
              </a:ext>
            </a:extLst>
          </p:cNvPr>
          <p:cNvSpPr/>
          <p:nvPr/>
        </p:nvSpPr>
        <p:spPr>
          <a:xfrm>
            <a:off x="0" y="0"/>
            <a:ext cx="12192000" cy="50800"/>
          </a:xfrm>
          <a:prstGeom prst="rect">
            <a:avLst/>
          </a:prstGeom>
          <a:solidFill>
            <a:srgbClr val="2D6A4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F7D70C70-5C4F-4723-9034-67B7BBCA5AF6}"/>
              </a:ext>
            </a:extLst>
          </p:cNvPr>
          <p:cNvSpPr txBox="1"/>
          <p:nvPr/>
        </p:nvSpPr>
        <p:spPr>
          <a:xfrm>
            <a:off x="457200" y="88900"/>
            <a:ext cx="4572000" cy="254000"/>
          </a:xfrm>
          <a:prstGeom prst="rect">
            <a:avLst/>
          </a:prstGeom>
          <a:noFill/>
        </p:spPr>
        <p:txBody>
          <a:bodyPr vertOverflow="overflow" vert="horz" wrap="square" rtlCol="0" anchor="t">
            <a:spAutoFit/>
          </a:bodyPr>
          <a:lstStyle/>
          <a:p>
            <a:pPr algn="l"/>
            <a:r>
              <a:rPr lang="en-US" sz="850" b="1">
                <a:solidFill>
                  <a:srgbClr val="2D6A4F"/>
                </a:solidFill>
                <a:latin typeface="Helvetica"/>
                <a:cs typeface="Helvetica"/>
              </a:rPr>
              <a:t>CONCLUSION</a:t>
            </a:r>
          </a:p>
        </p:txBody>
      </p:sp>
      <p:sp>
        <p:nvSpPr>
          <p:cNvPr id="4" name="TextBox 3">
            <a:extLst>
              <a:ext uri="{FF2B5EF4-FFF2-40B4-BE49-F238E27FC236}">
                <a16:creationId xmlns:a16="http://schemas.microsoft.com/office/drawing/2014/main" id="{AAE572F2-FD80-4684-9837-B3B909390003}"/>
              </a:ext>
            </a:extLst>
          </p:cNvPr>
          <p:cNvSpPr txBox="1"/>
          <p:nvPr/>
        </p:nvSpPr>
        <p:spPr>
          <a:xfrm>
            <a:off x="457200" y="419100"/>
            <a:ext cx="11252200" cy="635000"/>
          </a:xfrm>
          <a:prstGeom prst="rect">
            <a:avLst/>
          </a:prstGeom>
          <a:noFill/>
        </p:spPr>
        <p:txBody>
          <a:bodyPr vertOverflow="overflow" vert="horz" wrap="square" rtlCol="0" anchor="t">
            <a:spAutoFit/>
          </a:bodyPr>
          <a:lstStyle/>
          <a:p>
            <a:pPr algn="l"/>
            <a:r>
              <a:rPr lang="en-US" sz="3400" b="1" dirty="0">
                <a:solidFill>
                  <a:srgbClr val="0F172A"/>
                </a:solidFill>
                <a:latin typeface="Helvetica"/>
                <a:cs typeface="Helvetica"/>
              </a:rPr>
              <a:t>Conclusion 1</a:t>
            </a:r>
          </a:p>
        </p:txBody>
      </p:sp>
      <p:sp>
        <p:nvSpPr>
          <p:cNvPr id="22" name="TextBox 21">
            <a:extLst>
              <a:ext uri="{FF2B5EF4-FFF2-40B4-BE49-F238E27FC236}">
                <a16:creationId xmlns:a16="http://schemas.microsoft.com/office/drawing/2014/main" id="{FCDD49F2-CED1-454E-A46E-243F1B562275}"/>
              </a:ext>
            </a:extLst>
          </p:cNvPr>
          <p:cNvSpPr txBox="1"/>
          <p:nvPr/>
        </p:nvSpPr>
        <p:spPr>
          <a:xfrm>
            <a:off x="457200" y="1117600"/>
            <a:ext cx="11252200" cy="292388"/>
          </a:xfrm>
          <a:prstGeom prst="rect">
            <a:avLst/>
          </a:prstGeom>
          <a:noFill/>
        </p:spPr>
        <p:txBody>
          <a:bodyPr vertOverflow="overflow" vert="horz" wrap="square" rtlCol="0" anchor="t">
            <a:spAutoFit/>
          </a:bodyPr>
          <a:lstStyle/>
          <a:p>
            <a:pPr algn="l"/>
            <a:r>
              <a:rPr lang="en-US" sz="1300" dirty="0">
                <a:solidFill>
                  <a:srgbClr val="64748B"/>
                </a:solidFill>
                <a:latin typeface="Helvetica"/>
                <a:cs typeface="Helvetica"/>
              </a:rPr>
              <a:t>Full single test chain at 3.3% of the 10 </a:t>
            </a:r>
            <a:r>
              <a:rPr lang="en-US" sz="1300" dirty="0" err="1">
                <a:solidFill>
                  <a:srgbClr val="64748B"/>
                </a:solidFill>
                <a:latin typeface="Helvetica"/>
                <a:cs typeface="Helvetica"/>
              </a:rPr>
              <a:t>ms</a:t>
            </a:r>
            <a:r>
              <a:rPr lang="en-US" sz="1300" dirty="0">
                <a:solidFill>
                  <a:srgbClr val="64748B"/>
                </a:solidFill>
                <a:latin typeface="Helvetica"/>
                <a:cs typeface="Helvetica"/>
              </a:rPr>
              <a:t> budget, 10x faster when buffered,  |  1.28× measured from DATAFLOW  |  headroom for 19× more voices</a:t>
            </a:r>
          </a:p>
        </p:txBody>
      </p:sp>
      <p:sp>
        <p:nvSpPr>
          <p:cNvPr id="23" name="Rectangle 22">
            <a:extLst>
              <a:ext uri="{FF2B5EF4-FFF2-40B4-BE49-F238E27FC236}">
                <a16:creationId xmlns:a16="http://schemas.microsoft.com/office/drawing/2014/main" id="{7E562B52-D69E-4DA2-9EB6-805986B14046}"/>
              </a:ext>
            </a:extLst>
          </p:cNvPr>
          <p:cNvSpPr/>
          <p:nvPr/>
        </p:nvSpPr>
        <p:spPr>
          <a:xfrm>
            <a:off x="457200" y="1524000"/>
            <a:ext cx="11252200" cy="25400"/>
          </a:xfrm>
          <a:prstGeom prst="rect">
            <a:avLst/>
          </a:prstGeom>
          <a:solidFill>
            <a:srgbClr val="E2E8F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3964858F-4877-4DFC-B290-5732980F458F}"/>
              </a:ext>
            </a:extLst>
          </p:cNvPr>
          <p:cNvSpPr txBox="1"/>
          <p:nvPr/>
        </p:nvSpPr>
        <p:spPr>
          <a:xfrm>
            <a:off x="457200" y="1778000"/>
            <a:ext cx="3810000" cy="369332"/>
          </a:xfrm>
          <a:prstGeom prst="rect">
            <a:avLst/>
          </a:prstGeom>
          <a:noFill/>
        </p:spPr>
        <p:txBody>
          <a:bodyPr vertOverflow="overflow" vert="horz" wrap="square" rtlCol="0" anchor="t">
            <a:spAutoFit/>
          </a:bodyPr>
          <a:lstStyle/>
          <a:p>
            <a:pPr algn="l"/>
            <a:r>
              <a:rPr lang="en-US" b="1" dirty="0">
                <a:solidFill>
                  <a:srgbClr val="0F172A"/>
                </a:solidFill>
                <a:latin typeface="Helvetica"/>
                <a:cs typeface="Helvetica"/>
              </a:rPr>
              <a:t>Implemented </a:t>
            </a:r>
          </a:p>
        </p:txBody>
      </p:sp>
      <p:sp>
        <p:nvSpPr>
          <p:cNvPr id="25" name="Rectangle 24">
            <a:extLst>
              <a:ext uri="{FF2B5EF4-FFF2-40B4-BE49-F238E27FC236}">
                <a16:creationId xmlns:a16="http://schemas.microsoft.com/office/drawing/2014/main" id="{82E50023-FE61-40CE-B427-FFA2A06A884D}"/>
              </a:ext>
            </a:extLst>
          </p:cNvPr>
          <p:cNvSpPr/>
          <p:nvPr/>
        </p:nvSpPr>
        <p:spPr>
          <a:xfrm>
            <a:off x="457200" y="2159000"/>
            <a:ext cx="609600" cy="25400"/>
          </a:xfrm>
          <a:prstGeom prst="rect">
            <a:avLst/>
          </a:prstGeom>
          <a:solidFill>
            <a:srgbClr val="52B78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371EDAE9-1203-46FA-960B-10A5DC24239A}"/>
              </a:ext>
            </a:extLst>
          </p:cNvPr>
          <p:cNvSpPr/>
          <p:nvPr/>
        </p:nvSpPr>
        <p:spPr>
          <a:xfrm>
            <a:off x="457200" y="2463800"/>
            <a:ext cx="127000" cy="127000"/>
          </a:xfrm>
          <a:prstGeom prst="rect">
            <a:avLst/>
          </a:prstGeom>
          <a:solidFill>
            <a:srgbClr val="52B78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09C9F39B-20F2-40F4-AD32-6C0B65E72692}"/>
              </a:ext>
            </a:extLst>
          </p:cNvPr>
          <p:cNvSpPr txBox="1"/>
          <p:nvPr/>
        </p:nvSpPr>
        <p:spPr>
          <a:xfrm>
            <a:off x="736600" y="2387600"/>
            <a:ext cx="5588000" cy="279400"/>
          </a:xfrm>
          <a:prstGeom prst="rect">
            <a:avLst/>
          </a:prstGeom>
          <a:noFill/>
        </p:spPr>
        <p:txBody>
          <a:bodyPr vertOverflow="overflow" vert="horz" wrap="square" rtlCol="0" anchor="t">
            <a:spAutoFit/>
          </a:bodyPr>
          <a:lstStyle/>
          <a:p>
            <a:pPr algn="l"/>
            <a:r>
              <a:rPr lang="en-US" sz="1300" b="1">
                <a:solidFill>
                  <a:srgbClr val="0F172A"/>
                </a:solidFill>
                <a:latin typeface="Helvetica"/>
                <a:cs typeface="Helvetica"/>
              </a:rPr>
              <a:t>Full design flow</a:t>
            </a:r>
          </a:p>
        </p:txBody>
      </p:sp>
      <p:sp>
        <p:nvSpPr>
          <p:cNvPr id="42" name="TextBox 41">
            <a:extLst>
              <a:ext uri="{FF2B5EF4-FFF2-40B4-BE49-F238E27FC236}">
                <a16:creationId xmlns:a16="http://schemas.microsoft.com/office/drawing/2014/main" id="{CC063064-2563-4EEB-9BDE-A174A21EAE93}"/>
              </a:ext>
            </a:extLst>
          </p:cNvPr>
          <p:cNvSpPr txBox="1"/>
          <p:nvPr/>
        </p:nvSpPr>
        <p:spPr>
          <a:xfrm>
            <a:off x="736600" y="2667000"/>
            <a:ext cx="5588000" cy="304800"/>
          </a:xfrm>
          <a:prstGeom prst="rect">
            <a:avLst/>
          </a:prstGeom>
          <a:noFill/>
        </p:spPr>
        <p:txBody>
          <a:bodyPr vertOverflow="overflow" vert="horz" wrap="square" rtlCol="0" anchor="t">
            <a:spAutoFit/>
          </a:bodyPr>
          <a:lstStyle/>
          <a:p>
            <a:pPr algn="l"/>
            <a:r>
              <a:rPr lang="en-US" sz="1100">
                <a:solidFill>
                  <a:srgbClr val="64748B"/>
                </a:solidFill>
                <a:latin typeface="Helvetica"/>
                <a:cs typeface="Helvetica"/>
              </a:rPr>
              <a:t>C++ → HLS → Vivado → board. Both builds synthesized &amp; placed.</a:t>
            </a:r>
          </a:p>
        </p:txBody>
      </p:sp>
      <p:sp>
        <p:nvSpPr>
          <p:cNvPr id="43" name="Rectangle 42">
            <a:extLst>
              <a:ext uri="{FF2B5EF4-FFF2-40B4-BE49-F238E27FC236}">
                <a16:creationId xmlns:a16="http://schemas.microsoft.com/office/drawing/2014/main" id="{B1286171-0BBB-442E-A0CC-B68E06DA02D7}"/>
              </a:ext>
            </a:extLst>
          </p:cNvPr>
          <p:cNvSpPr/>
          <p:nvPr/>
        </p:nvSpPr>
        <p:spPr>
          <a:xfrm>
            <a:off x="457200" y="3149600"/>
            <a:ext cx="127000" cy="127000"/>
          </a:xfrm>
          <a:prstGeom prst="rect">
            <a:avLst/>
          </a:prstGeom>
          <a:solidFill>
            <a:srgbClr val="52B78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44" name="TextBox 43">
            <a:extLst>
              <a:ext uri="{FF2B5EF4-FFF2-40B4-BE49-F238E27FC236}">
                <a16:creationId xmlns:a16="http://schemas.microsoft.com/office/drawing/2014/main" id="{F53A22BC-AD60-4926-A8A7-2BF3C127799B}"/>
              </a:ext>
            </a:extLst>
          </p:cNvPr>
          <p:cNvSpPr txBox="1"/>
          <p:nvPr/>
        </p:nvSpPr>
        <p:spPr>
          <a:xfrm>
            <a:off x="736600" y="3073400"/>
            <a:ext cx="5588000" cy="279400"/>
          </a:xfrm>
          <a:prstGeom prst="rect">
            <a:avLst/>
          </a:prstGeom>
          <a:noFill/>
        </p:spPr>
        <p:txBody>
          <a:bodyPr vertOverflow="overflow" vert="horz" wrap="square" rtlCol="0" anchor="t">
            <a:spAutoFit/>
          </a:bodyPr>
          <a:lstStyle/>
          <a:p>
            <a:pPr algn="l"/>
            <a:r>
              <a:rPr lang="en-US" sz="1300" b="1">
                <a:solidFill>
                  <a:srgbClr val="0F172A"/>
                </a:solidFill>
                <a:latin typeface="Helvetica"/>
                <a:cs typeface="Helvetica"/>
              </a:rPr>
              <a:t>Bit-exact match (B1)</a:t>
            </a:r>
          </a:p>
        </p:txBody>
      </p:sp>
      <p:sp>
        <p:nvSpPr>
          <p:cNvPr id="45" name="TextBox 44">
            <a:extLst>
              <a:ext uri="{FF2B5EF4-FFF2-40B4-BE49-F238E27FC236}">
                <a16:creationId xmlns:a16="http://schemas.microsoft.com/office/drawing/2014/main" id="{AFAFF575-AB59-439F-B5EC-91697F62C845}"/>
              </a:ext>
            </a:extLst>
          </p:cNvPr>
          <p:cNvSpPr txBox="1"/>
          <p:nvPr/>
        </p:nvSpPr>
        <p:spPr>
          <a:xfrm>
            <a:off x="736600" y="3352800"/>
            <a:ext cx="5588000" cy="304800"/>
          </a:xfrm>
          <a:prstGeom prst="rect">
            <a:avLst/>
          </a:prstGeom>
          <a:noFill/>
        </p:spPr>
        <p:txBody>
          <a:bodyPr vertOverflow="overflow" vert="horz" wrap="square" rtlCol="0" anchor="t">
            <a:spAutoFit/>
          </a:bodyPr>
          <a:lstStyle/>
          <a:p>
            <a:pPr algn="l"/>
            <a:r>
              <a:rPr lang="en-US" sz="1100">
                <a:solidFill>
                  <a:srgbClr val="64748B"/>
                </a:solidFill>
                <a:latin typeface="Helvetica"/>
                <a:cs typeface="Helvetica"/>
              </a:rPr>
              <a:t>FPGA output matches Python integer reference for every sample.</a:t>
            </a:r>
          </a:p>
        </p:txBody>
      </p:sp>
      <p:sp>
        <p:nvSpPr>
          <p:cNvPr id="46" name="Rectangle 45">
            <a:extLst>
              <a:ext uri="{FF2B5EF4-FFF2-40B4-BE49-F238E27FC236}">
                <a16:creationId xmlns:a16="http://schemas.microsoft.com/office/drawing/2014/main" id="{4EF87A7A-A47C-4FD8-856A-4E16FADEBC1B}"/>
              </a:ext>
            </a:extLst>
          </p:cNvPr>
          <p:cNvSpPr/>
          <p:nvPr/>
        </p:nvSpPr>
        <p:spPr>
          <a:xfrm>
            <a:off x="457200" y="3835400"/>
            <a:ext cx="127000" cy="127000"/>
          </a:xfrm>
          <a:prstGeom prst="rect">
            <a:avLst/>
          </a:prstGeom>
          <a:solidFill>
            <a:srgbClr val="52B78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47" name="TextBox 46">
            <a:extLst>
              <a:ext uri="{FF2B5EF4-FFF2-40B4-BE49-F238E27FC236}">
                <a16:creationId xmlns:a16="http://schemas.microsoft.com/office/drawing/2014/main" id="{1B767A65-178B-49EC-9371-F7871483140F}"/>
              </a:ext>
            </a:extLst>
          </p:cNvPr>
          <p:cNvSpPr txBox="1"/>
          <p:nvPr/>
        </p:nvSpPr>
        <p:spPr>
          <a:xfrm>
            <a:off x="736600" y="3759200"/>
            <a:ext cx="5588000" cy="279400"/>
          </a:xfrm>
          <a:prstGeom prst="rect">
            <a:avLst/>
          </a:prstGeom>
          <a:noFill/>
        </p:spPr>
        <p:txBody>
          <a:bodyPr vertOverflow="overflow" vert="horz" wrap="square" rtlCol="0" anchor="t">
            <a:spAutoFit/>
          </a:bodyPr>
          <a:lstStyle/>
          <a:p>
            <a:pPr algn="l"/>
            <a:r>
              <a:rPr lang="en-US" sz="1300" b="1">
                <a:solidFill>
                  <a:srgbClr val="0F172A"/>
                </a:solidFill>
                <a:latin typeface="Helvetica"/>
                <a:cs typeface="Helvetica"/>
              </a:rPr>
              <a:t>Block design + DMA</a:t>
            </a:r>
          </a:p>
        </p:txBody>
      </p:sp>
      <p:sp>
        <p:nvSpPr>
          <p:cNvPr id="48" name="TextBox 47">
            <a:extLst>
              <a:ext uri="{FF2B5EF4-FFF2-40B4-BE49-F238E27FC236}">
                <a16:creationId xmlns:a16="http://schemas.microsoft.com/office/drawing/2014/main" id="{478721A9-DD60-49D1-87A0-A914486C6E9C}"/>
              </a:ext>
            </a:extLst>
          </p:cNvPr>
          <p:cNvSpPr txBox="1"/>
          <p:nvPr/>
        </p:nvSpPr>
        <p:spPr>
          <a:xfrm>
            <a:off x="736600" y="4038600"/>
            <a:ext cx="5588000" cy="261610"/>
          </a:xfrm>
          <a:prstGeom prst="rect">
            <a:avLst/>
          </a:prstGeom>
          <a:noFill/>
        </p:spPr>
        <p:txBody>
          <a:bodyPr vertOverflow="overflow" vert="horz" wrap="square" rtlCol="0" anchor="t">
            <a:spAutoFit/>
          </a:bodyPr>
          <a:lstStyle/>
          <a:p>
            <a:pPr algn="l"/>
            <a:r>
              <a:rPr lang="en-US" sz="1100" dirty="0" err="1">
                <a:solidFill>
                  <a:srgbClr val="64748B"/>
                </a:solidFill>
                <a:latin typeface="Helvetica"/>
                <a:cs typeface="Helvetica"/>
              </a:rPr>
              <a:t>m_axi_MEM</a:t>
            </a:r>
            <a:r>
              <a:rPr lang="en-US" sz="1100" dirty="0">
                <a:solidFill>
                  <a:srgbClr val="64748B"/>
                </a:solidFill>
                <a:latin typeface="Helvetica"/>
                <a:cs typeface="Helvetica"/>
              </a:rPr>
              <a:t> wired through SmartConnect to HP0</a:t>
            </a:r>
          </a:p>
        </p:txBody>
      </p:sp>
      <p:sp>
        <p:nvSpPr>
          <p:cNvPr id="49" name="Rectangle 48">
            <a:extLst>
              <a:ext uri="{FF2B5EF4-FFF2-40B4-BE49-F238E27FC236}">
                <a16:creationId xmlns:a16="http://schemas.microsoft.com/office/drawing/2014/main" id="{FDDE4BFB-2877-4673-8138-506EA95C7376}"/>
              </a:ext>
            </a:extLst>
          </p:cNvPr>
          <p:cNvSpPr/>
          <p:nvPr/>
        </p:nvSpPr>
        <p:spPr>
          <a:xfrm>
            <a:off x="457200" y="4521200"/>
            <a:ext cx="127000" cy="127000"/>
          </a:xfrm>
          <a:prstGeom prst="rect">
            <a:avLst/>
          </a:prstGeom>
          <a:solidFill>
            <a:srgbClr val="52B78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0" name="TextBox 49">
            <a:extLst>
              <a:ext uri="{FF2B5EF4-FFF2-40B4-BE49-F238E27FC236}">
                <a16:creationId xmlns:a16="http://schemas.microsoft.com/office/drawing/2014/main" id="{6C6EFB72-6EC7-4ACE-9CE9-6E069EE317D4}"/>
              </a:ext>
            </a:extLst>
          </p:cNvPr>
          <p:cNvSpPr txBox="1"/>
          <p:nvPr/>
        </p:nvSpPr>
        <p:spPr>
          <a:xfrm>
            <a:off x="736600" y="4445000"/>
            <a:ext cx="5588000" cy="292388"/>
          </a:xfrm>
          <a:prstGeom prst="rect">
            <a:avLst/>
          </a:prstGeom>
          <a:noFill/>
        </p:spPr>
        <p:txBody>
          <a:bodyPr vertOverflow="overflow" vert="horz" wrap="square" rtlCol="0" anchor="t">
            <a:spAutoFit/>
          </a:bodyPr>
          <a:lstStyle/>
          <a:p>
            <a:pPr algn="l"/>
            <a:r>
              <a:rPr lang="en-US" sz="1300" b="1" dirty="0">
                <a:solidFill>
                  <a:srgbClr val="0F172A"/>
                </a:solidFill>
                <a:latin typeface="Helvetica"/>
                <a:cs typeface="Helvetica"/>
              </a:rPr>
              <a:t>State continuity (B1 &amp; B2)</a:t>
            </a:r>
          </a:p>
        </p:txBody>
      </p:sp>
      <p:sp>
        <p:nvSpPr>
          <p:cNvPr id="51" name="TextBox 50">
            <a:extLst>
              <a:ext uri="{FF2B5EF4-FFF2-40B4-BE49-F238E27FC236}">
                <a16:creationId xmlns:a16="http://schemas.microsoft.com/office/drawing/2014/main" id="{49654793-8216-495D-9695-36102A7A53E8}"/>
              </a:ext>
            </a:extLst>
          </p:cNvPr>
          <p:cNvSpPr txBox="1"/>
          <p:nvPr/>
        </p:nvSpPr>
        <p:spPr>
          <a:xfrm>
            <a:off x="736600" y="4724400"/>
            <a:ext cx="5588000" cy="304800"/>
          </a:xfrm>
          <a:prstGeom prst="rect">
            <a:avLst/>
          </a:prstGeom>
          <a:noFill/>
        </p:spPr>
        <p:txBody>
          <a:bodyPr vertOverflow="overflow" vert="horz" wrap="square" rtlCol="0" anchor="t">
            <a:spAutoFit/>
          </a:bodyPr>
          <a:lstStyle/>
          <a:p>
            <a:pPr algn="l"/>
            <a:r>
              <a:rPr lang="en-US" sz="1100" dirty="0">
                <a:solidFill>
                  <a:srgbClr val="64748B"/>
                </a:solidFill>
                <a:latin typeface="Helvetica"/>
                <a:cs typeface="Helvetica"/>
              </a:rPr>
              <a:t>3-second WAV, 300+ chunks, LFO &amp; echo tail continuous throughout.</a:t>
            </a:r>
          </a:p>
        </p:txBody>
      </p:sp>
      <p:sp>
        <p:nvSpPr>
          <p:cNvPr id="52" name="Rectangle 51">
            <a:extLst>
              <a:ext uri="{FF2B5EF4-FFF2-40B4-BE49-F238E27FC236}">
                <a16:creationId xmlns:a16="http://schemas.microsoft.com/office/drawing/2014/main" id="{EF47A52B-5674-47FD-9C42-6C9E98D0A969}"/>
              </a:ext>
            </a:extLst>
          </p:cNvPr>
          <p:cNvSpPr/>
          <p:nvPr/>
        </p:nvSpPr>
        <p:spPr>
          <a:xfrm>
            <a:off x="457200" y="5207000"/>
            <a:ext cx="127000" cy="127000"/>
          </a:xfrm>
          <a:prstGeom prst="rect">
            <a:avLst/>
          </a:prstGeom>
          <a:solidFill>
            <a:srgbClr val="52B78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3" name="TextBox 52">
            <a:extLst>
              <a:ext uri="{FF2B5EF4-FFF2-40B4-BE49-F238E27FC236}">
                <a16:creationId xmlns:a16="http://schemas.microsoft.com/office/drawing/2014/main" id="{44D8C3D8-1CC5-4AB3-837A-35EDB780393B}"/>
              </a:ext>
            </a:extLst>
          </p:cNvPr>
          <p:cNvSpPr txBox="1"/>
          <p:nvPr/>
        </p:nvSpPr>
        <p:spPr>
          <a:xfrm>
            <a:off x="736600" y="5130800"/>
            <a:ext cx="5588000" cy="279400"/>
          </a:xfrm>
          <a:prstGeom prst="rect">
            <a:avLst/>
          </a:prstGeom>
          <a:noFill/>
        </p:spPr>
        <p:txBody>
          <a:bodyPr vertOverflow="overflow" vert="horz" wrap="square" rtlCol="0" anchor="t">
            <a:spAutoFit/>
          </a:bodyPr>
          <a:lstStyle/>
          <a:p>
            <a:pPr algn="l"/>
            <a:r>
              <a:rPr lang="en-US" sz="1300" b="1">
                <a:solidFill>
                  <a:srgbClr val="0F172A"/>
                </a:solidFill>
                <a:latin typeface="Helvetica"/>
                <a:cs typeface="Helvetica"/>
              </a:rPr>
              <a:t>Both builds on hardware</a:t>
            </a:r>
          </a:p>
        </p:txBody>
      </p:sp>
      <p:sp>
        <p:nvSpPr>
          <p:cNvPr id="54" name="TextBox 53">
            <a:extLst>
              <a:ext uri="{FF2B5EF4-FFF2-40B4-BE49-F238E27FC236}">
                <a16:creationId xmlns:a16="http://schemas.microsoft.com/office/drawing/2014/main" id="{16E43B19-DCA2-485C-8572-90651B01DF85}"/>
              </a:ext>
            </a:extLst>
          </p:cNvPr>
          <p:cNvSpPr txBox="1"/>
          <p:nvPr/>
        </p:nvSpPr>
        <p:spPr>
          <a:xfrm>
            <a:off x="736600" y="5410200"/>
            <a:ext cx="5588000" cy="304800"/>
          </a:xfrm>
          <a:prstGeom prst="rect">
            <a:avLst/>
          </a:prstGeom>
          <a:noFill/>
        </p:spPr>
        <p:txBody>
          <a:bodyPr vertOverflow="overflow" vert="horz" wrap="square" rtlCol="0" anchor="t">
            <a:spAutoFit/>
          </a:bodyPr>
          <a:lstStyle/>
          <a:p>
            <a:pPr algn="l"/>
            <a:r>
              <a:rPr lang="en-US" sz="1100">
                <a:solidFill>
                  <a:srgbClr val="64748B"/>
                </a:solidFill>
                <a:latin typeface="Helvetica"/>
                <a:cs typeface="Helvetica"/>
              </a:rPr>
              <a:t>B1 = 42.31 µs  |  B2 = 32.97 µs  |  1.28× sequential speedup.</a:t>
            </a:r>
          </a:p>
        </p:txBody>
      </p:sp>
      <p:sp>
        <p:nvSpPr>
          <p:cNvPr id="55" name="TextBox 54">
            <a:extLst>
              <a:ext uri="{FF2B5EF4-FFF2-40B4-BE49-F238E27FC236}">
                <a16:creationId xmlns:a16="http://schemas.microsoft.com/office/drawing/2014/main" id="{A3B4B3E4-A80A-42B6-978B-6D8A494C6920}"/>
              </a:ext>
            </a:extLst>
          </p:cNvPr>
          <p:cNvSpPr txBox="1"/>
          <p:nvPr/>
        </p:nvSpPr>
        <p:spPr>
          <a:xfrm>
            <a:off x="6858000" y="1778000"/>
            <a:ext cx="3810000" cy="355600"/>
          </a:xfrm>
          <a:prstGeom prst="rect">
            <a:avLst/>
          </a:prstGeom>
          <a:noFill/>
        </p:spPr>
        <p:txBody>
          <a:bodyPr vertOverflow="overflow" vert="horz" wrap="square" rtlCol="0" anchor="t">
            <a:spAutoFit/>
          </a:bodyPr>
          <a:lstStyle/>
          <a:p>
            <a:pPr algn="l"/>
            <a:r>
              <a:rPr lang="en-US" b="1">
                <a:solidFill>
                  <a:srgbClr val="0F172A"/>
                </a:solidFill>
                <a:latin typeface="Helvetica"/>
                <a:cs typeface="Helvetica"/>
              </a:rPr>
              <a:t>Numbers</a:t>
            </a:r>
          </a:p>
        </p:txBody>
      </p:sp>
      <p:sp>
        <p:nvSpPr>
          <p:cNvPr id="56" name="Rectangle 55">
            <a:extLst>
              <a:ext uri="{FF2B5EF4-FFF2-40B4-BE49-F238E27FC236}">
                <a16:creationId xmlns:a16="http://schemas.microsoft.com/office/drawing/2014/main" id="{08A6CD85-D16F-40A8-B96D-729F6764FB11}"/>
              </a:ext>
            </a:extLst>
          </p:cNvPr>
          <p:cNvSpPr/>
          <p:nvPr/>
        </p:nvSpPr>
        <p:spPr>
          <a:xfrm>
            <a:off x="6858000" y="2159000"/>
            <a:ext cx="609600" cy="25400"/>
          </a:xfrm>
          <a:prstGeom prst="rect">
            <a:avLst/>
          </a:prstGeom>
          <a:solidFill>
            <a:srgbClr val="60A5F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58" name="TextBox 57">
            <a:extLst>
              <a:ext uri="{FF2B5EF4-FFF2-40B4-BE49-F238E27FC236}">
                <a16:creationId xmlns:a16="http://schemas.microsoft.com/office/drawing/2014/main" id="{6C46454D-BBF0-48EF-A43A-CD76D0F8A7B8}"/>
              </a:ext>
            </a:extLst>
          </p:cNvPr>
          <p:cNvSpPr txBox="1"/>
          <p:nvPr/>
        </p:nvSpPr>
        <p:spPr>
          <a:xfrm>
            <a:off x="6781799" y="2244725"/>
            <a:ext cx="4670425" cy="830997"/>
          </a:xfrm>
          <a:prstGeom prst="rect">
            <a:avLst/>
          </a:prstGeom>
          <a:noFill/>
        </p:spPr>
        <p:txBody>
          <a:bodyPr vertOverflow="overflow" vert="horz" wrap="square" rtlCol="0" anchor="t" anchorCtr="0">
            <a:spAutoFit/>
          </a:bodyPr>
          <a:lstStyle/>
          <a:p>
            <a:pPr algn="l"/>
            <a:r>
              <a:rPr lang="en-US" sz="4800" b="1" dirty="0">
                <a:solidFill>
                  <a:srgbClr val="60A5FA"/>
                </a:solidFill>
                <a:latin typeface="Helvetica"/>
                <a:cs typeface="Helvetica"/>
              </a:rPr>
              <a:t>303x (buffered)</a:t>
            </a:r>
          </a:p>
        </p:txBody>
      </p:sp>
      <p:sp>
        <p:nvSpPr>
          <p:cNvPr id="60" name="TextBox 59">
            <a:extLst>
              <a:ext uri="{FF2B5EF4-FFF2-40B4-BE49-F238E27FC236}">
                <a16:creationId xmlns:a16="http://schemas.microsoft.com/office/drawing/2014/main" id="{C58C78F4-BAC0-47F6-B100-0E40EF60F099}"/>
              </a:ext>
            </a:extLst>
          </p:cNvPr>
          <p:cNvSpPr txBox="1"/>
          <p:nvPr/>
        </p:nvSpPr>
        <p:spPr>
          <a:xfrm>
            <a:off x="9525000" y="2997200"/>
            <a:ext cx="2159000" cy="228600"/>
          </a:xfrm>
          <a:prstGeom prst="rect">
            <a:avLst/>
          </a:prstGeom>
          <a:noFill/>
        </p:spPr>
        <p:txBody>
          <a:bodyPr vertOverflow="overflow" vert="horz" wrap="square" rtlCol="0" anchor="t">
            <a:spAutoFit/>
          </a:bodyPr>
          <a:lstStyle/>
          <a:p>
            <a:pPr algn="l"/>
            <a:r>
              <a:rPr lang="en-US" sz="1100" b="1">
                <a:solidFill>
                  <a:srgbClr val="FFFFFF"/>
                </a:solidFill>
                <a:latin typeface="Helvetica"/>
                <a:cs typeface="Helvetica"/>
              </a:rPr>
              <a:t>32.97 µs measured (B2)</a:t>
            </a:r>
          </a:p>
        </p:txBody>
      </p:sp>
      <p:sp>
        <p:nvSpPr>
          <p:cNvPr id="62" name="Rectangle 61">
            <a:extLst>
              <a:ext uri="{FF2B5EF4-FFF2-40B4-BE49-F238E27FC236}">
                <a16:creationId xmlns:a16="http://schemas.microsoft.com/office/drawing/2014/main" id="{01AEC8A0-F494-4775-B0D3-DAA77A222CF9}"/>
              </a:ext>
            </a:extLst>
          </p:cNvPr>
          <p:cNvSpPr/>
          <p:nvPr/>
        </p:nvSpPr>
        <p:spPr>
          <a:xfrm>
            <a:off x="6908800" y="2981325"/>
            <a:ext cx="381000" cy="25400"/>
          </a:xfrm>
          <a:prstGeom prst="rect">
            <a:avLst/>
          </a:prstGeom>
          <a:solidFill>
            <a:srgbClr val="60A5F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3" name="TextBox 62">
            <a:extLst>
              <a:ext uri="{FF2B5EF4-FFF2-40B4-BE49-F238E27FC236}">
                <a16:creationId xmlns:a16="http://schemas.microsoft.com/office/drawing/2014/main" id="{6BFFDA99-7381-48D5-AE47-82FE675AFFB9}"/>
              </a:ext>
            </a:extLst>
          </p:cNvPr>
          <p:cNvSpPr txBox="1"/>
          <p:nvPr/>
        </p:nvSpPr>
        <p:spPr>
          <a:xfrm>
            <a:off x="6908800" y="3032125"/>
            <a:ext cx="2540000" cy="203200"/>
          </a:xfrm>
          <a:prstGeom prst="rect">
            <a:avLst/>
          </a:prstGeom>
          <a:noFill/>
        </p:spPr>
        <p:txBody>
          <a:bodyPr vertOverflow="overflow" vert="horz" wrap="square" rtlCol="0" anchor="t">
            <a:spAutoFit/>
          </a:bodyPr>
          <a:lstStyle/>
          <a:p>
            <a:pPr algn="l"/>
            <a:r>
              <a:rPr lang="en-US" sz="1000">
                <a:solidFill>
                  <a:srgbClr val="94A3B8"/>
                </a:solidFill>
                <a:latin typeface="Helvetica"/>
                <a:cs typeface="Helvetica"/>
              </a:rPr>
              <a:t>0.33% of budget</a:t>
            </a:r>
          </a:p>
        </p:txBody>
      </p:sp>
      <p:sp>
        <p:nvSpPr>
          <p:cNvPr id="66" name="TextBox 65">
            <a:extLst>
              <a:ext uri="{FF2B5EF4-FFF2-40B4-BE49-F238E27FC236}">
                <a16:creationId xmlns:a16="http://schemas.microsoft.com/office/drawing/2014/main" id="{51786F24-5120-45B6-8F40-147DD128E559}"/>
              </a:ext>
            </a:extLst>
          </p:cNvPr>
          <p:cNvSpPr txBox="1"/>
          <p:nvPr/>
        </p:nvSpPr>
        <p:spPr>
          <a:xfrm>
            <a:off x="7112000" y="3552825"/>
            <a:ext cx="2286000" cy="762000"/>
          </a:xfrm>
          <a:prstGeom prst="rect">
            <a:avLst/>
          </a:prstGeom>
          <a:noFill/>
        </p:spPr>
        <p:txBody>
          <a:bodyPr vertOverflow="overflow" vert="horz" wrap="square" rtlCol="0" anchor="t" anchorCtr="0">
            <a:spAutoFit/>
          </a:bodyPr>
          <a:lstStyle/>
          <a:p>
            <a:pPr algn="l"/>
            <a:r>
              <a:rPr lang="en-US" sz="4800" b="1">
                <a:solidFill>
                  <a:srgbClr val="2D6A4F"/>
                </a:solidFill>
                <a:latin typeface="Helvetica"/>
                <a:cs typeface="Helvetica"/>
              </a:rPr>
              <a:t>~19</a:t>
            </a:r>
          </a:p>
        </p:txBody>
      </p:sp>
      <p:sp>
        <p:nvSpPr>
          <p:cNvPr id="67" name="TextBox 66">
            <a:extLst>
              <a:ext uri="{FF2B5EF4-FFF2-40B4-BE49-F238E27FC236}">
                <a16:creationId xmlns:a16="http://schemas.microsoft.com/office/drawing/2014/main" id="{3E685262-53B3-42AA-8660-7B9D631047D5}"/>
              </a:ext>
            </a:extLst>
          </p:cNvPr>
          <p:cNvSpPr txBox="1"/>
          <p:nvPr/>
        </p:nvSpPr>
        <p:spPr>
          <a:xfrm>
            <a:off x="8369300" y="3679825"/>
            <a:ext cx="2159000" cy="276999"/>
          </a:xfrm>
          <a:prstGeom prst="rect">
            <a:avLst/>
          </a:prstGeom>
          <a:noFill/>
        </p:spPr>
        <p:txBody>
          <a:bodyPr vertOverflow="overflow" vert="horz" wrap="square" rtlCol="0" anchor="t">
            <a:spAutoFit/>
          </a:bodyPr>
          <a:lstStyle/>
          <a:p>
            <a:pPr algn="l"/>
            <a:r>
              <a:rPr lang="en-US" sz="1200" dirty="0">
                <a:solidFill>
                  <a:srgbClr val="64748B"/>
                </a:solidFill>
                <a:latin typeface="Helvetica"/>
                <a:cs typeface="Helvetica"/>
              </a:rPr>
              <a:t>parallel chains possible</a:t>
            </a:r>
          </a:p>
        </p:txBody>
      </p:sp>
      <p:sp>
        <p:nvSpPr>
          <p:cNvPr id="68" name="TextBox 67">
            <a:extLst>
              <a:ext uri="{FF2B5EF4-FFF2-40B4-BE49-F238E27FC236}">
                <a16:creationId xmlns:a16="http://schemas.microsoft.com/office/drawing/2014/main" id="{57F8451D-B181-4510-9405-E68F1FCA7BF7}"/>
              </a:ext>
            </a:extLst>
          </p:cNvPr>
          <p:cNvSpPr txBox="1"/>
          <p:nvPr/>
        </p:nvSpPr>
        <p:spPr>
          <a:xfrm>
            <a:off x="8369300" y="3984625"/>
            <a:ext cx="2159000" cy="600164"/>
          </a:xfrm>
          <a:prstGeom prst="rect">
            <a:avLst/>
          </a:prstGeom>
          <a:noFill/>
        </p:spPr>
        <p:txBody>
          <a:bodyPr vertOverflow="overflow" vert="horz" wrap="square" rtlCol="0" anchor="t">
            <a:spAutoFit/>
          </a:bodyPr>
          <a:lstStyle/>
          <a:p>
            <a:pPr algn="l"/>
            <a:r>
              <a:rPr lang="en-US" sz="1100" b="1" dirty="0">
                <a:solidFill>
                  <a:srgbClr val="0F172A"/>
                </a:solidFill>
                <a:latin typeface="Helvetica"/>
                <a:cs typeface="Helvetica"/>
              </a:rPr>
              <a:t>on one chip.</a:t>
            </a:r>
          </a:p>
          <a:p>
            <a:pPr algn="l"/>
            <a:r>
              <a:rPr lang="en-US" sz="1100" b="1" dirty="0">
                <a:solidFill>
                  <a:srgbClr val="0F172A"/>
                </a:solidFill>
                <a:latin typeface="Helvetica"/>
                <a:cs typeface="Helvetica"/>
              </a:rPr>
              <a:t>Conservative 10*303 = 5757 </a:t>
            </a:r>
          </a:p>
          <a:p>
            <a:pPr algn="l"/>
            <a:r>
              <a:rPr lang="en-US" sz="1100" b="1" dirty="0">
                <a:solidFill>
                  <a:srgbClr val="0F172A"/>
                </a:solidFill>
                <a:latin typeface="Helvetica"/>
                <a:cs typeface="Helvetica"/>
              </a:rPr>
              <a:t>Steams! </a:t>
            </a:r>
          </a:p>
        </p:txBody>
      </p:sp>
      <p:sp>
        <p:nvSpPr>
          <p:cNvPr id="69" name="Rectangle 68">
            <a:extLst>
              <a:ext uri="{FF2B5EF4-FFF2-40B4-BE49-F238E27FC236}">
                <a16:creationId xmlns:a16="http://schemas.microsoft.com/office/drawing/2014/main" id="{F06D91D2-6981-4A41-AF83-9F0931819BC6}"/>
              </a:ext>
            </a:extLst>
          </p:cNvPr>
          <p:cNvSpPr/>
          <p:nvPr/>
        </p:nvSpPr>
        <p:spPr>
          <a:xfrm>
            <a:off x="7112000" y="4568825"/>
            <a:ext cx="381000" cy="25400"/>
          </a:xfrm>
          <a:prstGeom prst="rect">
            <a:avLst/>
          </a:prstGeom>
          <a:solidFill>
            <a:srgbClr val="52B78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0" name="TextBox 69">
            <a:extLst>
              <a:ext uri="{FF2B5EF4-FFF2-40B4-BE49-F238E27FC236}">
                <a16:creationId xmlns:a16="http://schemas.microsoft.com/office/drawing/2014/main" id="{BFCCF08E-7978-46BE-868F-511E36A0BBA5}"/>
              </a:ext>
            </a:extLst>
          </p:cNvPr>
          <p:cNvSpPr txBox="1"/>
          <p:nvPr/>
        </p:nvSpPr>
        <p:spPr>
          <a:xfrm>
            <a:off x="7112000" y="4619625"/>
            <a:ext cx="4445000" cy="203200"/>
          </a:xfrm>
          <a:prstGeom prst="rect">
            <a:avLst/>
          </a:prstGeom>
          <a:noFill/>
        </p:spPr>
        <p:txBody>
          <a:bodyPr vertOverflow="overflow" vert="horz" wrap="square" rtlCol="0" anchor="t">
            <a:spAutoFit/>
          </a:bodyPr>
          <a:lstStyle/>
          <a:p>
            <a:pPr algn="l"/>
            <a:r>
              <a:rPr lang="en-US" sz="1000">
                <a:solidFill>
                  <a:srgbClr val="64748B"/>
                </a:solidFill>
                <a:latin typeface="Helvetica"/>
                <a:cs typeface="Helvetica"/>
              </a:rPr>
              <a:t>5.2% LUT used → 19× before chip is full</a:t>
            </a:r>
          </a:p>
        </p:txBody>
      </p:sp>
      <p:sp>
        <p:nvSpPr>
          <p:cNvPr id="71" name="Rectangle 70">
            <a:extLst>
              <a:ext uri="{FF2B5EF4-FFF2-40B4-BE49-F238E27FC236}">
                <a16:creationId xmlns:a16="http://schemas.microsoft.com/office/drawing/2014/main" id="{4C962099-BEC0-4445-9434-F87FAFC8DE1C}"/>
              </a:ext>
            </a:extLst>
          </p:cNvPr>
          <p:cNvSpPr/>
          <p:nvPr/>
        </p:nvSpPr>
        <p:spPr>
          <a:xfrm>
            <a:off x="0" y="6223000"/>
            <a:ext cx="12192000" cy="635000"/>
          </a:xfrm>
          <a:prstGeom prst="rect">
            <a:avLst/>
          </a:prstGeom>
          <a:solidFill>
            <a:srgbClr val="1E1B4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2" name="TextBox 71">
            <a:extLst>
              <a:ext uri="{FF2B5EF4-FFF2-40B4-BE49-F238E27FC236}">
                <a16:creationId xmlns:a16="http://schemas.microsoft.com/office/drawing/2014/main" id="{3770F112-B2AE-4582-9A74-462763EA9F51}"/>
              </a:ext>
            </a:extLst>
          </p:cNvPr>
          <p:cNvSpPr txBox="1"/>
          <p:nvPr/>
        </p:nvSpPr>
        <p:spPr>
          <a:xfrm>
            <a:off x="457200" y="6324600"/>
            <a:ext cx="2540000" cy="203200"/>
          </a:xfrm>
          <a:prstGeom prst="rect">
            <a:avLst/>
          </a:prstGeom>
          <a:noFill/>
        </p:spPr>
        <p:txBody>
          <a:bodyPr vertOverflow="overflow" vert="horz" wrap="square" rtlCol="0" anchor="t">
            <a:spAutoFit/>
          </a:bodyPr>
          <a:lstStyle/>
          <a:p>
            <a:pPr algn="l"/>
            <a:r>
              <a:rPr lang="en-US" sz="900" b="1">
                <a:solidFill>
                  <a:srgbClr val="C4B5FD"/>
                </a:solidFill>
                <a:latin typeface="Helvetica"/>
                <a:cs typeface="Helvetica"/>
              </a:rPr>
              <a:t>DATAFLOW FINDING</a:t>
            </a:r>
          </a:p>
        </p:txBody>
      </p:sp>
      <p:sp>
        <p:nvSpPr>
          <p:cNvPr id="73" name="TextBox 72">
            <a:extLst>
              <a:ext uri="{FF2B5EF4-FFF2-40B4-BE49-F238E27FC236}">
                <a16:creationId xmlns:a16="http://schemas.microsoft.com/office/drawing/2014/main" id="{28B58839-7D6B-4E89-92BB-C76E9A9FB188}"/>
              </a:ext>
            </a:extLst>
          </p:cNvPr>
          <p:cNvSpPr txBox="1"/>
          <p:nvPr/>
        </p:nvSpPr>
        <p:spPr>
          <a:xfrm>
            <a:off x="457200" y="6540500"/>
            <a:ext cx="11252200" cy="254000"/>
          </a:xfrm>
          <a:prstGeom prst="rect">
            <a:avLst/>
          </a:prstGeom>
          <a:noFill/>
        </p:spPr>
        <p:txBody>
          <a:bodyPr vertOverflow="overflow" vert="horz" wrap="square" rtlCol="0" anchor="t">
            <a:spAutoFit/>
          </a:bodyPr>
          <a:lstStyle/>
          <a:p>
            <a:pPr algn="l"/>
            <a:r>
              <a:rPr lang="en-US" sz="1100" dirty="0">
                <a:solidFill>
                  <a:srgbClr val="E0E7FF"/>
                </a:solidFill>
                <a:latin typeface="Helvetica"/>
                <a:cs typeface="Helvetica"/>
              </a:rPr>
              <a:t>II improved 3× (493 vs 1,470 cycles). Python PS overhead prevents exploiting the throughput gain — moving off Python would unlock ~7× more.</a:t>
            </a:r>
          </a:p>
        </p:txBody>
      </p:sp>
    </p:spTree>
    <p:extLst>
      <p:ext uri="{BB962C8B-B14F-4D97-AF65-F5344CB8AC3E}">
        <p14:creationId xmlns:p14="http://schemas.microsoft.com/office/powerpoint/2010/main" val="1849999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1F1964-E690-4AFD-9CAB-D3B2BAD47CFE}"/>
              </a:ext>
            </a:extLst>
          </p:cNvPr>
          <p:cNvSpPr/>
          <p:nvPr/>
        </p:nvSpPr>
        <p:spPr>
          <a:xfrm>
            <a:off x="0" y="0"/>
            <a:ext cx="12192000" cy="50800"/>
          </a:xfrm>
          <a:prstGeom prst="rect">
            <a:avLst/>
          </a:prstGeom>
          <a:solidFill>
            <a:srgbClr val="2D6A4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8F67829F-6B01-440E-B62C-A548A5CA0814}"/>
              </a:ext>
            </a:extLst>
          </p:cNvPr>
          <p:cNvSpPr txBox="1"/>
          <p:nvPr/>
        </p:nvSpPr>
        <p:spPr>
          <a:xfrm>
            <a:off x="457200" y="88900"/>
            <a:ext cx="4572000" cy="254000"/>
          </a:xfrm>
          <a:prstGeom prst="rect">
            <a:avLst/>
          </a:prstGeom>
          <a:noFill/>
        </p:spPr>
        <p:txBody>
          <a:bodyPr vertOverflow="overflow" vert="horz" wrap="square" rtlCol="0" anchor="t">
            <a:spAutoFit/>
          </a:bodyPr>
          <a:lstStyle/>
          <a:p>
            <a:pPr algn="l"/>
            <a:r>
              <a:rPr lang="en-US" sz="850" b="1">
                <a:solidFill>
                  <a:srgbClr val="2D6A4F"/>
                </a:solidFill>
                <a:latin typeface="Helvetica"/>
                <a:cs typeface="Helvetica"/>
              </a:rPr>
              <a:t>IMPROVEMENTS</a:t>
            </a:r>
          </a:p>
        </p:txBody>
      </p:sp>
      <p:sp>
        <p:nvSpPr>
          <p:cNvPr id="4" name="TextBox 3">
            <a:extLst>
              <a:ext uri="{FF2B5EF4-FFF2-40B4-BE49-F238E27FC236}">
                <a16:creationId xmlns:a16="http://schemas.microsoft.com/office/drawing/2014/main" id="{8735F695-3367-4389-BED9-CC65DC0E832B}"/>
              </a:ext>
            </a:extLst>
          </p:cNvPr>
          <p:cNvSpPr txBox="1"/>
          <p:nvPr/>
        </p:nvSpPr>
        <p:spPr>
          <a:xfrm>
            <a:off x="457200" y="419100"/>
            <a:ext cx="11252200" cy="584775"/>
          </a:xfrm>
          <a:prstGeom prst="rect">
            <a:avLst/>
          </a:prstGeom>
          <a:noFill/>
        </p:spPr>
        <p:txBody>
          <a:bodyPr vertOverflow="overflow" vert="horz" wrap="square" rtlCol="0" anchor="t">
            <a:spAutoFit/>
          </a:bodyPr>
          <a:lstStyle/>
          <a:p>
            <a:pPr algn="l"/>
            <a:r>
              <a:rPr lang="en-US" sz="3200" b="1" dirty="0">
                <a:solidFill>
                  <a:srgbClr val="0F172A"/>
                </a:solidFill>
                <a:latin typeface="Helvetica"/>
                <a:cs typeface="Helvetica"/>
              </a:rPr>
              <a:t>Conclusion 2: Python is the bottleneck, not the FPGA</a:t>
            </a:r>
          </a:p>
        </p:txBody>
      </p:sp>
      <p:sp>
        <p:nvSpPr>
          <p:cNvPr id="5" name="TextBox 4">
            <a:extLst>
              <a:ext uri="{FF2B5EF4-FFF2-40B4-BE49-F238E27FC236}">
                <a16:creationId xmlns:a16="http://schemas.microsoft.com/office/drawing/2014/main" id="{F1BB9D4C-BA77-4B04-ABB8-E4FF69EB1F52}"/>
              </a:ext>
            </a:extLst>
          </p:cNvPr>
          <p:cNvSpPr txBox="1"/>
          <p:nvPr/>
        </p:nvSpPr>
        <p:spPr>
          <a:xfrm>
            <a:off x="457200" y="1092200"/>
            <a:ext cx="11252200" cy="292388"/>
          </a:xfrm>
          <a:prstGeom prst="rect">
            <a:avLst/>
          </a:prstGeom>
          <a:noFill/>
        </p:spPr>
        <p:txBody>
          <a:bodyPr vertOverflow="overflow" vert="horz" wrap="square" rtlCol="0" anchor="t">
            <a:spAutoFit/>
          </a:bodyPr>
          <a:lstStyle/>
          <a:p>
            <a:pPr algn="l"/>
            <a:r>
              <a:rPr lang="en-US" sz="1300" dirty="0">
                <a:solidFill>
                  <a:srgbClr val="64748B"/>
                </a:solidFill>
                <a:latin typeface="Helvetica"/>
                <a:cs typeface="Helvetica"/>
              </a:rPr>
              <a:t>FPGA B2 = 4.93 µs  |  Python per-op ≈ 30 µs  →  DATAFLOW throughput gain is unreachable from the PS</a:t>
            </a:r>
          </a:p>
        </p:txBody>
      </p:sp>
      <p:sp>
        <p:nvSpPr>
          <p:cNvPr id="6" name="Rectangle 5">
            <a:extLst>
              <a:ext uri="{FF2B5EF4-FFF2-40B4-BE49-F238E27FC236}">
                <a16:creationId xmlns:a16="http://schemas.microsoft.com/office/drawing/2014/main" id="{1E39CE25-3473-4898-8027-0FD8EABD957D}"/>
              </a:ext>
            </a:extLst>
          </p:cNvPr>
          <p:cNvSpPr/>
          <p:nvPr/>
        </p:nvSpPr>
        <p:spPr>
          <a:xfrm>
            <a:off x="457200" y="1498600"/>
            <a:ext cx="11252200" cy="25400"/>
          </a:xfrm>
          <a:prstGeom prst="rect">
            <a:avLst/>
          </a:prstGeom>
          <a:solidFill>
            <a:srgbClr val="E2E8F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A71B1FC8-9BB8-4B97-BAA1-03CC2693C152}"/>
              </a:ext>
            </a:extLst>
          </p:cNvPr>
          <p:cNvSpPr/>
          <p:nvPr/>
        </p:nvSpPr>
        <p:spPr>
          <a:xfrm>
            <a:off x="457200" y="1714500"/>
            <a:ext cx="3683000" cy="1371600"/>
          </a:xfrm>
          <a:prstGeom prst="rect">
            <a:avLst/>
          </a:prstGeom>
          <a:solidFill>
            <a:srgbClr val="F8FAF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63F08F38-8BD5-475E-949A-EA7CAEAACD52}"/>
              </a:ext>
            </a:extLst>
          </p:cNvPr>
          <p:cNvSpPr/>
          <p:nvPr/>
        </p:nvSpPr>
        <p:spPr>
          <a:xfrm>
            <a:off x="457200" y="1714500"/>
            <a:ext cx="50800" cy="1371600"/>
          </a:xfrm>
          <a:prstGeom prst="rect">
            <a:avLst/>
          </a:prstGeom>
          <a:solidFill>
            <a:srgbClr val="2D6A4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65D44961-186C-4456-8468-5954820DABD8}"/>
              </a:ext>
            </a:extLst>
          </p:cNvPr>
          <p:cNvSpPr txBox="1"/>
          <p:nvPr/>
        </p:nvSpPr>
        <p:spPr>
          <a:xfrm>
            <a:off x="711200" y="1892300"/>
            <a:ext cx="3302000" cy="246221"/>
          </a:xfrm>
          <a:prstGeom prst="rect">
            <a:avLst/>
          </a:prstGeom>
          <a:noFill/>
        </p:spPr>
        <p:txBody>
          <a:bodyPr vertOverflow="overflow" vert="horz" wrap="square" rtlCol="0" anchor="t">
            <a:spAutoFit/>
          </a:bodyPr>
          <a:lstStyle/>
          <a:p>
            <a:pPr algn="l"/>
            <a:r>
              <a:rPr lang="en-US" sz="1000" b="1" dirty="0">
                <a:solidFill>
                  <a:srgbClr val="64748B"/>
                </a:solidFill>
                <a:latin typeface="Helvetica"/>
                <a:cs typeface="Helvetica"/>
              </a:rPr>
              <a:t>FPGA THROUGHPUT (B2)</a:t>
            </a:r>
          </a:p>
        </p:txBody>
      </p:sp>
      <p:sp>
        <p:nvSpPr>
          <p:cNvPr id="10" name="TextBox 9">
            <a:extLst>
              <a:ext uri="{FF2B5EF4-FFF2-40B4-BE49-F238E27FC236}">
                <a16:creationId xmlns:a16="http://schemas.microsoft.com/office/drawing/2014/main" id="{3C08BAD7-1B3B-4654-8558-102E08DA6660}"/>
              </a:ext>
            </a:extLst>
          </p:cNvPr>
          <p:cNvSpPr txBox="1"/>
          <p:nvPr/>
        </p:nvSpPr>
        <p:spPr>
          <a:xfrm>
            <a:off x="711200" y="2146300"/>
            <a:ext cx="3302000" cy="558800"/>
          </a:xfrm>
          <a:prstGeom prst="rect">
            <a:avLst/>
          </a:prstGeom>
          <a:noFill/>
        </p:spPr>
        <p:txBody>
          <a:bodyPr vertOverflow="overflow" vert="horz" wrap="square" rtlCol="0" anchor="t">
            <a:spAutoFit/>
          </a:bodyPr>
          <a:lstStyle/>
          <a:p>
            <a:pPr algn="l"/>
            <a:r>
              <a:rPr lang="en-US" sz="3000" b="1">
                <a:solidFill>
                  <a:srgbClr val="2D6A4F"/>
                </a:solidFill>
                <a:latin typeface="Helvetica"/>
                <a:cs typeface="Helvetica"/>
              </a:rPr>
              <a:t>4.93 µs</a:t>
            </a:r>
          </a:p>
        </p:txBody>
      </p:sp>
      <p:sp>
        <p:nvSpPr>
          <p:cNvPr id="11" name="TextBox 10">
            <a:extLst>
              <a:ext uri="{FF2B5EF4-FFF2-40B4-BE49-F238E27FC236}">
                <a16:creationId xmlns:a16="http://schemas.microsoft.com/office/drawing/2014/main" id="{469961AB-B4BF-4B85-8237-21287B6FAB55}"/>
              </a:ext>
            </a:extLst>
          </p:cNvPr>
          <p:cNvSpPr txBox="1"/>
          <p:nvPr/>
        </p:nvSpPr>
        <p:spPr>
          <a:xfrm>
            <a:off x="711200" y="2730500"/>
            <a:ext cx="3302000" cy="254000"/>
          </a:xfrm>
          <a:prstGeom prst="rect">
            <a:avLst/>
          </a:prstGeom>
          <a:noFill/>
        </p:spPr>
        <p:txBody>
          <a:bodyPr vertOverflow="overflow" vert="horz" wrap="square" rtlCol="0" anchor="t">
            <a:spAutoFit/>
          </a:bodyPr>
          <a:lstStyle/>
          <a:p>
            <a:pPr algn="l"/>
            <a:r>
              <a:rPr lang="en-US" sz="1000">
                <a:solidFill>
                  <a:srgbClr val="64748B"/>
                </a:solidFill>
                <a:latin typeface="Helvetica"/>
                <a:cs typeface="Helvetica"/>
              </a:rPr>
              <a:t>hardware limit — one chunk every 4.93 µs</a:t>
            </a:r>
          </a:p>
        </p:txBody>
      </p:sp>
      <p:sp>
        <p:nvSpPr>
          <p:cNvPr id="12" name="Rectangle 11">
            <a:extLst>
              <a:ext uri="{FF2B5EF4-FFF2-40B4-BE49-F238E27FC236}">
                <a16:creationId xmlns:a16="http://schemas.microsoft.com/office/drawing/2014/main" id="{C042F1E6-E23C-4831-9D88-2B787198CDE3}"/>
              </a:ext>
            </a:extLst>
          </p:cNvPr>
          <p:cNvSpPr/>
          <p:nvPr/>
        </p:nvSpPr>
        <p:spPr>
          <a:xfrm>
            <a:off x="4292600" y="1714500"/>
            <a:ext cx="3683000" cy="1371600"/>
          </a:xfrm>
          <a:prstGeom prst="rect">
            <a:avLst/>
          </a:prstGeom>
          <a:solidFill>
            <a:srgbClr val="F8FAF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C8F832C7-B881-4433-8694-061091E30445}"/>
              </a:ext>
            </a:extLst>
          </p:cNvPr>
          <p:cNvSpPr/>
          <p:nvPr/>
        </p:nvSpPr>
        <p:spPr>
          <a:xfrm>
            <a:off x="4292600" y="1714500"/>
            <a:ext cx="50800" cy="1371600"/>
          </a:xfrm>
          <a:prstGeom prst="rect">
            <a:avLst/>
          </a:prstGeom>
          <a:solidFill>
            <a:srgbClr val="92400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F561694A-575E-4AD7-80A2-C11203F0221B}"/>
              </a:ext>
            </a:extLst>
          </p:cNvPr>
          <p:cNvSpPr txBox="1"/>
          <p:nvPr/>
        </p:nvSpPr>
        <p:spPr>
          <a:xfrm>
            <a:off x="4546600" y="1892300"/>
            <a:ext cx="3302000" cy="228600"/>
          </a:xfrm>
          <a:prstGeom prst="rect">
            <a:avLst/>
          </a:prstGeom>
          <a:noFill/>
        </p:spPr>
        <p:txBody>
          <a:bodyPr vertOverflow="overflow" vert="horz" wrap="square" rtlCol="0" anchor="t">
            <a:spAutoFit/>
          </a:bodyPr>
          <a:lstStyle/>
          <a:p>
            <a:pPr algn="l"/>
            <a:r>
              <a:rPr lang="en-US" sz="1000" b="1">
                <a:solidFill>
                  <a:srgbClr val="64748B"/>
                </a:solidFill>
                <a:latin typeface="Helvetica"/>
                <a:cs typeface="Helvetica"/>
              </a:rPr>
              <a:t>PYTHON MINIMUM</a:t>
            </a:r>
          </a:p>
        </p:txBody>
      </p:sp>
      <p:sp>
        <p:nvSpPr>
          <p:cNvPr id="15" name="TextBox 14">
            <a:extLst>
              <a:ext uri="{FF2B5EF4-FFF2-40B4-BE49-F238E27FC236}">
                <a16:creationId xmlns:a16="http://schemas.microsoft.com/office/drawing/2014/main" id="{4D4E2B21-BEAD-470F-9894-1A807F379631}"/>
              </a:ext>
            </a:extLst>
          </p:cNvPr>
          <p:cNvSpPr txBox="1"/>
          <p:nvPr/>
        </p:nvSpPr>
        <p:spPr>
          <a:xfrm>
            <a:off x="4546600" y="2146300"/>
            <a:ext cx="3302000" cy="558800"/>
          </a:xfrm>
          <a:prstGeom prst="rect">
            <a:avLst/>
          </a:prstGeom>
          <a:noFill/>
        </p:spPr>
        <p:txBody>
          <a:bodyPr vertOverflow="overflow" vert="horz" wrap="square" rtlCol="0" anchor="t">
            <a:spAutoFit/>
          </a:bodyPr>
          <a:lstStyle/>
          <a:p>
            <a:pPr algn="l"/>
            <a:r>
              <a:rPr lang="en-US" sz="3000" b="1">
                <a:solidFill>
                  <a:srgbClr val="92400E"/>
                </a:solidFill>
                <a:latin typeface="Helvetica"/>
                <a:cs typeface="Helvetica"/>
              </a:rPr>
              <a:t>~30 µs</a:t>
            </a:r>
          </a:p>
        </p:txBody>
      </p:sp>
      <p:sp>
        <p:nvSpPr>
          <p:cNvPr id="16" name="TextBox 15">
            <a:extLst>
              <a:ext uri="{FF2B5EF4-FFF2-40B4-BE49-F238E27FC236}">
                <a16:creationId xmlns:a16="http://schemas.microsoft.com/office/drawing/2014/main" id="{CBC6072D-7CC2-44B3-9DD0-FC4FE5153240}"/>
              </a:ext>
            </a:extLst>
          </p:cNvPr>
          <p:cNvSpPr txBox="1"/>
          <p:nvPr/>
        </p:nvSpPr>
        <p:spPr>
          <a:xfrm>
            <a:off x="4546600" y="2730500"/>
            <a:ext cx="3302000" cy="254000"/>
          </a:xfrm>
          <a:prstGeom prst="rect">
            <a:avLst/>
          </a:prstGeom>
          <a:noFill/>
        </p:spPr>
        <p:txBody>
          <a:bodyPr vertOverflow="overflow" vert="horz" wrap="square" rtlCol="0" anchor="t">
            <a:spAutoFit/>
          </a:bodyPr>
          <a:lstStyle/>
          <a:p>
            <a:pPr algn="l"/>
            <a:r>
              <a:rPr lang="en-US" sz="1000" dirty="0">
                <a:solidFill>
                  <a:srgbClr val="64748B"/>
                </a:solidFill>
                <a:latin typeface="Helvetica"/>
                <a:cs typeface="Helvetica"/>
              </a:rPr>
              <a:t>per-operation overhead from the PS</a:t>
            </a:r>
          </a:p>
        </p:txBody>
      </p:sp>
      <p:sp>
        <p:nvSpPr>
          <p:cNvPr id="17" name="Rectangle 16">
            <a:extLst>
              <a:ext uri="{FF2B5EF4-FFF2-40B4-BE49-F238E27FC236}">
                <a16:creationId xmlns:a16="http://schemas.microsoft.com/office/drawing/2014/main" id="{85C69306-539C-4569-B113-DD871C06EF6B}"/>
              </a:ext>
            </a:extLst>
          </p:cNvPr>
          <p:cNvSpPr/>
          <p:nvPr/>
        </p:nvSpPr>
        <p:spPr>
          <a:xfrm>
            <a:off x="8128000" y="1714500"/>
            <a:ext cx="3683000" cy="1371600"/>
          </a:xfrm>
          <a:prstGeom prst="rect">
            <a:avLst/>
          </a:prstGeom>
          <a:solidFill>
            <a:srgbClr val="F8FAF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26D25BF0-42BF-4EDC-B5BC-A7A8DF5EB54C}"/>
              </a:ext>
            </a:extLst>
          </p:cNvPr>
          <p:cNvSpPr/>
          <p:nvPr/>
        </p:nvSpPr>
        <p:spPr>
          <a:xfrm>
            <a:off x="8128000" y="1714500"/>
            <a:ext cx="50800" cy="1371600"/>
          </a:xfrm>
          <a:prstGeom prst="rect">
            <a:avLst/>
          </a:prstGeom>
          <a:solidFill>
            <a:srgbClr val="1E40A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B87CC1F2-9F00-4537-B5B1-E685E6E89478}"/>
              </a:ext>
            </a:extLst>
          </p:cNvPr>
          <p:cNvSpPr txBox="1"/>
          <p:nvPr/>
        </p:nvSpPr>
        <p:spPr>
          <a:xfrm>
            <a:off x="8382000" y="1892300"/>
            <a:ext cx="3302000" cy="228600"/>
          </a:xfrm>
          <a:prstGeom prst="rect">
            <a:avLst/>
          </a:prstGeom>
          <a:noFill/>
        </p:spPr>
        <p:txBody>
          <a:bodyPr vertOverflow="overflow" vert="horz" wrap="square" rtlCol="0" anchor="t">
            <a:spAutoFit/>
          </a:bodyPr>
          <a:lstStyle/>
          <a:p>
            <a:pPr algn="l"/>
            <a:r>
              <a:rPr lang="en-US" sz="1000" b="1">
                <a:solidFill>
                  <a:srgbClr val="64748B"/>
                </a:solidFill>
                <a:latin typeface="Helvetica"/>
                <a:cs typeface="Helvetica"/>
              </a:rPr>
              <a:t>THROUGHPUT GAP</a:t>
            </a:r>
          </a:p>
        </p:txBody>
      </p:sp>
      <p:sp>
        <p:nvSpPr>
          <p:cNvPr id="20" name="TextBox 19">
            <a:extLst>
              <a:ext uri="{FF2B5EF4-FFF2-40B4-BE49-F238E27FC236}">
                <a16:creationId xmlns:a16="http://schemas.microsoft.com/office/drawing/2014/main" id="{864C30C1-5A06-4419-8821-37A47744819D}"/>
              </a:ext>
            </a:extLst>
          </p:cNvPr>
          <p:cNvSpPr txBox="1"/>
          <p:nvPr/>
        </p:nvSpPr>
        <p:spPr>
          <a:xfrm>
            <a:off x="8382000" y="2146300"/>
            <a:ext cx="3302000" cy="558800"/>
          </a:xfrm>
          <a:prstGeom prst="rect">
            <a:avLst/>
          </a:prstGeom>
          <a:noFill/>
        </p:spPr>
        <p:txBody>
          <a:bodyPr vertOverflow="overflow" vert="horz" wrap="square" rtlCol="0" anchor="t">
            <a:spAutoFit/>
          </a:bodyPr>
          <a:lstStyle/>
          <a:p>
            <a:pPr algn="l"/>
            <a:r>
              <a:rPr lang="en-US" sz="3000" b="1">
                <a:solidFill>
                  <a:srgbClr val="1E40AF"/>
                </a:solidFill>
                <a:latin typeface="Helvetica"/>
                <a:cs typeface="Helvetica"/>
              </a:rPr>
              <a:t>7×</a:t>
            </a:r>
          </a:p>
        </p:txBody>
      </p:sp>
      <p:sp>
        <p:nvSpPr>
          <p:cNvPr id="21" name="TextBox 20">
            <a:extLst>
              <a:ext uri="{FF2B5EF4-FFF2-40B4-BE49-F238E27FC236}">
                <a16:creationId xmlns:a16="http://schemas.microsoft.com/office/drawing/2014/main" id="{E3E75951-AE8D-4E67-ABB9-F964EEB47DA8}"/>
              </a:ext>
            </a:extLst>
          </p:cNvPr>
          <p:cNvSpPr txBox="1"/>
          <p:nvPr/>
        </p:nvSpPr>
        <p:spPr>
          <a:xfrm>
            <a:off x="8382000" y="2730500"/>
            <a:ext cx="3302000" cy="254000"/>
          </a:xfrm>
          <a:prstGeom prst="rect">
            <a:avLst/>
          </a:prstGeom>
          <a:noFill/>
        </p:spPr>
        <p:txBody>
          <a:bodyPr vertOverflow="overflow" vert="horz" wrap="square" rtlCol="0" anchor="t">
            <a:spAutoFit/>
          </a:bodyPr>
          <a:lstStyle/>
          <a:p>
            <a:pPr algn="l"/>
            <a:r>
              <a:rPr lang="en-US" sz="1000">
                <a:solidFill>
                  <a:srgbClr val="64748B"/>
                </a:solidFill>
                <a:latin typeface="Helvetica"/>
                <a:cs typeface="Helvetica"/>
              </a:rPr>
              <a:t>C/baremetal would hit the FPGA ceiling</a:t>
            </a:r>
          </a:p>
        </p:txBody>
      </p:sp>
      <p:sp>
        <p:nvSpPr>
          <p:cNvPr id="22" name="TextBox 21">
            <a:extLst>
              <a:ext uri="{FF2B5EF4-FFF2-40B4-BE49-F238E27FC236}">
                <a16:creationId xmlns:a16="http://schemas.microsoft.com/office/drawing/2014/main" id="{8B363C40-6D99-4462-8117-7B291467803D}"/>
              </a:ext>
            </a:extLst>
          </p:cNvPr>
          <p:cNvSpPr txBox="1"/>
          <p:nvPr/>
        </p:nvSpPr>
        <p:spPr>
          <a:xfrm>
            <a:off x="457200" y="3365500"/>
            <a:ext cx="7620000" cy="254000"/>
          </a:xfrm>
          <a:prstGeom prst="rect">
            <a:avLst/>
          </a:prstGeom>
          <a:noFill/>
        </p:spPr>
        <p:txBody>
          <a:bodyPr vertOverflow="overflow" vert="horz" wrap="square" rtlCol="0" anchor="t">
            <a:spAutoFit/>
          </a:bodyPr>
          <a:lstStyle/>
          <a:p>
            <a:pPr algn="l"/>
            <a:r>
              <a:rPr lang="en-US" sz="1300" b="1">
                <a:solidFill>
                  <a:srgbClr val="0F172A"/>
                </a:solidFill>
                <a:latin typeface="Helvetica"/>
                <a:cs typeface="Helvetica"/>
              </a:rPr>
              <a:t>Chunks per second — driver comparison</a:t>
            </a:r>
          </a:p>
        </p:txBody>
      </p:sp>
      <p:sp>
        <p:nvSpPr>
          <p:cNvPr id="23" name="TextBox 22">
            <a:extLst>
              <a:ext uri="{FF2B5EF4-FFF2-40B4-BE49-F238E27FC236}">
                <a16:creationId xmlns:a16="http://schemas.microsoft.com/office/drawing/2014/main" id="{47314954-BDB5-4040-BFB2-CF1292CAE88C}"/>
              </a:ext>
            </a:extLst>
          </p:cNvPr>
          <p:cNvSpPr txBox="1"/>
          <p:nvPr/>
        </p:nvSpPr>
        <p:spPr>
          <a:xfrm>
            <a:off x="457200" y="3721100"/>
            <a:ext cx="2540000" cy="254000"/>
          </a:xfrm>
          <a:prstGeom prst="rect">
            <a:avLst/>
          </a:prstGeom>
          <a:noFill/>
        </p:spPr>
        <p:txBody>
          <a:bodyPr vertOverflow="overflow" vert="horz" wrap="square" rtlCol="0" anchor="t">
            <a:spAutoFit/>
          </a:bodyPr>
          <a:lstStyle/>
          <a:p>
            <a:pPr algn="l"/>
            <a:r>
              <a:rPr lang="en-US" sz="1100" b="1">
                <a:solidFill>
                  <a:srgbClr val="0F172A"/>
                </a:solidFill>
                <a:latin typeface="Helvetica"/>
                <a:cs typeface="Helvetica"/>
              </a:rPr>
              <a:t>Python (measured)</a:t>
            </a:r>
          </a:p>
        </p:txBody>
      </p:sp>
      <p:sp>
        <p:nvSpPr>
          <p:cNvPr id="24" name="Rectangle 23">
            <a:extLst>
              <a:ext uri="{FF2B5EF4-FFF2-40B4-BE49-F238E27FC236}">
                <a16:creationId xmlns:a16="http://schemas.microsoft.com/office/drawing/2014/main" id="{A17E3620-1881-432D-B21F-C26BD01DE396}"/>
              </a:ext>
            </a:extLst>
          </p:cNvPr>
          <p:cNvSpPr/>
          <p:nvPr/>
        </p:nvSpPr>
        <p:spPr>
          <a:xfrm>
            <a:off x="2743200" y="3721100"/>
            <a:ext cx="1358900" cy="330200"/>
          </a:xfrm>
          <a:prstGeom prst="rect">
            <a:avLst/>
          </a:prstGeom>
          <a:solidFill>
            <a:srgbClr val="F59E0B"/>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3E010D86-DAF4-43FB-AA79-A02DFC1E6B08}"/>
              </a:ext>
            </a:extLst>
          </p:cNvPr>
          <p:cNvSpPr txBox="1"/>
          <p:nvPr/>
        </p:nvSpPr>
        <p:spPr>
          <a:xfrm>
            <a:off x="2792412" y="3759200"/>
            <a:ext cx="3302000" cy="261610"/>
          </a:xfrm>
          <a:prstGeom prst="rect">
            <a:avLst/>
          </a:prstGeom>
          <a:noFill/>
        </p:spPr>
        <p:txBody>
          <a:bodyPr vertOverflow="overflow" vert="horz" wrap="square" rtlCol="0" anchor="t">
            <a:spAutoFit/>
          </a:bodyPr>
          <a:lstStyle/>
          <a:p>
            <a:pPr algn="l"/>
            <a:r>
              <a:rPr lang="en-US" sz="1100" b="1" dirty="0">
                <a:solidFill>
                  <a:srgbClr val="0F172A"/>
                </a:solidFill>
                <a:latin typeface="Helvetica"/>
                <a:cs typeface="Helvetica"/>
              </a:rPr>
              <a:t>31,008 chunks/s</a:t>
            </a:r>
          </a:p>
        </p:txBody>
      </p:sp>
      <p:sp>
        <p:nvSpPr>
          <p:cNvPr id="26" name="TextBox 25">
            <a:extLst>
              <a:ext uri="{FF2B5EF4-FFF2-40B4-BE49-F238E27FC236}">
                <a16:creationId xmlns:a16="http://schemas.microsoft.com/office/drawing/2014/main" id="{8A5B0878-4647-4F02-B803-5CD2F934D6D5}"/>
              </a:ext>
            </a:extLst>
          </p:cNvPr>
          <p:cNvSpPr txBox="1"/>
          <p:nvPr/>
        </p:nvSpPr>
        <p:spPr>
          <a:xfrm>
            <a:off x="457200" y="4254500"/>
            <a:ext cx="1908928" cy="430887"/>
          </a:xfrm>
          <a:prstGeom prst="rect">
            <a:avLst/>
          </a:prstGeom>
          <a:noFill/>
        </p:spPr>
        <p:txBody>
          <a:bodyPr vertOverflow="overflow" vert="horz" wrap="square" rtlCol="0" anchor="t">
            <a:spAutoFit/>
          </a:bodyPr>
          <a:lstStyle/>
          <a:p>
            <a:pPr algn="l"/>
            <a:r>
              <a:rPr lang="en-US" sz="1100" b="1" dirty="0">
                <a:solidFill>
                  <a:srgbClr val="0F172A"/>
                </a:solidFill>
                <a:latin typeface="Helvetica"/>
                <a:cs typeface="Helvetica"/>
              </a:rPr>
              <a:t>C / </a:t>
            </a:r>
            <a:r>
              <a:rPr lang="en-US" sz="1100" b="1" dirty="0" err="1">
                <a:solidFill>
                  <a:srgbClr val="0F172A"/>
                </a:solidFill>
                <a:latin typeface="Helvetica"/>
                <a:cs typeface="Helvetica"/>
              </a:rPr>
              <a:t>baremetal</a:t>
            </a:r>
            <a:r>
              <a:rPr lang="en-US" sz="1100" b="1" dirty="0">
                <a:solidFill>
                  <a:srgbClr val="0F172A"/>
                </a:solidFill>
                <a:latin typeface="Helvetica"/>
                <a:cs typeface="Helvetica"/>
              </a:rPr>
              <a:t> (if </a:t>
            </a:r>
            <a:r>
              <a:rPr lang="en-US" sz="1100" b="1" dirty="0" err="1">
                <a:solidFill>
                  <a:srgbClr val="0F172A"/>
                </a:solidFill>
                <a:latin typeface="Helvetica"/>
                <a:cs typeface="Helvetica"/>
              </a:rPr>
              <a:t>claude</a:t>
            </a:r>
            <a:r>
              <a:rPr lang="en-US" sz="1100" b="1" dirty="0">
                <a:solidFill>
                  <a:srgbClr val="0F172A"/>
                </a:solidFill>
                <a:latin typeface="Helvetica"/>
                <a:cs typeface="Helvetica"/>
              </a:rPr>
              <a:t> could lock in)</a:t>
            </a:r>
          </a:p>
        </p:txBody>
      </p:sp>
      <p:sp>
        <p:nvSpPr>
          <p:cNvPr id="27" name="Rectangle 26">
            <a:extLst>
              <a:ext uri="{FF2B5EF4-FFF2-40B4-BE49-F238E27FC236}">
                <a16:creationId xmlns:a16="http://schemas.microsoft.com/office/drawing/2014/main" id="{AD38BC57-C1AE-47F1-8538-CD23F5D22FEA}"/>
              </a:ext>
            </a:extLst>
          </p:cNvPr>
          <p:cNvSpPr/>
          <p:nvPr/>
        </p:nvSpPr>
        <p:spPr>
          <a:xfrm>
            <a:off x="2743200" y="4254500"/>
            <a:ext cx="8890000" cy="330200"/>
          </a:xfrm>
          <a:prstGeom prst="rect">
            <a:avLst/>
          </a:prstGeom>
          <a:solidFill>
            <a:srgbClr val="52B78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3D40F1BA-1EF1-48A9-8592-2284CDDA24DD}"/>
              </a:ext>
            </a:extLst>
          </p:cNvPr>
          <p:cNvSpPr txBox="1"/>
          <p:nvPr/>
        </p:nvSpPr>
        <p:spPr>
          <a:xfrm>
            <a:off x="9445625" y="4292600"/>
            <a:ext cx="3302000" cy="261610"/>
          </a:xfrm>
          <a:prstGeom prst="rect">
            <a:avLst/>
          </a:prstGeom>
          <a:noFill/>
        </p:spPr>
        <p:txBody>
          <a:bodyPr vertOverflow="overflow" vert="horz" wrap="square" rtlCol="0" anchor="t">
            <a:spAutoFit/>
          </a:bodyPr>
          <a:lstStyle/>
          <a:p>
            <a:pPr algn="l"/>
            <a:r>
              <a:rPr lang="en-US" sz="1100" b="1" dirty="0">
                <a:solidFill>
                  <a:srgbClr val="0F172A"/>
                </a:solidFill>
                <a:latin typeface="Helvetica"/>
                <a:cs typeface="Helvetica"/>
              </a:rPr>
              <a:t>202,840 chunks/s  — 7× faster</a:t>
            </a:r>
          </a:p>
        </p:txBody>
      </p:sp>
      <p:sp>
        <p:nvSpPr>
          <p:cNvPr id="29" name="Rectangle 28">
            <a:extLst>
              <a:ext uri="{FF2B5EF4-FFF2-40B4-BE49-F238E27FC236}">
                <a16:creationId xmlns:a16="http://schemas.microsoft.com/office/drawing/2014/main" id="{4CCF9D9F-8CA8-4CFB-AD37-7E69AC68D578}"/>
              </a:ext>
            </a:extLst>
          </p:cNvPr>
          <p:cNvSpPr/>
          <p:nvPr/>
        </p:nvSpPr>
        <p:spPr>
          <a:xfrm>
            <a:off x="0" y="5969000"/>
            <a:ext cx="12192000" cy="889000"/>
          </a:xfrm>
          <a:prstGeom prst="rect">
            <a:avLst/>
          </a:prstGeom>
          <a:solidFill>
            <a:srgbClr val="0F172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55BF89B3-9A28-48AD-A172-5F87637CA947}"/>
              </a:ext>
            </a:extLst>
          </p:cNvPr>
          <p:cNvSpPr txBox="1"/>
          <p:nvPr/>
        </p:nvSpPr>
        <p:spPr>
          <a:xfrm>
            <a:off x="457200" y="6121400"/>
            <a:ext cx="3810000" cy="203200"/>
          </a:xfrm>
          <a:prstGeom prst="rect">
            <a:avLst/>
          </a:prstGeom>
          <a:noFill/>
        </p:spPr>
        <p:txBody>
          <a:bodyPr vertOverflow="overflow" vert="horz" wrap="square" rtlCol="0" anchor="t">
            <a:spAutoFit/>
          </a:bodyPr>
          <a:lstStyle/>
          <a:p>
            <a:pPr algn="l"/>
            <a:r>
              <a:rPr lang="en-US" sz="900" b="1">
                <a:solidFill>
                  <a:srgbClr val="60A5FA"/>
                </a:solidFill>
                <a:latin typeface="Helvetica"/>
                <a:cs typeface="Helvetica"/>
              </a:rPr>
              <a:t>WHAT TO DO NEXT</a:t>
            </a:r>
          </a:p>
        </p:txBody>
      </p:sp>
      <p:sp>
        <p:nvSpPr>
          <p:cNvPr id="31" name="TextBox 30">
            <a:extLst>
              <a:ext uri="{FF2B5EF4-FFF2-40B4-BE49-F238E27FC236}">
                <a16:creationId xmlns:a16="http://schemas.microsoft.com/office/drawing/2014/main" id="{0A31DB32-652B-44CC-9DEF-674BDA8AEA68}"/>
              </a:ext>
            </a:extLst>
          </p:cNvPr>
          <p:cNvSpPr txBox="1"/>
          <p:nvPr/>
        </p:nvSpPr>
        <p:spPr>
          <a:xfrm>
            <a:off x="457200" y="6324600"/>
            <a:ext cx="11252200" cy="228600"/>
          </a:xfrm>
          <a:prstGeom prst="rect">
            <a:avLst/>
          </a:prstGeom>
          <a:noFill/>
        </p:spPr>
        <p:txBody>
          <a:bodyPr vertOverflow="overflow" vert="horz" wrap="square" rtlCol="0" anchor="t">
            <a:spAutoFit/>
          </a:bodyPr>
          <a:lstStyle/>
          <a:p>
            <a:pPr algn="l"/>
            <a:r>
              <a:rPr lang="en-US" sz="1200">
                <a:solidFill>
                  <a:srgbClr val="FFFFFF"/>
                </a:solidFill>
                <a:latin typeface="Helvetica"/>
                <a:cs typeface="Helvetica"/>
              </a:rPr>
              <a:t>Move the driver off Python PS — a C or baremetal loop can restart the accelerator within the 4.93 µs II window.</a:t>
            </a:r>
          </a:p>
        </p:txBody>
      </p:sp>
      <p:sp>
        <p:nvSpPr>
          <p:cNvPr id="32" name="TextBox 31">
            <a:extLst>
              <a:ext uri="{FF2B5EF4-FFF2-40B4-BE49-F238E27FC236}">
                <a16:creationId xmlns:a16="http://schemas.microsoft.com/office/drawing/2014/main" id="{F2384BA2-C05A-4EC8-B53C-2667393C3171}"/>
              </a:ext>
            </a:extLst>
          </p:cNvPr>
          <p:cNvSpPr txBox="1"/>
          <p:nvPr/>
        </p:nvSpPr>
        <p:spPr>
          <a:xfrm>
            <a:off x="457200" y="6578600"/>
            <a:ext cx="11252200" cy="228600"/>
          </a:xfrm>
          <a:prstGeom prst="rect">
            <a:avLst/>
          </a:prstGeom>
          <a:noFill/>
        </p:spPr>
        <p:txBody>
          <a:bodyPr vertOverflow="overflow" vert="horz" wrap="square" rtlCol="0" anchor="t">
            <a:spAutoFit/>
          </a:bodyPr>
          <a:lstStyle/>
          <a:p>
            <a:pPr algn="l"/>
            <a:r>
              <a:rPr lang="en-US" sz="1100">
                <a:solidFill>
                  <a:srgbClr val="94A3B8"/>
                </a:solidFill>
                <a:latin typeface="Helvetica"/>
                <a:cs typeface="Helvetica"/>
              </a:rPr>
              <a:t>Only then does DATAFLOW's 3× II improvement show up as real throughput. Today, DMA + MMIO alone cost ~32.3 µs per chunk.</a:t>
            </a:r>
          </a:p>
        </p:txBody>
      </p:sp>
    </p:spTree>
    <p:extLst>
      <p:ext uri="{BB962C8B-B14F-4D97-AF65-F5344CB8AC3E}">
        <p14:creationId xmlns:p14="http://schemas.microsoft.com/office/powerpoint/2010/main" val="1757149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EDD45-AE19-0473-96F4-5CB9EAACDD04}"/>
              </a:ext>
            </a:extLst>
          </p:cNvPr>
          <p:cNvSpPr>
            <a:spLocks noGrp="1"/>
          </p:cNvSpPr>
          <p:nvPr>
            <p:ph type="ctrTitle"/>
          </p:nvPr>
        </p:nvSpPr>
        <p:spPr>
          <a:xfrm>
            <a:off x="2417781" y="1395412"/>
            <a:ext cx="7772400" cy="1470025"/>
          </a:xfrm>
        </p:spPr>
        <p:txBody>
          <a:bodyPr/>
          <a:lstStyle/>
          <a:p>
            <a:r>
              <a:rPr lang="en-US" dirty="0"/>
              <a:t>That’s it. </a:t>
            </a:r>
          </a:p>
        </p:txBody>
      </p:sp>
      <p:sp>
        <p:nvSpPr>
          <p:cNvPr id="3" name="Subtitle 2">
            <a:extLst>
              <a:ext uri="{FF2B5EF4-FFF2-40B4-BE49-F238E27FC236}">
                <a16:creationId xmlns:a16="http://schemas.microsoft.com/office/drawing/2014/main" id="{48B38099-12AC-85C8-D9C9-29DC1C8ABFA9}"/>
              </a:ext>
            </a:extLst>
          </p:cNvPr>
          <p:cNvSpPr>
            <a:spLocks noGrp="1"/>
          </p:cNvSpPr>
          <p:nvPr>
            <p:ph type="subTitle" idx="1"/>
          </p:nvPr>
        </p:nvSpPr>
        <p:spPr>
          <a:xfrm>
            <a:off x="3103581" y="3151187"/>
            <a:ext cx="6400800" cy="1752600"/>
          </a:xfrm>
        </p:spPr>
        <p:txBody>
          <a:bodyPr/>
          <a:lstStyle/>
          <a:p>
            <a:r>
              <a:rPr lang="en-US" dirty="0"/>
              <a:t>Thank you. </a:t>
            </a:r>
          </a:p>
        </p:txBody>
      </p:sp>
    </p:spTree>
    <p:extLst>
      <p:ext uri="{BB962C8B-B14F-4D97-AF65-F5344CB8AC3E}">
        <p14:creationId xmlns:p14="http://schemas.microsoft.com/office/powerpoint/2010/main" val="1141467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3648AE-7A17-4B42-A848-7A4A6F0DBBE3}">
  <we:reference id="WA200010001" version="1.0.0.1" store="Omex" storeType="OMEX"/>
  <we:alternateReferences>
    <we:reference id="WA200010001" version="1.0.0.1" store="WA200010001" storeType="OMEX"/>
  </we:alternateReferences>
  <we:properties>
    <we:property name="claude.fileId" value="&quot;e008dad0-a541-49ab-9c7a-6a63bac433b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225</TotalTime>
  <Words>3496</Words>
  <Application>Microsoft Office PowerPoint</Application>
  <PresentationFormat>Custom</PresentationFormat>
  <Paragraphs>264</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That’s it.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Owen Richmond</cp:lastModifiedBy>
  <cp:revision>4</cp:revision>
  <dcterms:created xsi:type="dcterms:W3CDTF">2013-01-27T09:14:16Z</dcterms:created>
  <dcterms:modified xsi:type="dcterms:W3CDTF">2026-04-23T17:39:02Z</dcterms:modified>
  <cp:category/>
</cp:coreProperties>
</file>